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84" r:id="rId1"/>
  </p:sldMasterIdLst>
  <p:notesMasterIdLst>
    <p:notesMasterId r:id="rId28"/>
  </p:notesMasterIdLst>
  <p:sldIdLst>
    <p:sldId id="273" r:id="rId2"/>
    <p:sldId id="271" r:id="rId3"/>
    <p:sldId id="272" r:id="rId4"/>
    <p:sldId id="274" r:id="rId5"/>
    <p:sldId id="275" r:id="rId6"/>
    <p:sldId id="276" r:id="rId7"/>
    <p:sldId id="277" r:id="rId8"/>
    <p:sldId id="278" r:id="rId9"/>
    <p:sldId id="280" r:id="rId10"/>
    <p:sldId id="258" r:id="rId11"/>
    <p:sldId id="264" r:id="rId12"/>
    <p:sldId id="265" r:id="rId13"/>
    <p:sldId id="266" r:id="rId14"/>
    <p:sldId id="267" r:id="rId15"/>
    <p:sldId id="268" r:id="rId16"/>
    <p:sldId id="269" r:id="rId17"/>
    <p:sldId id="270" r:id="rId18"/>
    <p:sldId id="287" r:id="rId19"/>
    <p:sldId id="285" r:id="rId20"/>
    <p:sldId id="279" r:id="rId21"/>
    <p:sldId id="281" r:id="rId22"/>
    <p:sldId id="282" r:id="rId23"/>
    <p:sldId id="283" r:id="rId24"/>
    <p:sldId id="286" r:id="rId25"/>
    <p:sldId id="288" r:id="rId26"/>
    <p:sldId id="284"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4380"/>
    <p:restoredTop sz="94660"/>
  </p:normalViewPr>
  <p:slideViewPr>
    <p:cSldViewPr snapToGrid="0">
      <p:cViewPr varScale="1">
        <p:scale>
          <a:sx n="61" d="100"/>
          <a:sy n="61" d="100"/>
        </p:scale>
        <p:origin x="996"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diagrams/_rels/data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ata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3.svg"/></Relationships>
</file>

<file path=ppt/diagrams/_rels/data3.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0.png"/><Relationship Id="rId7" Type="http://schemas.openxmlformats.org/officeDocument/2006/relationships/image" Target="../media/image18.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1.svg"/></Relationships>
</file>

<file path=ppt/diagrams/_rels/drawing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rawing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3.svg"/></Relationships>
</file>

<file path=ppt/diagrams/_rels/drawing3.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0.png"/><Relationship Id="rId7" Type="http://schemas.openxmlformats.org/officeDocument/2006/relationships/image" Target="../media/image18.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1.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70B6AE2-50B6-421D-8F5F-C7044D85D44F}"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BA9DCC72-BFAD-40B2-ADC8-3F9CB63AF882}">
      <dgm:prSet/>
      <dgm:spPr/>
      <dgm:t>
        <a:bodyPr/>
        <a:lstStyle/>
        <a:p>
          <a:pPr>
            <a:lnSpc>
              <a:spcPct val="100000"/>
            </a:lnSpc>
          </a:pPr>
          <a:r>
            <a:rPr lang="en-US"/>
            <a:t>VisoSpeak is a deep learning tool that helps with lip reading using only visuals.</a:t>
          </a:r>
        </a:p>
      </dgm:t>
    </dgm:pt>
    <dgm:pt modelId="{1B62E0E9-EAAF-4615-897D-E9F52506AC7A}" type="parTrans" cxnId="{F3485091-5607-459B-AA72-853E8FE95478}">
      <dgm:prSet/>
      <dgm:spPr/>
      <dgm:t>
        <a:bodyPr/>
        <a:lstStyle/>
        <a:p>
          <a:endParaRPr lang="en-US"/>
        </a:p>
      </dgm:t>
    </dgm:pt>
    <dgm:pt modelId="{3FF8AD96-BF14-4B7D-98C8-21D720346A65}" type="sibTrans" cxnId="{F3485091-5607-459B-AA72-853E8FE95478}">
      <dgm:prSet/>
      <dgm:spPr/>
      <dgm:t>
        <a:bodyPr/>
        <a:lstStyle/>
        <a:p>
          <a:pPr>
            <a:lnSpc>
              <a:spcPct val="100000"/>
            </a:lnSpc>
          </a:pPr>
          <a:endParaRPr lang="en-US"/>
        </a:p>
      </dgm:t>
    </dgm:pt>
    <dgm:pt modelId="{5EA3E9B1-9D1F-4219-9D2A-04D634101352}">
      <dgm:prSet/>
      <dgm:spPr/>
      <dgm:t>
        <a:bodyPr/>
        <a:lstStyle/>
        <a:p>
          <a:pPr>
            <a:lnSpc>
              <a:spcPct val="100000"/>
            </a:lnSpc>
          </a:pPr>
          <a:r>
            <a:rPr lang="en-US"/>
            <a:t>Regular speech recognition doesn't work well in noisy places or when there's no sound. </a:t>
          </a:r>
        </a:p>
      </dgm:t>
    </dgm:pt>
    <dgm:pt modelId="{9B66F513-C05E-4355-9338-54D978AAAC0C}" type="parTrans" cxnId="{29EDAC6F-9D86-4152-A9A1-C53447EBA98C}">
      <dgm:prSet/>
      <dgm:spPr/>
      <dgm:t>
        <a:bodyPr/>
        <a:lstStyle/>
        <a:p>
          <a:endParaRPr lang="en-US"/>
        </a:p>
      </dgm:t>
    </dgm:pt>
    <dgm:pt modelId="{AE626324-A1E4-4109-ADAD-9BA692C1E90C}" type="sibTrans" cxnId="{29EDAC6F-9D86-4152-A9A1-C53447EBA98C}">
      <dgm:prSet/>
      <dgm:spPr/>
      <dgm:t>
        <a:bodyPr/>
        <a:lstStyle/>
        <a:p>
          <a:pPr>
            <a:lnSpc>
              <a:spcPct val="100000"/>
            </a:lnSpc>
          </a:pPr>
          <a:endParaRPr lang="en-US"/>
        </a:p>
      </dgm:t>
    </dgm:pt>
    <dgm:pt modelId="{DFFF5CC8-AE89-447F-84BD-72CA848545A2}">
      <dgm:prSet/>
      <dgm:spPr/>
      <dgm:t>
        <a:bodyPr/>
        <a:lstStyle/>
        <a:p>
          <a:pPr>
            <a:lnSpc>
              <a:spcPct val="100000"/>
            </a:lnSpc>
          </a:pPr>
          <a:r>
            <a:rPr lang="en-US"/>
            <a:t>many models are tied to specific languages.</a:t>
          </a:r>
        </a:p>
      </dgm:t>
    </dgm:pt>
    <dgm:pt modelId="{2BBDA74D-BEF1-4F31-9E5A-556FC494941B}" type="parTrans" cxnId="{32E1BD3D-5109-48D0-A2AC-7260DC18D616}">
      <dgm:prSet/>
      <dgm:spPr/>
      <dgm:t>
        <a:bodyPr/>
        <a:lstStyle/>
        <a:p>
          <a:endParaRPr lang="en-US"/>
        </a:p>
      </dgm:t>
    </dgm:pt>
    <dgm:pt modelId="{5FDF9077-AD27-418E-829E-02337457532E}" type="sibTrans" cxnId="{32E1BD3D-5109-48D0-A2AC-7260DC18D616}">
      <dgm:prSet/>
      <dgm:spPr/>
      <dgm:t>
        <a:bodyPr/>
        <a:lstStyle/>
        <a:p>
          <a:pPr>
            <a:lnSpc>
              <a:spcPct val="100000"/>
            </a:lnSpc>
          </a:pPr>
          <a:endParaRPr lang="en-US"/>
        </a:p>
      </dgm:t>
    </dgm:pt>
    <dgm:pt modelId="{8B66C7A3-2127-4D18-B97B-E56D647A4737}">
      <dgm:prSet/>
      <dgm:spPr/>
      <dgm:t>
        <a:bodyPr/>
        <a:lstStyle/>
        <a:p>
          <a:pPr>
            <a:lnSpc>
              <a:spcPct val="100000"/>
            </a:lnSpc>
          </a:pPr>
          <a:r>
            <a:rPr lang="en-US"/>
            <a:t>VisoSpeak fixes these issues by focusing only on lip movements, making it more private and accessible.</a:t>
          </a:r>
        </a:p>
      </dgm:t>
    </dgm:pt>
    <dgm:pt modelId="{45BA4A01-BB76-4D0C-9199-3D8976168C7C}" type="parTrans" cxnId="{CB98F2DA-7081-4161-A25E-41C0A5BC1FEF}">
      <dgm:prSet/>
      <dgm:spPr/>
      <dgm:t>
        <a:bodyPr/>
        <a:lstStyle/>
        <a:p>
          <a:endParaRPr lang="en-US"/>
        </a:p>
      </dgm:t>
    </dgm:pt>
    <dgm:pt modelId="{4DA8F297-DAA2-42C9-8C4D-E14F5287DD78}" type="sibTrans" cxnId="{CB98F2DA-7081-4161-A25E-41C0A5BC1FEF}">
      <dgm:prSet/>
      <dgm:spPr/>
      <dgm:t>
        <a:bodyPr/>
        <a:lstStyle/>
        <a:p>
          <a:endParaRPr lang="en-US"/>
        </a:p>
      </dgm:t>
    </dgm:pt>
    <dgm:pt modelId="{2BB6BED1-B6EA-468D-B7B4-983B80322541}" type="pres">
      <dgm:prSet presAssocID="{670B6AE2-50B6-421D-8F5F-C7044D85D44F}" presName="root" presStyleCnt="0">
        <dgm:presLayoutVars>
          <dgm:dir/>
          <dgm:resizeHandles val="exact"/>
        </dgm:presLayoutVars>
      </dgm:prSet>
      <dgm:spPr/>
    </dgm:pt>
    <dgm:pt modelId="{53FB8F66-CB7A-4CED-9314-73D79E67A846}" type="pres">
      <dgm:prSet presAssocID="{670B6AE2-50B6-421D-8F5F-C7044D85D44F}" presName="container" presStyleCnt="0">
        <dgm:presLayoutVars>
          <dgm:dir/>
          <dgm:resizeHandles val="exact"/>
        </dgm:presLayoutVars>
      </dgm:prSet>
      <dgm:spPr/>
    </dgm:pt>
    <dgm:pt modelId="{5ACF71F4-3853-4E25-AAD7-F71FCAFD06EE}" type="pres">
      <dgm:prSet presAssocID="{BA9DCC72-BFAD-40B2-ADC8-3F9CB63AF882}" presName="compNode" presStyleCnt="0"/>
      <dgm:spPr/>
    </dgm:pt>
    <dgm:pt modelId="{BBE93B59-1E19-4A2E-B8C3-CDA2171BCC38}" type="pres">
      <dgm:prSet presAssocID="{BA9DCC72-BFAD-40B2-ADC8-3F9CB63AF882}" presName="iconBgRect" presStyleLbl="bgShp" presStyleIdx="0" presStyleCnt="4"/>
      <dgm:spPr/>
    </dgm:pt>
    <dgm:pt modelId="{A34CD5CB-EDDB-449D-9A6F-C853F05952CB}" type="pres">
      <dgm:prSet presAssocID="{BA9DCC72-BFAD-40B2-ADC8-3F9CB63AF882}"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Books"/>
        </a:ext>
      </dgm:extLst>
    </dgm:pt>
    <dgm:pt modelId="{9EE90349-1002-436D-BDCD-7501CC16CBC8}" type="pres">
      <dgm:prSet presAssocID="{BA9DCC72-BFAD-40B2-ADC8-3F9CB63AF882}" presName="spaceRect" presStyleCnt="0"/>
      <dgm:spPr/>
    </dgm:pt>
    <dgm:pt modelId="{D8FCFACD-994E-479D-8F0D-D85DBF636AB0}" type="pres">
      <dgm:prSet presAssocID="{BA9DCC72-BFAD-40B2-ADC8-3F9CB63AF882}" presName="textRect" presStyleLbl="revTx" presStyleIdx="0" presStyleCnt="4">
        <dgm:presLayoutVars>
          <dgm:chMax val="1"/>
          <dgm:chPref val="1"/>
        </dgm:presLayoutVars>
      </dgm:prSet>
      <dgm:spPr/>
    </dgm:pt>
    <dgm:pt modelId="{D91A85CE-3571-4F78-9A92-59394B22B221}" type="pres">
      <dgm:prSet presAssocID="{3FF8AD96-BF14-4B7D-98C8-21D720346A65}" presName="sibTrans" presStyleLbl="sibTrans2D1" presStyleIdx="0" presStyleCnt="0"/>
      <dgm:spPr/>
    </dgm:pt>
    <dgm:pt modelId="{F71873BF-FCF8-43CD-8CFB-693634EF3304}" type="pres">
      <dgm:prSet presAssocID="{5EA3E9B1-9D1F-4219-9D2A-04D634101352}" presName="compNode" presStyleCnt="0"/>
      <dgm:spPr/>
    </dgm:pt>
    <dgm:pt modelId="{96776F93-7154-4582-8A01-224C6E90C3D2}" type="pres">
      <dgm:prSet presAssocID="{5EA3E9B1-9D1F-4219-9D2A-04D634101352}" presName="iconBgRect" presStyleLbl="bgShp" presStyleIdx="1" presStyleCnt="4"/>
      <dgm:spPr/>
    </dgm:pt>
    <dgm:pt modelId="{6D728BF4-647D-457A-8608-CF60F50CE20F}" type="pres">
      <dgm:prSet presAssocID="{5EA3E9B1-9D1F-4219-9D2A-04D634101352}"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Deaf"/>
        </a:ext>
      </dgm:extLst>
    </dgm:pt>
    <dgm:pt modelId="{066B38A7-5867-4E7E-AB84-520659C2F307}" type="pres">
      <dgm:prSet presAssocID="{5EA3E9B1-9D1F-4219-9D2A-04D634101352}" presName="spaceRect" presStyleCnt="0"/>
      <dgm:spPr/>
    </dgm:pt>
    <dgm:pt modelId="{100B7614-EC9E-4902-BEFC-666BE1217BFD}" type="pres">
      <dgm:prSet presAssocID="{5EA3E9B1-9D1F-4219-9D2A-04D634101352}" presName="textRect" presStyleLbl="revTx" presStyleIdx="1" presStyleCnt="4">
        <dgm:presLayoutVars>
          <dgm:chMax val="1"/>
          <dgm:chPref val="1"/>
        </dgm:presLayoutVars>
      </dgm:prSet>
      <dgm:spPr/>
    </dgm:pt>
    <dgm:pt modelId="{8DF726AC-7DDB-48FB-8C11-479C5943FC77}" type="pres">
      <dgm:prSet presAssocID="{AE626324-A1E4-4109-ADAD-9BA692C1E90C}" presName="sibTrans" presStyleLbl="sibTrans2D1" presStyleIdx="0" presStyleCnt="0"/>
      <dgm:spPr/>
    </dgm:pt>
    <dgm:pt modelId="{8A0F3247-52DC-4349-98B7-E6E90AED131F}" type="pres">
      <dgm:prSet presAssocID="{DFFF5CC8-AE89-447F-84BD-72CA848545A2}" presName="compNode" presStyleCnt="0"/>
      <dgm:spPr/>
    </dgm:pt>
    <dgm:pt modelId="{61D457D7-A4D1-49CA-9C07-36BB8C87D946}" type="pres">
      <dgm:prSet presAssocID="{DFFF5CC8-AE89-447F-84BD-72CA848545A2}" presName="iconBgRect" presStyleLbl="bgShp" presStyleIdx="2" presStyleCnt="4"/>
      <dgm:spPr/>
    </dgm:pt>
    <dgm:pt modelId="{71F4951D-DF37-4160-9E95-8B8D1D5BDE6E}" type="pres">
      <dgm:prSet presAssocID="{DFFF5CC8-AE89-447F-84BD-72CA848545A2}"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Web Design"/>
        </a:ext>
      </dgm:extLst>
    </dgm:pt>
    <dgm:pt modelId="{3F1D3132-0A39-4F93-BB48-8A3BE050995F}" type="pres">
      <dgm:prSet presAssocID="{DFFF5CC8-AE89-447F-84BD-72CA848545A2}" presName="spaceRect" presStyleCnt="0"/>
      <dgm:spPr/>
    </dgm:pt>
    <dgm:pt modelId="{F1A01391-41C5-43E0-A705-93EE4EB63ACB}" type="pres">
      <dgm:prSet presAssocID="{DFFF5CC8-AE89-447F-84BD-72CA848545A2}" presName="textRect" presStyleLbl="revTx" presStyleIdx="2" presStyleCnt="4">
        <dgm:presLayoutVars>
          <dgm:chMax val="1"/>
          <dgm:chPref val="1"/>
        </dgm:presLayoutVars>
      </dgm:prSet>
      <dgm:spPr/>
    </dgm:pt>
    <dgm:pt modelId="{32FD6C8E-B9B0-4103-ADC3-A1759F893BA9}" type="pres">
      <dgm:prSet presAssocID="{5FDF9077-AD27-418E-829E-02337457532E}" presName="sibTrans" presStyleLbl="sibTrans2D1" presStyleIdx="0" presStyleCnt="0"/>
      <dgm:spPr/>
    </dgm:pt>
    <dgm:pt modelId="{EEB7DB15-B187-4653-A682-87983A018D77}" type="pres">
      <dgm:prSet presAssocID="{8B66C7A3-2127-4D18-B97B-E56D647A4737}" presName="compNode" presStyleCnt="0"/>
      <dgm:spPr/>
    </dgm:pt>
    <dgm:pt modelId="{C0970E24-C867-4964-8A47-8880D4D3858B}" type="pres">
      <dgm:prSet presAssocID="{8B66C7A3-2127-4D18-B97B-E56D647A4737}" presName="iconBgRect" presStyleLbl="bgShp" presStyleIdx="3" presStyleCnt="4"/>
      <dgm:spPr/>
    </dgm:pt>
    <dgm:pt modelId="{5B32F7E4-59E4-47B6-BE6B-0403BF1D3914}" type="pres">
      <dgm:prSet presAssocID="{8B66C7A3-2127-4D18-B97B-E56D647A4737}"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Muscle Arm"/>
        </a:ext>
      </dgm:extLst>
    </dgm:pt>
    <dgm:pt modelId="{47F5960F-14B7-4998-9939-A3C5A594F5F3}" type="pres">
      <dgm:prSet presAssocID="{8B66C7A3-2127-4D18-B97B-E56D647A4737}" presName="spaceRect" presStyleCnt="0"/>
      <dgm:spPr/>
    </dgm:pt>
    <dgm:pt modelId="{F1B8344C-934F-4144-B2F6-C0E84314BAE5}" type="pres">
      <dgm:prSet presAssocID="{8B66C7A3-2127-4D18-B97B-E56D647A4737}" presName="textRect" presStyleLbl="revTx" presStyleIdx="3" presStyleCnt="4">
        <dgm:presLayoutVars>
          <dgm:chMax val="1"/>
          <dgm:chPref val="1"/>
        </dgm:presLayoutVars>
      </dgm:prSet>
      <dgm:spPr/>
    </dgm:pt>
  </dgm:ptLst>
  <dgm:cxnLst>
    <dgm:cxn modelId="{9F036914-5287-4ABC-912A-F64D074D7D5E}" type="presOf" srcId="{670B6AE2-50B6-421D-8F5F-C7044D85D44F}" destId="{2BB6BED1-B6EA-468D-B7B4-983B80322541}" srcOrd="0" destOrd="0" presId="urn:microsoft.com/office/officeart/2018/2/layout/IconCircleList"/>
    <dgm:cxn modelId="{E4C90515-FA39-4E9A-A0DF-AD2CAEEC49EF}" type="presOf" srcId="{BA9DCC72-BFAD-40B2-ADC8-3F9CB63AF882}" destId="{D8FCFACD-994E-479D-8F0D-D85DBF636AB0}" srcOrd="0" destOrd="0" presId="urn:microsoft.com/office/officeart/2018/2/layout/IconCircleList"/>
    <dgm:cxn modelId="{6A84EA1D-8465-4497-9B83-CEBB08DB6A01}" type="presOf" srcId="{8B66C7A3-2127-4D18-B97B-E56D647A4737}" destId="{F1B8344C-934F-4144-B2F6-C0E84314BAE5}" srcOrd="0" destOrd="0" presId="urn:microsoft.com/office/officeart/2018/2/layout/IconCircleList"/>
    <dgm:cxn modelId="{32E1BD3D-5109-48D0-A2AC-7260DC18D616}" srcId="{670B6AE2-50B6-421D-8F5F-C7044D85D44F}" destId="{DFFF5CC8-AE89-447F-84BD-72CA848545A2}" srcOrd="2" destOrd="0" parTransId="{2BBDA74D-BEF1-4F31-9E5A-556FC494941B}" sibTransId="{5FDF9077-AD27-418E-829E-02337457532E}"/>
    <dgm:cxn modelId="{29EDAC6F-9D86-4152-A9A1-C53447EBA98C}" srcId="{670B6AE2-50B6-421D-8F5F-C7044D85D44F}" destId="{5EA3E9B1-9D1F-4219-9D2A-04D634101352}" srcOrd="1" destOrd="0" parTransId="{9B66F513-C05E-4355-9338-54D978AAAC0C}" sibTransId="{AE626324-A1E4-4109-ADAD-9BA692C1E90C}"/>
    <dgm:cxn modelId="{F3485091-5607-459B-AA72-853E8FE95478}" srcId="{670B6AE2-50B6-421D-8F5F-C7044D85D44F}" destId="{BA9DCC72-BFAD-40B2-ADC8-3F9CB63AF882}" srcOrd="0" destOrd="0" parTransId="{1B62E0E9-EAAF-4615-897D-E9F52506AC7A}" sibTransId="{3FF8AD96-BF14-4B7D-98C8-21D720346A65}"/>
    <dgm:cxn modelId="{63F651B8-E5B4-4F95-B5F2-3074301AE867}" type="presOf" srcId="{5EA3E9B1-9D1F-4219-9D2A-04D634101352}" destId="{100B7614-EC9E-4902-BEFC-666BE1217BFD}" srcOrd="0" destOrd="0" presId="urn:microsoft.com/office/officeart/2018/2/layout/IconCircleList"/>
    <dgm:cxn modelId="{649C8FC0-F5D9-457F-B318-34DD984A967A}" type="presOf" srcId="{AE626324-A1E4-4109-ADAD-9BA692C1E90C}" destId="{8DF726AC-7DDB-48FB-8C11-479C5943FC77}" srcOrd="0" destOrd="0" presId="urn:microsoft.com/office/officeart/2018/2/layout/IconCircleList"/>
    <dgm:cxn modelId="{CB98F2DA-7081-4161-A25E-41C0A5BC1FEF}" srcId="{670B6AE2-50B6-421D-8F5F-C7044D85D44F}" destId="{8B66C7A3-2127-4D18-B97B-E56D647A4737}" srcOrd="3" destOrd="0" parTransId="{45BA4A01-BB76-4D0C-9199-3D8976168C7C}" sibTransId="{4DA8F297-DAA2-42C9-8C4D-E14F5287DD78}"/>
    <dgm:cxn modelId="{CBE727F3-727C-477D-955A-9D95CA18952A}" type="presOf" srcId="{DFFF5CC8-AE89-447F-84BD-72CA848545A2}" destId="{F1A01391-41C5-43E0-A705-93EE4EB63ACB}" srcOrd="0" destOrd="0" presId="urn:microsoft.com/office/officeart/2018/2/layout/IconCircleList"/>
    <dgm:cxn modelId="{1F8DF1F3-DDB7-4326-A786-1F075019C931}" type="presOf" srcId="{3FF8AD96-BF14-4B7D-98C8-21D720346A65}" destId="{D91A85CE-3571-4F78-9A92-59394B22B221}" srcOrd="0" destOrd="0" presId="urn:microsoft.com/office/officeart/2018/2/layout/IconCircleList"/>
    <dgm:cxn modelId="{09D2DDFB-FA17-404A-9E48-9ECC2F4E62C2}" type="presOf" srcId="{5FDF9077-AD27-418E-829E-02337457532E}" destId="{32FD6C8E-B9B0-4103-ADC3-A1759F893BA9}" srcOrd="0" destOrd="0" presId="urn:microsoft.com/office/officeart/2018/2/layout/IconCircleList"/>
    <dgm:cxn modelId="{11BE9250-AF0C-40CB-BD48-1B1958731BCC}" type="presParOf" srcId="{2BB6BED1-B6EA-468D-B7B4-983B80322541}" destId="{53FB8F66-CB7A-4CED-9314-73D79E67A846}" srcOrd="0" destOrd="0" presId="urn:microsoft.com/office/officeart/2018/2/layout/IconCircleList"/>
    <dgm:cxn modelId="{1C4D4CB9-61DB-4C27-968D-39097A957016}" type="presParOf" srcId="{53FB8F66-CB7A-4CED-9314-73D79E67A846}" destId="{5ACF71F4-3853-4E25-AAD7-F71FCAFD06EE}" srcOrd="0" destOrd="0" presId="urn:microsoft.com/office/officeart/2018/2/layout/IconCircleList"/>
    <dgm:cxn modelId="{E9FDDEC8-5FDA-4ACA-8F47-4B7EDAF825C6}" type="presParOf" srcId="{5ACF71F4-3853-4E25-AAD7-F71FCAFD06EE}" destId="{BBE93B59-1E19-4A2E-B8C3-CDA2171BCC38}" srcOrd="0" destOrd="0" presId="urn:microsoft.com/office/officeart/2018/2/layout/IconCircleList"/>
    <dgm:cxn modelId="{E5CEF860-1925-40C6-AA57-0866F2613922}" type="presParOf" srcId="{5ACF71F4-3853-4E25-AAD7-F71FCAFD06EE}" destId="{A34CD5CB-EDDB-449D-9A6F-C853F05952CB}" srcOrd="1" destOrd="0" presId="urn:microsoft.com/office/officeart/2018/2/layout/IconCircleList"/>
    <dgm:cxn modelId="{9AFC3549-6635-4C96-B590-50F829D3495B}" type="presParOf" srcId="{5ACF71F4-3853-4E25-AAD7-F71FCAFD06EE}" destId="{9EE90349-1002-436D-BDCD-7501CC16CBC8}" srcOrd="2" destOrd="0" presId="urn:microsoft.com/office/officeart/2018/2/layout/IconCircleList"/>
    <dgm:cxn modelId="{5F4F9634-ACB5-4B96-996E-030ECA6BACE5}" type="presParOf" srcId="{5ACF71F4-3853-4E25-AAD7-F71FCAFD06EE}" destId="{D8FCFACD-994E-479D-8F0D-D85DBF636AB0}" srcOrd="3" destOrd="0" presId="urn:microsoft.com/office/officeart/2018/2/layout/IconCircleList"/>
    <dgm:cxn modelId="{D85DE01F-26C6-44F9-A85C-DF9C0083F44C}" type="presParOf" srcId="{53FB8F66-CB7A-4CED-9314-73D79E67A846}" destId="{D91A85CE-3571-4F78-9A92-59394B22B221}" srcOrd="1" destOrd="0" presId="urn:microsoft.com/office/officeart/2018/2/layout/IconCircleList"/>
    <dgm:cxn modelId="{759DE5F2-17E9-445A-A2CE-E9681418F782}" type="presParOf" srcId="{53FB8F66-CB7A-4CED-9314-73D79E67A846}" destId="{F71873BF-FCF8-43CD-8CFB-693634EF3304}" srcOrd="2" destOrd="0" presId="urn:microsoft.com/office/officeart/2018/2/layout/IconCircleList"/>
    <dgm:cxn modelId="{A4BBE59C-CE2C-4328-B056-533D80AA63C2}" type="presParOf" srcId="{F71873BF-FCF8-43CD-8CFB-693634EF3304}" destId="{96776F93-7154-4582-8A01-224C6E90C3D2}" srcOrd="0" destOrd="0" presId="urn:microsoft.com/office/officeart/2018/2/layout/IconCircleList"/>
    <dgm:cxn modelId="{C1409180-F1E8-4BD0-B8D4-63B254C6C4D5}" type="presParOf" srcId="{F71873BF-FCF8-43CD-8CFB-693634EF3304}" destId="{6D728BF4-647D-457A-8608-CF60F50CE20F}" srcOrd="1" destOrd="0" presId="urn:microsoft.com/office/officeart/2018/2/layout/IconCircleList"/>
    <dgm:cxn modelId="{457BA365-9193-45B0-A0D9-0B4E8A830E0B}" type="presParOf" srcId="{F71873BF-FCF8-43CD-8CFB-693634EF3304}" destId="{066B38A7-5867-4E7E-AB84-520659C2F307}" srcOrd="2" destOrd="0" presId="urn:microsoft.com/office/officeart/2018/2/layout/IconCircleList"/>
    <dgm:cxn modelId="{ED76C46D-25AB-40BF-9ACF-EE0B7A9311CA}" type="presParOf" srcId="{F71873BF-FCF8-43CD-8CFB-693634EF3304}" destId="{100B7614-EC9E-4902-BEFC-666BE1217BFD}" srcOrd="3" destOrd="0" presId="urn:microsoft.com/office/officeart/2018/2/layout/IconCircleList"/>
    <dgm:cxn modelId="{4E1FD5DB-BFF6-47B6-AF52-C65C498D6BD0}" type="presParOf" srcId="{53FB8F66-CB7A-4CED-9314-73D79E67A846}" destId="{8DF726AC-7DDB-48FB-8C11-479C5943FC77}" srcOrd="3" destOrd="0" presId="urn:microsoft.com/office/officeart/2018/2/layout/IconCircleList"/>
    <dgm:cxn modelId="{1A2422CD-D0B7-44D7-A7EA-567AD12A742E}" type="presParOf" srcId="{53FB8F66-CB7A-4CED-9314-73D79E67A846}" destId="{8A0F3247-52DC-4349-98B7-E6E90AED131F}" srcOrd="4" destOrd="0" presId="urn:microsoft.com/office/officeart/2018/2/layout/IconCircleList"/>
    <dgm:cxn modelId="{B2AB33A4-8535-4ED4-A9A6-865938FCAA36}" type="presParOf" srcId="{8A0F3247-52DC-4349-98B7-E6E90AED131F}" destId="{61D457D7-A4D1-49CA-9C07-36BB8C87D946}" srcOrd="0" destOrd="0" presId="urn:microsoft.com/office/officeart/2018/2/layout/IconCircleList"/>
    <dgm:cxn modelId="{73250EB9-8242-4284-A3AA-07755B9FA543}" type="presParOf" srcId="{8A0F3247-52DC-4349-98B7-E6E90AED131F}" destId="{71F4951D-DF37-4160-9E95-8B8D1D5BDE6E}" srcOrd="1" destOrd="0" presId="urn:microsoft.com/office/officeart/2018/2/layout/IconCircleList"/>
    <dgm:cxn modelId="{7DC10E2E-BA43-4AF9-923A-140398C0BBB1}" type="presParOf" srcId="{8A0F3247-52DC-4349-98B7-E6E90AED131F}" destId="{3F1D3132-0A39-4F93-BB48-8A3BE050995F}" srcOrd="2" destOrd="0" presId="urn:microsoft.com/office/officeart/2018/2/layout/IconCircleList"/>
    <dgm:cxn modelId="{E656B0A7-C879-48D1-AB0D-1706C85C73CD}" type="presParOf" srcId="{8A0F3247-52DC-4349-98B7-E6E90AED131F}" destId="{F1A01391-41C5-43E0-A705-93EE4EB63ACB}" srcOrd="3" destOrd="0" presId="urn:microsoft.com/office/officeart/2018/2/layout/IconCircleList"/>
    <dgm:cxn modelId="{A8DD6565-C765-4CB9-93AC-359DCFB28981}" type="presParOf" srcId="{53FB8F66-CB7A-4CED-9314-73D79E67A846}" destId="{32FD6C8E-B9B0-4103-ADC3-A1759F893BA9}" srcOrd="5" destOrd="0" presId="urn:microsoft.com/office/officeart/2018/2/layout/IconCircleList"/>
    <dgm:cxn modelId="{10EC7522-709A-499D-AF3E-9FFA7D9D38D0}" type="presParOf" srcId="{53FB8F66-CB7A-4CED-9314-73D79E67A846}" destId="{EEB7DB15-B187-4653-A682-87983A018D77}" srcOrd="6" destOrd="0" presId="urn:microsoft.com/office/officeart/2018/2/layout/IconCircleList"/>
    <dgm:cxn modelId="{CCA3E13B-54EE-495B-BCB1-409630F40081}" type="presParOf" srcId="{EEB7DB15-B187-4653-A682-87983A018D77}" destId="{C0970E24-C867-4964-8A47-8880D4D3858B}" srcOrd="0" destOrd="0" presId="urn:microsoft.com/office/officeart/2018/2/layout/IconCircleList"/>
    <dgm:cxn modelId="{6024337A-AAA3-425C-B18F-2BA3378D4ED8}" type="presParOf" srcId="{EEB7DB15-B187-4653-A682-87983A018D77}" destId="{5B32F7E4-59E4-47B6-BE6B-0403BF1D3914}" srcOrd="1" destOrd="0" presId="urn:microsoft.com/office/officeart/2018/2/layout/IconCircleList"/>
    <dgm:cxn modelId="{AC405F4B-F28E-420C-AD42-04F9B22A4F63}" type="presParOf" srcId="{EEB7DB15-B187-4653-A682-87983A018D77}" destId="{47F5960F-14B7-4998-9939-A3C5A594F5F3}" srcOrd="2" destOrd="0" presId="urn:microsoft.com/office/officeart/2018/2/layout/IconCircleList"/>
    <dgm:cxn modelId="{DBC57DF0-98FD-4D36-9A14-0CEC69450828}" type="presParOf" srcId="{EEB7DB15-B187-4653-A682-87983A018D77}" destId="{F1B8344C-934F-4144-B2F6-C0E84314BAE5}" srcOrd="3" destOrd="0" presId="urn:microsoft.com/office/officeart/2018/2/layout/IconCircl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423233B-45D0-491B-B674-B66086A31931}"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058BF4B0-B9C6-4D06-ACDA-EF687CBC656C}">
      <dgm:prSet/>
      <dgm:spPr/>
      <dgm:t>
        <a:bodyPr/>
        <a:lstStyle/>
        <a:p>
          <a:pPr>
            <a:lnSpc>
              <a:spcPct val="100000"/>
            </a:lnSpc>
          </a:pPr>
          <a:r>
            <a:rPr lang="en-US"/>
            <a:t>LipNet (2016) - Works end-to-end but struggles with accuracy.</a:t>
          </a:r>
        </a:p>
      </dgm:t>
    </dgm:pt>
    <dgm:pt modelId="{4E162BC9-FDCB-44D8-AC0C-5A7273F78A95}" type="parTrans" cxnId="{C4881195-DF41-432A-976C-822E6131EA54}">
      <dgm:prSet/>
      <dgm:spPr/>
      <dgm:t>
        <a:bodyPr/>
        <a:lstStyle/>
        <a:p>
          <a:endParaRPr lang="en-US"/>
        </a:p>
      </dgm:t>
    </dgm:pt>
    <dgm:pt modelId="{932434DC-7BE4-4DB9-A410-CDB26AEC8B24}" type="sibTrans" cxnId="{C4881195-DF41-432A-976C-822E6131EA54}">
      <dgm:prSet/>
      <dgm:spPr/>
      <dgm:t>
        <a:bodyPr/>
        <a:lstStyle/>
        <a:p>
          <a:endParaRPr lang="en-US"/>
        </a:p>
      </dgm:t>
    </dgm:pt>
    <dgm:pt modelId="{6EC61D32-0969-454A-9027-29A0D488DB71}">
      <dgm:prSet/>
      <dgm:spPr/>
      <dgm:t>
        <a:bodyPr/>
        <a:lstStyle/>
        <a:p>
          <a:pPr>
            <a:lnSpc>
              <a:spcPct val="100000"/>
            </a:lnSpc>
          </a:pPr>
          <a:r>
            <a:rPr lang="en-US"/>
            <a:t>Lip Reading Sentences in the Wild (2017) - Uses both audio and video.</a:t>
          </a:r>
        </a:p>
      </dgm:t>
    </dgm:pt>
    <dgm:pt modelId="{22C17D6B-FAA2-4DB1-BACC-5852EBB84E92}" type="parTrans" cxnId="{E60B0921-981A-4063-A8BE-59F582BB75C7}">
      <dgm:prSet/>
      <dgm:spPr/>
      <dgm:t>
        <a:bodyPr/>
        <a:lstStyle/>
        <a:p>
          <a:endParaRPr lang="en-US"/>
        </a:p>
      </dgm:t>
    </dgm:pt>
    <dgm:pt modelId="{A80DEE6D-DD55-47C8-93DC-5518B03A5441}" type="sibTrans" cxnId="{E60B0921-981A-4063-A8BE-59F582BB75C7}">
      <dgm:prSet/>
      <dgm:spPr/>
      <dgm:t>
        <a:bodyPr/>
        <a:lstStyle/>
        <a:p>
          <a:endParaRPr lang="en-US"/>
        </a:p>
      </dgm:t>
    </dgm:pt>
    <dgm:pt modelId="{AFC3B202-6F47-4496-9B31-DCC10810DD80}">
      <dgm:prSet/>
      <dgm:spPr/>
      <dgm:t>
        <a:bodyPr/>
        <a:lstStyle/>
        <a:p>
          <a:pPr>
            <a:lnSpc>
              <a:spcPct val="100000"/>
            </a:lnSpc>
          </a:pPr>
          <a:r>
            <a:rPr lang="en-US"/>
            <a:t>Lip Reading Sentences Using Deep Learning (2020) - Focuses on visual cues but uses fixed timestamps.</a:t>
          </a:r>
        </a:p>
      </dgm:t>
    </dgm:pt>
    <dgm:pt modelId="{9284900E-E3C4-4332-A296-28F80C2F589D}" type="parTrans" cxnId="{93A67BC4-199B-4848-9677-EDEDA7E8F193}">
      <dgm:prSet/>
      <dgm:spPr/>
      <dgm:t>
        <a:bodyPr/>
        <a:lstStyle/>
        <a:p>
          <a:endParaRPr lang="en-US"/>
        </a:p>
      </dgm:t>
    </dgm:pt>
    <dgm:pt modelId="{911010E1-709F-41C5-8703-4CB320967E4D}" type="sibTrans" cxnId="{93A67BC4-199B-4848-9677-EDEDA7E8F193}">
      <dgm:prSet/>
      <dgm:spPr/>
      <dgm:t>
        <a:bodyPr/>
        <a:lstStyle/>
        <a:p>
          <a:endParaRPr lang="en-US"/>
        </a:p>
      </dgm:t>
    </dgm:pt>
    <dgm:pt modelId="{F1149607-0A28-4785-AA37-41F5ED1293D7}" type="pres">
      <dgm:prSet presAssocID="{7423233B-45D0-491B-B674-B66086A31931}" presName="root" presStyleCnt="0">
        <dgm:presLayoutVars>
          <dgm:dir/>
          <dgm:resizeHandles val="exact"/>
        </dgm:presLayoutVars>
      </dgm:prSet>
      <dgm:spPr/>
    </dgm:pt>
    <dgm:pt modelId="{0738D9DE-B6A3-4C8C-9382-22B123B4B59F}" type="pres">
      <dgm:prSet presAssocID="{058BF4B0-B9C6-4D06-ACDA-EF687CBC656C}" presName="compNode" presStyleCnt="0"/>
      <dgm:spPr/>
    </dgm:pt>
    <dgm:pt modelId="{BF905020-1EC3-48EE-B03D-7661730DD1BA}" type="pres">
      <dgm:prSet presAssocID="{058BF4B0-B9C6-4D06-ACDA-EF687CBC656C}" presName="bgRect" presStyleLbl="bgShp" presStyleIdx="0" presStyleCnt="3"/>
      <dgm:spPr/>
    </dgm:pt>
    <dgm:pt modelId="{1FADAFA3-BD97-4F8A-8428-24170514C08F}" type="pres">
      <dgm:prSet presAssocID="{058BF4B0-B9C6-4D06-ACDA-EF687CBC656C}"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Target"/>
        </a:ext>
      </dgm:extLst>
    </dgm:pt>
    <dgm:pt modelId="{8E79B526-19AB-4205-B5ED-4BE358210B05}" type="pres">
      <dgm:prSet presAssocID="{058BF4B0-B9C6-4D06-ACDA-EF687CBC656C}" presName="spaceRect" presStyleCnt="0"/>
      <dgm:spPr/>
    </dgm:pt>
    <dgm:pt modelId="{2AC02DE5-81CD-4F30-AEAC-852753A91924}" type="pres">
      <dgm:prSet presAssocID="{058BF4B0-B9C6-4D06-ACDA-EF687CBC656C}" presName="parTx" presStyleLbl="revTx" presStyleIdx="0" presStyleCnt="3">
        <dgm:presLayoutVars>
          <dgm:chMax val="0"/>
          <dgm:chPref val="0"/>
        </dgm:presLayoutVars>
      </dgm:prSet>
      <dgm:spPr/>
    </dgm:pt>
    <dgm:pt modelId="{FD44A0FF-4684-45B3-8D25-A1765A07D2A6}" type="pres">
      <dgm:prSet presAssocID="{932434DC-7BE4-4DB9-A410-CDB26AEC8B24}" presName="sibTrans" presStyleCnt="0"/>
      <dgm:spPr/>
    </dgm:pt>
    <dgm:pt modelId="{03E65670-2F56-4AA4-BE8B-A4676E32BB0E}" type="pres">
      <dgm:prSet presAssocID="{6EC61D32-0969-454A-9027-29A0D488DB71}" presName="compNode" presStyleCnt="0"/>
      <dgm:spPr/>
    </dgm:pt>
    <dgm:pt modelId="{214FB925-2B20-427B-B130-847F414BF0D1}" type="pres">
      <dgm:prSet presAssocID="{6EC61D32-0969-454A-9027-29A0D488DB71}" presName="bgRect" presStyleLbl="bgShp" presStyleIdx="1" presStyleCnt="3"/>
      <dgm:spPr/>
    </dgm:pt>
    <dgm:pt modelId="{B7AC21A5-B37D-4EE4-BEAA-20D674FB165F}" type="pres">
      <dgm:prSet presAssocID="{6EC61D32-0969-454A-9027-29A0D488DB71}"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Books"/>
        </a:ext>
      </dgm:extLst>
    </dgm:pt>
    <dgm:pt modelId="{E80AA67E-6FA9-4161-9D17-1B2496701126}" type="pres">
      <dgm:prSet presAssocID="{6EC61D32-0969-454A-9027-29A0D488DB71}" presName="spaceRect" presStyleCnt="0"/>
      <dgm:spPr/>
    </dgm:pt>
    <dgm:pt modelId="{A97EAB1E-E281-42E4-BB6F-D5692DE32618}" type="pres">
      <dgm:prSet presAssocID="{6EC61D32-0969-454A-9027-29A0D488DB71}" presName="parTx" presStyleLbl="revTx" presStyleIdx="1" presStyleCnt="3">
        <dgm:presLayoutVars>
          <dgm:chMax val="0"/>
          <dgm:chPref val="0"/>
        </dgm:presLayoutVars>
      </dgm:prSet>
      <dgm:spPr/>
    </dgm:pt>
    <dgm:pt modelId="{DB31FA98-4446-476C-A9A8-2E4B1880BA23}" type="pres">
      <dgm:prSet presAssocID="{A80DEE6D-DD55-47C8-93DC-5518B03A5441}" presName="sibTrans" presStyleCnt="0"/>
      <dgm:spPr/>
    </dgm:pt>
    <dgm:pt modelId="{08C113E1-F0BA-40FE-814C-AB1565FC4083}" type="pres">
      <dgm:prSet presAssocID="{AFC3B202-6F47-4496-9B31-DCC10810DD80}" presName="compNode" presStyleCnt="0"/>
      <dgm:spPr/>
    </dgm:pt>
    <dgm:pt modelId="{A653C0B6-BC6D-4030-A04C-EFBD1CF64F14}" type="pres">
      <dgm:prSet presAssocID="{AFC3B202-6F47-4496-9B31-DCC10810DD80}" presName="bgRect" presStyleLbl="bgShp" presStyleIdx="2" presStyleCnt="3"/>
      <dgm:spPr/>
    </dgm:pt>
    <dgm:pt modelId="{E132AAF7-1897-4894-882D-4C08D07D679B}" type="pres">
      <dgm:prSet presAssocID="{AFC3B202-6F47-4496-9B31-DCC10810DD80}"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Ear"/>
        </a:ext>
      </dgm:extLst>
    </dgm:pt>
    <dgm:pt modelId="{A1BFF7E9-363C-467C-A3CA-0E7974AA1EFE}" type="pres">
      <dgm:prSet presAssocID="{AFC3B202-6F47-4496-9B31-DCC10810DD80}" presName="spaceRect" presStyleCnt="0"/>
      <dgm:spPr/>
    </dgm:pt>
    <dgm:pt modelId="{1C32DD48-6E7E-4BDC-A9BE-CAE0AAB37749}" type="pres">
      <dgm:prSet presAssocID="{AFC3B202-6F47-4496-9B31-DCC10810DD80}" presName="parTx" presStyleLbl="revTx" presStyleIdx="2" presStyleCnt="3">
        <dgm:presLayoutVars>
          <dgm:chMax val="0"/>
          <dgm:chPref val="0"/>
        </dgm:presLayoutVars>
      </dgm:prSet>
      <dgm:spPr/>
    </dgm:pt>
  </dgm:ptLst>
  <dgm:cxnLst>
    <dgm:cxn modelId="{B0713812-0B39-46B4-A76F-1BC92DD18171}" type="presOf" srcId="{AFC3B202-6F47-4496-9B31-DCC10810DD80}" destId="{1C32DD48-6E7E-4BDC-A9BE-CAE0AAB37749}" srcOrd="0" destOrd="0" presId="urn:microsoft.com/office/officeart/2018/2/layout/IconVerticalSolidList"/>
    <dgm:cxn modelId="{E60B0921-981A-4063-A8BE-59F582BB75C7}" srcId="{7423233B-45D0-491B-B674-B66086A31931}" destId="{6EC61D32-0969-454A-9027-29A0D488DB71}" srcOrd="1" destOrd="0" parTransId="{22C17D6B-FAA2-4DB1-BACC-5852EBB84E92}" sibTransId="{A80DEE6D-DD55-47C8-93DC-5518B03A5441}"/>
    <dgm:cxn modelId="{008BF73B-7341-4C5A-937F-29A0C1486557}" type="presOf" srcId="{6EC61D32-0969-454A-9027-29A0D488DB71}" destId="{A97EAB1E-E281-42E4-BB6F-D5692DE32618}" srcOrd="0" destOrd="0" presId="urn:microsoft.com/office/officeart/2018/2/layout/IconVerticalSolidList"/>
    <dgm:cxn modelId="{C4881195-DF41-432A-976C-822E6131EA54}" srcId="{7423233B-45D0-491B-B674-B66086A31931}" destId="{058BF4B0-B9C6-4D06-ACDA-EF687CBC656C}" srcOrd="0" destOrd="0" parTransId="{4E162BC9-FDCB-44D8-AC0C-5A7273F78A95}" sibTransId="{932434DC-7BE4-4DB9-A410-CDB26AEC8B24}"/>
    <dgm:cxn modelId="{93A67BC4-199B-4848-9677-EDEDA7E8F193}" srcId="{7423233B-45D0-491B-B674-B66086A31931}" destId="{AFC3B202-6F47-4496-9B31-DCC10810DD80}" srcOrd="2" destOrd="0" parTransId="{9284900E-E3C4-4332-A296-28F80C2F589D}" sibTransId="{911010E1-709F-41C5-8703-4CB320967E4D}"/>
    <dgm:cxn modelId="{21E113E4-FC2D-455D-9779-9CE2C0178A9C}" type="presOf" srcId="{7423233B-45D0-491B-B674-B66086A31931}" destId="{F1149607-0A28-4785-AA37-41F5ED1293D7}" srcOrd="0" destOrd="0" presId="urn:microsoft.com/office/officeart/2018/2/layout/IconVerticalSolidList"/>
    <dgm:cxn modelId="{069EE8EF-EBD3-4F1B-967E-44248069937C}" type="presOf" srcId="{058BF4B0-B9C6-4D06-ACDA-EF687CBC656C}" destId="{2AC02DE5-81CD-4F30-AEAC-852753A91924}" srcOrd="0" destOrd="0" presId="urn:microsoft.com/office/officeart/2018/2/layout/IconVerticalSolidList"/>
    <dgm:cxn modelId="{16FBC6F2-9BC6-4EF2-B332-56AA11D6241F}" type="presParOf" srcId="{F1149607-0A28-4785-AA37-41F5ED1293D7}" destId="{0738D9DE-B6A3-4C8C-9382-22B123B4B59F}" srcOrd="0" destOrd="0" presId="urn:microsoft.com/office/officeart/2018/2/layout/IconVerticalSolidList"/>
    <dgm:cxn modelId="{3DD21C6D-99F1-43A3-B750-1971F283826A}" type="presParOf" srcId="{0738D9DE-B6A3-4C8C-9382-22B123B4B59F}" destId="{BF905020-1EC3-48EE-B03D-7661730DD1BA}" srcOrd="0" destOrd="0" presId="urn:microsoft.com/office/officeart/2018/2/layout/IconVerticalSolidList"/>
    <dgm:cxn modelId="{A0A7872D-0109-4A12-91FE-2A907FC255A2}" type="presParOf" srcId="{0738D9DE-B6A3-4C8C-9382-22B123B4B59F}" destId="{1FADAFA3-BD97-4F8A-8428-24170514C08F}" srcOrd="1" destOrd="0" presId="urn:microsoft.com/office/officeart/2018/2/layout/IconVerticalSolidList"/>
    <dgm:cxn modelId="{FE1BAC68-4243-40AE-9491-3F364C93B2F5}" type="presParOf" srcId="{0738D9DE-B6A3-4C8C-9382-22B123B4B59F}" destId="{8E79B526-19AB-4205-B5ED-4BE358210B05}" srcOrd="2" destOrd="0" presId="urn:microsoft.com/office/officeart/2018/2/layout/IconVerticalSolidList"/>
    <dgm:cxn modelId="{92780327-62A3-4C8B-B651-B4C82B7EBE8E}" type="presParOf" srcId="{0738D9DE-B6A3-4C8C-9382-22B123B4B59F}" destId="{2AC02DE5-81CD-4F30-AEAC-852753A91924}" srcOrd="3" destOrd="0" presId="urn:microsoft.com/office/officeart/2018/2/layout/IconVerticalSolidList"/>
    <dgm:cxn modelId="{61C3AD90-D25C-4DA7-B996-22DFFAA716C3}" type="presParOf" srcId="{F1149607-0A28-4785-AA37-41F5ED1293D7}" destId="{FD44A0FF-4684-45B3-8D25-A1765A07D2A6}" srcOrd="1" destOrd="0" presId="urn:microsoft.com/office/officeart/2018/2/layout/IconVerticalSolidList"/>
    <dgm:cxn modelId="{B7EE1AEB-2DE0-4486-884D-3D2E1F2C0D2E}" type="presParOf" srcId="{F1149607-0A28-4785-AA37-41F5ED1293D7}" destId="{03E65670-2F56-4AA4-BE8B-A4676E32BB0E}" srcOrd="2" destOrd="0" presId="urn:microsoft.com/office/officeart/2018/2/layout/IconVerticalSolidList"/>
    <dgm:cxn modelId="{77D1ABE4-D243-4D51-BB1B-FA9EC7065BB9}" type="presParOf" srcId="{03E65670-2F56-4AA4-BE8B-A4676E32BB0E}" destId="{214FB925-2B20-427B-B130-847F414BF0D1}" srcOrd="0" destOrd="0" presId="urn:microsoft.com/office/officeart/2018/2/layout/IconVerticalSolidList"/>
    <dgm:cxn modelId="{E7C17C68-FAF8-4370-88AE-F4353E8C5D2A}" type="presParOf" srcId="{03E65670-2F56-4AA4-BE8B-A4676E32BB0E}" destId="{B7AC21A5-B37D-4EE4-BEAA-20D674FB165F}" srcOrd="1" destOrd="0" presId="urn:microsoft.com/office/officeart/2018/2/layout/IconVerticalSolidList"/>
    <dgm:cxn modelId="{4D1B8C7B-A0E0-4F73-AADB-335F9D3EA11C}" type="presParOf" srcId="{03E65670-2F56-4AA4-BE8B-A4676E32BB0E}" destId="{E80AA67E-6FA9-4161-9D17-1B2496701126}" srcOrd="2" destOrd="0" presId="urn:microsoft.com/office/officeart/2018/2/layout/IconVerticalSolidList"/>
    <dgm:cxn modelId="{8E37B3EC-1F08-45E2-9E49-A573C92F6069}" type="presParOf" srcId="{03E65670-2F56-4AA4-BE8B-A4676E32BB0E}" destId="{A97EAB1E-E281-42E4-BB6F-D5692DE32618}" srcOrd="3" destOrd="0" presId="urn:microsoft.com/office/officeart/2018/2/layout/IconVerticalSolidList"/>
    <dgm:cxn modelId="{72A4961E-916C-47E8-A757-46D7BBDFA108}" type="presParOf" srcId="{F1149607-0A28-4785-AA37-41F5ED1293D7}" destId="{DB31FA98-4446-476C-A9A8-2E4B1880BA23}" srcOrd="3" destOrd="0" presId="urn:microsoft.com/office/officeart/2018/2/layout/IconVerticalSolidList"/>
    <dgm:cxn modelId="{93E7F998-CC67-4946-A90F-3200313CD518}" type="presParOf" srcId="{F1149607-0A28-4785-AA37-41F5ED1293D7}" destId="{08C113E1-F0BA-40FE-814C-AB1565FC4083}" srcOrd="4" destOrd="0" presId="urn:microsoft.com/office/officeart/2018/2/layout/IconVerticalSolidList"/>
    <dgm:cxn modelId="{277FA16F-04E1-4FA2-987C-1941DD9F3E06}" type="presParOf" srcId="{08C113E1-F0BA-40FE-814C-AB1565FC4083}" destId="{A653C0B6-BC6D-4030-A04C-EFBD1CF64F14}" srcOrd="0" destOrd="0" presId="urn:microsoft.com/office/officeart/2018/2/layout/IconVerticalSolidList"/>
    <dgm:cxn modelId="{12F600B8-F689-4021-BAF4-C399C13F091F}" type="presParOf" srcId="{08C113E1-F0BA-40FE-814C-AB1565FC4083}" destId="{E132AAF7-1897-4894-882D-4C08D07D679B}" srcOrd="1" destOrd="0" presId="urn:microsoft.com/office/officeart/2018/2/layout/IconVerticalSolidList"/>
    <dgm:cxn modelId="{ABA8B74E-8CA6-4704-8501-47B41DE3790D}" type="presParOf" srcId="{08C113E1-F0BA-40FE-814C-AB1565FC4083}" destId="{A1BFF7E9-363C-467C-A3CA-0E7974AA1EFE}" srcOrd="2" destOrd="0" presId="urn:microsoft.com/office/officeart/2018/2/layout/IconVerticalSolidList"/>
    <dgm:cxn modelId="{D23FDB19-7483-4DA5-B6CB-1B40098C027A}" type="presParOf" srcId="{08C113E1-F0BA-40FE-814C-AB1565FC4083}" destId="{1C32DD48-6E7E-4BDC-A9BE-CAE0AAB37749}"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14B9137-6FD2-4209-BB9F-6EFCB33D0BE1}" type="doc">
      <dgm:prSet loTypeId="urn:microsoft.com/office/officeart/2018/5/layout/IconCircleLabelList" loCatId="icon" qsTypeId="urn:microsoft.com/office/officeart/2005/8/quickstyle/simple1" qsCatId="simple" csTypeId="urn:microsoft.com/office/officeart/2005/8/colors/accent1_2" csCatId="accent1" phldr="1"/>
      <dgm:spPr/>
      <dgm:t>
        <a:bodyPr/>
        <a:lstStyle/>
        <a:p>
          <a:endParaRPr lang="en-US"/>
        </a:p>
      </dgm:t>
    </dgm:pt>
    <dgm:pt modelId="{AC478486-2AFB-4D29-B1D1-7F12AB7932FF}">
      <dgm:prSet/>
      <dgm:spPr/>
      <dgm:t>
        <a:bodyPr/>
        <a:lstStyle/>
        <a:p>
          <a:pPr>
            <a:lnSpc>
              <a:spcPct val="100000"/>
            </a:lnSpc>
            <a:defRPr cap="all"/>
          </a:pPr>
          <a:r>
            <a:rPr lang="en-US"/>
            <a:t>We chose the </a:t>
          </a:r>
          <a:r>
            <a:rPr lang="en-US" b="1"/>
            <a:t>2020 lip-reading system</a:t>
          </a:r>
          <a:r>
            <a:rPr lang="en-US"/>
            <a:t>.</a:t>
          </a:r>
        </a:p>
      </dgm:t>
    </dgm:pt>
    <dgm:pt modelId="{B13A303C-827E-4C24-8C9C-CF65B04014FC}" type="parTrans" cxnId="{3CBD519A-C450-4D6A-9ED7-F3EE5C60879F}">
      <dgm:prSet/>
      <dgm:spPr/>
      <dgm:t>
        <a:bodyPr/>
        <a:lstStyle/>
        <a:p>
          <a:endParaRPr lang="en-US"/>
        </a:p>
      </dgm:t>
    </dgm:pt>
    <dgm:pt modelId="{08E1B9CA-3675-4A71-97C3-244CE7AE4F1F}" type="sibTrans" cxnId="{3CBD519A-C450-4D6A-9ED7-F3EE5C60879F}">
      <dgm:prSet/>
      <dgm:spPr/>
      <dgm:t>
        <a:bodyPr/>
        <a:lstStyle/>
        <a:p>
          <a:endParaRPr lang="en-US"/>
        </a:p>
      </dgm:t>
    </dgm:pt>
    <dgm:pt modelId="{C205581F-1C8A-4430-8918-185538FB0493}">
      <dgm:prSet/>
      <dgm:spPr/>
      <dgm:t>
        <a:bodyPr/>
        <a:lstStyle/>
        <a:p>
          <a:pPr>
            <a:lnSpc>
              <a:spcPct val="100000"/>
            </a:lnSpc>
            <a:defRPr cap="all"/>
          </a:pPr>
          <a:r>
            <a:rPr lang="en-US"/>
            <a:t>It uses </a:t>
          </a:r>
          <a:r>
            <a:rPr lang="en-US" b="1"/>
            <a:t>viseme classification</a:t>
          </a:r>
          <a:r>
            <a:rPr lang="en-US"/>
            <a:t> for better accuracy.</a:t>
          </a:r>
        </a:p>
      </dgm:t>
    </dgm:pt>
    <dgm:pt modelId="{39D52339-CE97-4155-90BE-1AA029920A42}" type="parTrans" cxnId="{10245800-91CA-4657-9ABD-CFE9E00DD52F}">
      <dgm:prSet/>
      <dgm:spPr/>
      <dgm:t>
        <a:bodyPr/>
        <a:lstStyle/>
        <a:p>
          <a:endParaRPr lang="en-US"/>
        </a:p>
      </dgm:t>
    </dgm:pt>
    <dgm:pt modelId="{BA677234-C768-43F2-95F6-139C4A5E6110}" type="sibTrans" cxnId="{10245800-91CA-4657-9ABD-CFE9E00DD52F}">
      <dgm:prSet/>
      <dgm:spPr/>
      <dgm:t>
        <a:bodyPr/>
        <a:lstStyle/>
        <a:p>
          <a:endParaRPr lang="en-US"/>
        </a:p>
      </dgm:t>
    </dgm:pt>
    <dgm:pt modelId="{FE81C52C-9768-490D-8A0E-90D3E48BEB31}">
      <dgm:prSet/>
      <dgm:spPr/>
      <dgm:t>
        <a:bodyPr/>
        <a:lstStyle/>
        <a:p>
          <a:pPr>
            <a:lnSpc>
              <a:spcPct val="100000"/>
            </a:lnSpc>
            <a:defRPr cap="all"/>
          </a:pPr>
          <a:r>
            <a:rPr lang="en-US"/>
            <a:t>Its </a:t>
          </a:r>
          <a:r>
            <a:rPr lang="en-US" b="1"/>
            <a:t>weakness</a:t>
          </a:r>
          <a:r>
            <a:rPr lang="en-US"/>
            <a:t> : relies on </a:t>
          </a:r>
          <a:r>
            <a:rPr lang="en-US" b="1"/>
            <a:t>Static Timestamps</a:t>
          </a:r>
          <a:endParaRPr lang="en-US"/>
        </a:p>
      </dgm:t>
    </dgm:pt>
    <dgm:pt modelId="{900049F3-CC0C-4FC9-AB40-8CEF2F0CDEF9}" type="parTrans" cxnId="{6B1B2C48-553C-419A-B5AA-2A4871662E21}">
      <dgm:prSet/>
      <dgm:spPr/>
      <dgm:t>
        <a:bodyPr/>
        <a:lstStyle/>
        <a:p>
          <a:endParaRPr lang="en-US"/>
        </a:p>
      </dgm:t>
    </dgm:pt>
    <dgm:pt modelId="{50A33E26-B4FA-47A8-9AEF-ECAED2FB96C2}" type="sibTrans" cxnId="{6B1B2C48-553C-419A-B5AA-2A4871662E21}">
      <dgm:prSet/>
      <dgm:spPr/>
      <dgm:t>
        <a:bodyPr/>
        <a:lstStyle/>
        <a:p>
          <a:endParaRPr lang="en-US"/>
        </a:p>
      </dgm:t>
    </dgm:pt>
    <dgm:pt modelId="{F515C555-BC96-487F-A6AC-AD217627BC20}">
      <dgm:prSet/>
      <dgm:spPr/>
      <dgm:t>
        <a:bodyPr/>
        <a:lstStyle/>
        <a:p>
          <a:pPr>
            <a:lnSpc>
              <a:spcPct val="100000"/>
            </a:lnSpc>
            <a:defRPr cap="all"/>
          </a:pPr>
          <a:r>
            <a:rPr lang="en-US"/>
            <a:t>Fixing this improves </a:t>
          </a:r>
          <a:r>
            <a:rPr lang="en-US" b="1"/>
            <a:t>functionality and accuracy</a:t>
          </a:r>
          <a:r>
            <a:rPr lang="en-US"/>
            <a:t>.</a:t>
          </a:r>
        </a:p>
      </dgm:t>
    </dgm:pt>
    <dgm:pt modelId="{4AF7D95C-3C65-44AC-87C2-67A079151E24}" type="parTrans" cxnId="{D103A046-99DD-44C1-95C6-1B95EE7BD6EC}">
      <dgm:prSet/>
      <dgm:spPr/>
      <dgm:t>
        <a:bodyPr/>
        <a:lstStyle/>
        <a:p>
          <a:endParaRPr lang="en-US"/>
        </a:p>
      </dgm:t>
    </dgm:pt>
    <dgm:pt modelId="{91716120-0A54-4924-833B-EE73E92CBBE9}" type="sibTrans" cxnId="{D103A046-99DD-44C1-95C6-1B95EE7BD6EC}">
      <dgm:prSet/>
      <dgm:spPr/>
      <dgm:t>
        <a:bodyPr/>
        <a:lstStyle/>
        <a:p>
          <a:endParaRPr lang="en-US"/>
        </a:p>
      </dgm:t>
    </dgm:pt>
    <dgm:pt modelId="{B25797B0-2BBC-4E87-A09F-5911E92D3C23}" type="pres">
      <dgm:prSet presAssocID="{114B9137-6FD2-4209-BB9F-6EFCB33D0BE1}" presName="root" presStyleCnt="0">
        <dgm:presLayoutVars>
          <dgm:dir/>
          <dgm:resizeHandles val="exact"/>
        </dgm:presLayoutVars>
      </dgm:prSet>
      <dgm:spPr/>
    </dgm:pt>
    <dgm:pt modelId="{7F5FDE43-8527-460F-AA0D-0CB5B9A8D194}" type="pres">
      <dgm:prSet presAssocID="{AC478486-2AFB-4D29-B1D1-7F12AB7932FF}" presName="compNode" presStyleCnt="0"/>
      <dgm:spPr/>
    </dgm:pt>
    <dgm:pt modelId="{1DA68FE9-A433-4D51-B1A9-DC6D992ED179}" type="pres">
      <dgm:prSet presAssocID="{AC478486-2AFB-4D29-B1D1-7F12AB7932FF}" presName="iconBgRect" presStyleLbl="bgShp" presStyleIdx="0" presStyleCnt="4"/>
      <dgm:spPr/>
    </dgm:pt>
    <dgm:pt modelId="{30B4EA01-4513-415D-A3AD-8FF01B6DE2F3}" type="pres">
      <dgm:prSet presAssocID="{AC478486-2AFB-4D29-B1D1-7F12AB7932FF}"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Atom"/>
        </a:ext>
      </dgm:extLst>
    </dgm:pt>
    <dgm:pt modelId="{9CF3050E-3596-479D-A0A7-E43ECCB000C0}" type="pres">
      <dgm:prSet presAssocID="{AC478486-2AFB-4D29-B1D1-7F12AB7932FF}" presName="spaceRect" presStyleCnt="0"/>
      <dgm:spPr/>
    </dgm:pt>
    <dgm:pt modelId="{78D3AB5A-6F13-4F93-8B80-BABF274EA590}" type="pres">
      <dgm:prSet presAssocID="{AC478486-2AFB-4D29-B1D1-7F12AB7932FF}" presName="textRect" presStyleLbl="revTx" presStyleIdx="0" presStyleCnt="4">
        <dgm:presLayoutVars>
          <dgm:chMax val="1"/>
          <dgm:chPref val="1"/>
        </dgm:presLayoutVars>
      </dgm:prSet>
      <dgm:spPr/>
    </dgm:pt>
    <dgm:pt modelId="{0260854F-4A0D-4AE5-BCCD-38582745FBDF}" type="pres">
      <dgm:prSet presAssocID="{08E1B9CA-3675-4A71-97C3-244CE7AE4F1F}" presName="sibTrans" presStyleCnt="0"/>
      <dgm:spPr/>
    </dgm:pt>
    <dgm:pt modelId="{0E9BE8C3-BA52-46A5-9BE4-B122193E7F76}" type="pres">
      <dgm:prSet presAssocID="{C205581F-1C8A-4430-8918-185538FB0493}" presName="compNode" presStyleCnt="0"/>
      <dgm:spPr/>
    </dgm:pt>
    <dgm:pt modelId="{6AF81A33-5046-43F0-93E7-FD2828D8D82F}" type="pres">
      <dgm:prSet presAssocID="{C205581F-1C8A-4430-8918-185538FB0493}" presName="iconBgRect" presStyleLbl="bgShp" presStyleIdx="1" presStyleCnt="4"/>
      <dgm:spPr/>
    </dgm:pt>
    <dgm:pt modelId="{1A14B5A5-BFEC-4A80-9270-499B20FAE283}" type="pres">
      <dgm:prSet presAssocID="{C205581F-1C8A-4430-8918-185538FB0493}"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Target"/>
        </a:ext>
      </dgm:extLst>
    </dgm:pt>
    <dgm:pt modelId="{7528E6FE-F853-434E-A6D5-9D8AF42FD7EB}" type="pres">
      <dgm:prSet presAssocID="{C205581F-1C8A-4430-8918-185538FB0493}" presName="spaceRect" presStyleCnt="0"/>
      <dgm:spPr/>
    </dgm:pt>
    <dgm:pt modelId="{2C5B3C19-539F-4162-A155-6003E9998D81}" type="pres">
      <dgm:prSet presAssocID="{C205581F-1C8A-4430-8918-185538FB0493}" presName="textRect" presStyleLbl="revTx" presStyleIdx="1" presStyleCnt="4">
        <dgm:presLayoutVars>
          <dgm:chMax val="1"/>
          <dgm:chPref val="1"/>
        </dgm:presLayoutVars>
      </dgm:prSet>
      <dgm:spPr/>
    </dgm:pt>
    <dgm:pt modelId="{2F4D93BD-BF5E-4CD8-AD07-98DE046C5443}" type="pres">
      <dgm:prSet presAssocID="{BA677234-C768-43F2-95F6-139C4A5E6110}" presName="sibTrans" presStyleCnt="0"/>
      <dgm:spPr/>
    </dgm:pt>
    <dgm:pt modelId="{85572E4D-1D3D-45E7-B78B-45ADFBDC88BA}" type="pres">
      <dgm:prSet presAssocID="{FE81C52C-9768-490D-8A0E-90D3E48BEB31}" presName="compNode" presStyleCnt="0"/>
      <dgm:spPr/>
    </dgm:pt>
    <dgm:pt modelId="{E14CD57C-BBA3-4DB8-AF9B-81FE5FBAB607}" type="pres">
      <dgm:prSet presAssocID="{FE81C52C-9768-490D-8A0E-90D3E48BEB31}" presName="iconBgRect" presStyleLbl="bgShp" presStyleIdx="2" presStyleCnt="4"/>
      <dgm:spPr/>
    </dgm:pt>
    <dgm:pt modelId="{08016648-9DC3-4A56-A8B5-427E09A8A5FB}" type="pres">
      <dgm:prSet presAssocID="{FE81C52C-9768-490D-8A0E-90D3E48BEB31}"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Lightning"/>
        </a:ext>
      </dgm:extLst>
    </dgm:pt>
    <dgm:pt modelId="{38B55ED7-CC82-4669-A432-6659AA1BF81A}" type="pres">
      <dgm:prSet presAssocID="{FE81C52C-9768-490D-8A0E-90D3E48BEB31}" presName="spaceRect" presStyleCnt="0"/>
      <dgm:spPr/>
    </dgm:pt>
    <dgm:pt modelId="{B6E7826E-2D83-41A3-BDCA-CBA77BA97A9F}" type="pres">
      <dgm:prSet presAssocID="{FE81C52C-9768-490D-8A0E-90D3E48BEB31}" presName="textRect" presStyleLbl="revTx" presStyleIdx="2" presStyleCnt="4">
        <dgm:presLayoutVars>
          <dgm:chMax val="1"/>
          <dgm:chPref val="1"/>
        </dgm:presLayoutVars>
      </dgm:prSet>
      <dgm:spPr/>
    </dgm:pt>
    <dgm:pt modelId="{96C6E431-4086-4B52-A54B-75F4E4C124DF}" type="pres">
      <dgm:prSet presAssocID="{50A33E26-B4FA-47A8-9AEF-ECAED2FB96C2}" presName="sibTrans" presStyleCnt="0"/>
      <dgm:spPr/>
    </dgm:pt>
    <dgm:pt modelId="{2CC4A6A0-4C1A-406C-8FAB-EE64E1E3A2C8}" type="pres">
      <dgm:prSet presAssocID="{F515C555-BC96-487F-A6AC-AD217627BC20}" presName="compNode" presStyleCnt="0"/>
      <dgm:spPr/>
    </dgm:pt>
    <dgm:pt modelId="{A02710D8-168E-419B-B00D-5AAF78A6939B}" type="pres">
      <dgm:prSet presAssocID="{F515C555-BC96-487F-A6AC-AD217627BC20}" presName="iconBgRect" presStyleLbl="bgShp" presStyleIdx="3" presStyleCnt="4"/>
      <dgm:spPr/>
    </dgm:pt>
    <dgm:pt modelId="{55DAE6C1-A48F-425E-9A1B-F7DC5D18C58B}" type="pres">
      <dgm:prSet presAssocID="{F515C555-BC96-487F-A6AC-AD217627BC20}"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Bullseye"/>
        </a:ext>
      </dgm:extLst>
    </dgm:pt>
    <dgm:pt modelId="{09FFE740-A117-4972-B489-BCEA0E4007CA}" type="pres">
      <dgm:prSet presAssocID="{F515C555-BC96-487F-A6AC-AD217627BC20}" presName="spaceRect" presStyleCnt="0"/>
      <dgm:spPr/>
    </dgm:pt>
    <dgm:pt modelId="{D2462536-AD29-4FB3-8FF5-DBE80A29C1C4}" type="pres">
      <dgm:prSet presAssocID="{F515C555-BC96-487F-A6AC-AD217627BC20}" presName="textRect" presStyleLbl="revTx" presStyleIdx="3" presStyleCnt="4">
        <dgm:presLayoutVars>
          <dgm:chMax val="1"/>
          <dgm:chPref val="1"/>
        </dgm:presLayoutVars>
      </dgm:prSet>
      <dgm:spPr/>
    </dgm:pt>
  </dgm:ptLst>
  <dgm:cxnLst>
    <dgm:cxn modelId="{10245800-91CA-4657-9ABD-CFE9E00DD52F}" srcId="{114B9137-6FD2-4209-BB9F-6EFCB33D0BE1}" destId="{C205581F-1C8A-4430-8918-185538FB0493}" srcOrd="1" destOrd="0" parTransId="{39D52339-CE97-4155-90BE-1AA029920A42}" sibTransId="{BA677234-C768-43F2-95F6-139C4A5E6110}"/>
    <dgm:cxn modelId="{8407FF34-6C27-46A1-B04B-4D5C0C84A0EE}" type="presOf" srcId="{AC478486-2AFB-4D29-B1D1-7F12AB7932FF}" destId="{78D3AB5A-6F13-4F93-8B80-BABF274EA590}" srcOrd="0" destOrd="0" presId="urn:microsoft.com/office/officeart/2018/5/layout/IconCircleLabelList"/>
    <dgm:cxn modelId="{3F64655C-2E0D-4600-BA2E-151116BDC5BA}" type="presOf" srcId="{F515C555-BC96-487F-A6AC-AD217627BC20}" destId="{D2462536-AD29-4FB3-8FF5-DBE80A29C1C4}" srcOrd="0" destOrd="0" presId="urn:microsoft.com/office/officeart/2018/5/layout/IconCircleLabelList"/>
    <dgm:cxn modelId="{1512F364-5ED0-4748-8840-D06709056D8F}" type="presOf" srcId="{FE81C52C-9768-490D-8A0E-90D3E48BEB31}" destId="{B6E7826E-2D83-41A3-BDCA-CBA77BA97A9F}" srcOrd="0" destOrd="0" presId="urn:microsoft.com/office/officeart/2018/5/layout/IconCircleLabelList"/>
    <dgm:cxn modelId="{D103A046-99DD-44C1-95C6-1B95EE7BD6EC}" srcId="{114B9137-6FD2-4209-BB9F-6EFCB33D0BE1}" destId="{F515C555-BC96-487F-A6AC-AD217627BC20}" srcOrd="3" destOrd="0" parTransId="{4AF7D95C-3C65-44AC-87C2-67A079151E24}" sibTransId="{91716120-0A54-4924-833B-EE73E92CBBE9}"/>
    <dgm:cxn modelId="{6B1B2C48-553C-419A-B5AA-2A4871662E21}" srcId="{114B9137-6FD2-4209-BB9F-6EFCB33D0BE1}" destId="{FE81C52C-9768-490D-8A0E-90D3E48BEB31}" srcOrd="2" destOrd="0" parTransId="{900049F3-CC0C-4FC9-AB40-8CEF2F0CDEF9}" sibTransId="{50A33E26-B4FA-47A8-9AEF-ECAED2FB96C2}"/>
    <dgm:cxn modelId="{E4C0966E-9DC6-4641-B39C-9299CD5AA3CD}" type="presOf" srcId="{C205581F-1C8A-4430-8918-185538FB0493}" destId="{2C5B3C19-539F-4162-A155-6003E9998D81}" srcOrd="0" destOrd="0" presId="urn:microsoft.com/office/officeart/2018/5/layout/IconCircleLabelList"/>
    <dgm:cxn modelId="{3CBD519A-C450-4D6A-9ED7-F3EE5C60879F}" srcId="{114B9137-6FD2-4209-BB9F-6EFCB33D0BE1}" destId="{AC478486-2AFB-4D29-B1D1-7F12AB7932FF}" srcOrd="0" destOrd="0" parTransId="{B13A303C-827E-4C24-8C9C-CF65B04014FC}" sibTransId="{08E1B9CA-3675-4A71-97C3-244CE7AE4F1F}"/>
    <dgm:cxn modelId="{2D1A9CEB-41EA-4C00-BE40-237F5B342599}" type="presOf" srcId="{114B9137-6FD2-4209-BB9F-6EFCB33D0BE1}" destId="{B25797B0-2BBC-4E87-A09F-5911E92D3C23}" srcOrd="0" destOrd="0" presId="urn:microsoft.com/office/officeart/2018/5/layout/IconCircleLabelList"/>
    <dgm:cxn modelId="{CD11001B-FAE3-45D0-ADFF-54AD1CE2DC8D}" type="presParOf" srcId="{B25797B0-2BBC-4E87-A09F-5911E92D3C23}" destId="{7F5FDE43-8527-460F-AA0D-0CB5B9A8D194}" srcOrd="0" destOrd="0" presId="urn:microsoft.com/office/officeart/2018/5/layout/IconCircleLabelList"/>
    <dgm:cxn modelId="{D1FD31EB-4D5B-4160-9CE1-6E7A864F3CFB}" type="presParOf" srcId="{7F5FDE43-8527-460F-AA0D-0CB5B9A8D194}" destId="{1DA68FE9-A433-4D51-B1A9-DC6D992ED179}" srcOrd="0" destOrd="0" presId="urn:microsoft.com/office/officeart/2018/5/layout/IconCircleLabelList"/>
    <dgm:cxn modelId="{DB05D5D6-6B43-47B6-B87A-A7BE195BBB4C}" type="presParOf" srcId="{7F5FDE43-8527-460F-AA0D-0CB5B9A8D194}" destId="{30B4EA01-4513-415D-A3AD-8FF01B6DE2F3}" srcOrd="1" destOrd="0" presId="urn:microsoft.com/office/officeart/2018/5/layout/IconCircleLabelList"/>
    <dgm:cxn modelId="{FAFE6DB5-9062-40C7-8F84-3112B0B03007}" type="presParOf" srcId="{7F5FDE43-8527-460F-AA0D-0CB5B9A8D194}" destId="{9CF3050E-3596-479D-A0A7-E43ECCB000C0}" srcOrd="2" destOrd="0" presId="urn:microsoft.com/office/officeart/2018/5/layout/IconCircleLabelList"/>
    <dgm:cxn modelId="{34C503B7-CE14-4C50-847C-A61A0858903E}" type="presParOf" srcId="{7F5FDE43-8527-460F-AA0D-0CB5B9A8D194}" destId="{78D3AB5A-6F13-4F93-8B80-BABF274EA590}" srcOrd="3" destOrd="0" presId="urn:microsoft.com/office/officeart/2018/5/layout/IconCircleLabelList"/>
    <dgm:cxn modelId="{8D67CCFE-8195-46DF-94E3-0557C695512D}" type="presParOf" srcId="{B25797B0-2BBC-4E87-A09F-5911E92D3C23}" destId="{0260854F-4A0D-4AE5-BCCD-38582745FBDF}" srcOrd="1" destOrd="0" presId="urn:microsoft.com/office/officeart/2018/5/layout/IconCircleLabelList"/>
    <dgm:cxn modelId="{0FE6293F-C264-45BE-9997-9C91C88E33F3}" type="presParOf" srcId="{B25797B0-2BBC-4E87-A09F-5911E92D3C23}" destId="{0E9BE8C3-BA52-46A5-9BE4-B122193E7F76}" srcOrd="2" destOrd="0" presId="urn:microsoft.com/office/officeart/2018/5/layout/IconCircleLabelList"/>
    <dgm:cxn modelId="{6A43E1FC-CD9F-4125-8C6C-64F778B47439}" type="presParOf" srcId="{0E9BE8C3-BA52-46A5-9BE4-B122193E7F76}" destId="{6AF81A33-5046-43F0-93E7-FD2828D8D82F}" srcOrd="0" destOrd="0" presId="urn:microsoft.com/office/officeart/2018/5/layout/IconCircleLabelList"/>
    <dgm:cxn modelId="{87DA6215-3CA1-482F-92D5-45BBA6B16EC5}" type="presParOf" srcId="{0E9BE8C3-BA52-46A5-9BE4-B122193E7F76}" destId="{1A14B5A5-BFEC-4A80-9270-499B20FAE283}" srcOrd="1" destOrd="0" presId="urn:microsoft.com/office/officeart/2018/5/layout/IconCircleLabelList"/>
    <dgm:cxn modelId="{B89185AE-6D6E-4821-BE25-6FE4862AA68D}" type="presParOf" srcId="{0E9BE8C3-BA52-46A5-9BE4-B122193E7F76}" destId="{7528E6FE-F853-434E-A6D5-9D8AF42FD7EB}" srcOrd="2" destOrd="0" presId="urn:microsoft.com/office/officeart/2018/5/layout/IconCircleLabelList"/>
    <dgm:cxn modelId="{80ECCAAB-9A4F-4185-AAC3-4C83A0E66E23}" type="presParOf" srcId="{0E9BE8C3-BA52-46A5-9BE4-B122193E7F76}" destId="{2C5B3C19-539F-4162-A155-6003E9998D81}" srcOrd="3" destOrd="0" presId="urn:microsoft.com/office/officeart/2018/5/layout/IconCircleLabelList"/>
    <dgm:cxn modelId="{4C2714CB-1197-4EF0-9E7E-39B215433082}" type="presParOf" srcId="{B25797B0-2BBC-4E87-A09F-5911E92D3C23}" destId="{2F4D93BD-BF5E-4CD8-AD07-98DE046C5443}" srcOrd="3" destOrd="0" presId="urn:microsoft.com/office/officeart/2018/5/layout/IconCircleLabelList"/>
    <dgm:cxn modelId="{ED7051C3-2F4C-4B23-9DFF-70031E88D6DB}" type="presParOf" srcId="{B25797B0-2BBC-4E87-A09F-5911E92D3C23}" destId="{85572E4D-1D3D-45E7-B78B-45ADFBDC88BA}" srcOrd="4" destOrd="0" presId="urn:microsoft.com/office/officeart/2018/5/layout/IconCircleLabelList"/>
    <dgm:cxn modelId="{0F1AEF5C-3581-489D-B40C-68100239203F}" type="presParOf" srcId="{85572E4D-1D3D-45E7-B78B-45ADFBDC88BA}" destId="{E14CD57C-BBA3-4DB8-AF9B-81FE5FBAB607}" srcOrd="0" destOrd="0" presId="urn:microsoft.com/office/officeart/2018/5/layout/IconCircleLabelList"/>
    <dgm:cxn modelId="{4D7ED323-05BB-4DA8-9C75-94952F76A423}" type="presParOf" srcId="{85572E4D-1D3D-45E7-B78B-45ADFBDC88BA}" destId="{08016648-9DC3-4A56-A8B5-427E09A8A5FB}" srcOrd="1" destOrd="0" presId="urn:microsoft.com/office/officeart/2018/5/layout/IconCircleLabelList"/>
    <dgm:cxn modelId="{C09B56C6-0E97-4DFF-B1FC-0AFEFA29F800}" type="presParOf" srcId="{85572E4D-1D3D-45E7-B78B-45ADFBDC88BA}" destId="{38B55ED7-CC82-4669-A432-6659AA1BF81A}" srcOrd="2" destOrd="0" presId="urn:microsoft.com/office/officeart/2018/5/layout/IconCircleLabelList"/>
    <dgm:cxn modelId="{E08BB156-4F74-4879-893A-8087F9D4A08C}" type="presParOf" srcId="{85572E4D-1D3D-45E7-B78B-45ADFBDC88BA}" destId="{B6E7826E-2D83-41A3-BDCA-CBA77BA97A9F}" srcOrd="3" destOrd="0" presId="urn:microsoft.com/office/officeart/2018/5/layout/IconCircleLabelList"/>
    <dgm:cxn modelId="{E8AC5422-89D7-4DF4-8E3C-451756786C21}" type="presParOf" srcId="{B25797B0-2BBC-4E87-A09F-5911E92D3C23}" destId="{96C6E431-4086-4B52-A54B-75F4E4C124DF}" srcOrd="5" destOrd="0" presId="urn:microsoft.com/office/officeart/2018/5/layout/IconCircleLabelList"/>
    <dgm:cxn modelId="{AABBCE6C-E905-4994-88E1-F496A8A9EC1F}" type="presParOf" srcId="{B25797B0-2BBC-4E87-A09F-5911E92D3C23}" destId="{2CC4A6A0-4C1A-406C-8FAB-EE64E1E3A2C8}" srcOrd="6" destOrd="0" presId="urn:microsoft.com/office/officeart/2018/5/layout/IconCircleLabelList"/>
    <dgm:cxn modelId="{7126047B-FB9A-4FB1-8C45-A7F4C77DEFA8}" type="presParOf" srcId="{2CC4A6A0-4C1A-406C-8FAB-EE64E1E3A2C8}" destId="{A02710D8-168E-419B-B00D-5AAF78A6939B}" srcOrd="0" destOrd="0" presId="urn:microsoft.com/office/officeart/2018/5/layout/IconCircleLabelList"/>
    <dgm:cxn modelId="{8AE2CD87-8511-48CD-895E-C1DE26CF77CC}" type="presParOf" srcId="{2CC4A6A0-4C1A-406C-8FAB-EE64E1E3A2C8}" destId="{55DAE6C1-A48F-425E-9A1B-F7DC5D18C58B}" srcOrd="1" destOrd="0" presId="urn:microsoft.com/office/officeart/2018/5/layout/IconCircleLabelList"/>
    <dgm:cxn modelId="{1BA5AFD7-67AE-4BE7-9CA9-742A4863018A}" type="presParOf" srcId="{2CC4A6A0-4C1A-406C-8FAB-EE64E1E3A2C8}" destId="{09FFE740-A117-4972-B489-BCEA0E4007CA}" srcOrd="2" destOrd="0" presId="urn:microsoft.com/office/officeart/2018/5/layout/IconCircleLabelList"/>
    <dgm:cxn modelId="{42786143-AB42-46F6-8756-E47FEA4BA92E}" type="presParOf" srcId="{2CC4A6A0-4C1A-406C-8FAB-EE64E1E3A2C8}" destId="{D2462536-AD29-4FB3-8FF5-DBE80A29C1C4}"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D1C40AC-D0D5-4A2F-B335-09C78E70EAEC}" type="doc">
      <dgm:prSet loTypeId="urn:microsoft.com/office/officeart/2005/8/layout/vProcess5" loCatId="process" qsTypeId="urn:microsoft.com/office/officeart/2005/8/quickstyle/simple1" qsCatId="simple" csTypeId="urn:microsoft.com/office/officeart/2005/8/colors/accent1_2" csCatId="accent1"/>
      <dgm:spPr/>
      <dgm:t>
        <a:bodyPr/>
        <a:lstStyle/>
        <a:p>
          <a:endParaRPr lang="en-US"/>
        </a:p>
      </dgm:t>
    </dgm:pt>
    <dgm:pt modelId="{42EE2BB5-2ECC-45F7-8B19-4814448C32A2}">
      <dgm:prSet/>
      <dgm:spPr/>
      <dgm:t>
        <a:bodyPr/>
        <a:lstStyle/>
        <a:p>
          <a:r>
            <a:rPr lang="en-US" b="1"/>
            <a:t>More accurate word boundary detection</a:t>
          </a:r>
          <a:br>
            <a:rPr lang="en-US"/>
          </a:br>
          <a:endParaRPr lang="en-US"/>
        </a:p>
      </dgm:t>
    </dgm:pt>
    <dgm:pt modelId="{2CC957B9-2242-4411-A723-00766A021F7E}" type="sibTrans" cxnId="{737BC705-3D3F-4071-98DE-991372DEC60B}">
      <dgm:prSet/>
      <dgm:spPr/>
      <dgm:t>
        <a:bodyPr/>
        <a:lstStyle/>
        <a:p>
          <a:endParaRPr lang="en-US"/>
        </a:p>
      </dgm:t>
    </dgm:pt>
    <dgm:pt modelId="{8A5BB41B-900A-43C8-B33B-C2715B6643E0}" type="parTrans" cxnId="{737BC705-3D3F-4071-98DE-991372DEC60B}">
      <dgm:prSet/>
      <dgm:spPr/>
      <dgm:t>
        <a:bodyPr/>
        <a:lstStyle/>
        <a:p>
          <a:endParaRPr lang="en-US"/>
        </a:p>
      </dgm:t>
    </dgm:pt>
    <dgm:pt modelId="{3063871F-6F4D-4BE0-901A-99EF510B5543}">
      <dgm:prSet/>
      <dgm:spPr/>
      <dgm:t>
        <a:bodyPr/>
        <a:lstStyle/>
        <a:p>
          <a:r>
            <a:rPr lang="en-US" b="1"/>
            <a:t>Improved sentence reconstruction</a:t>
          </a:r>
          <a:br>
            <a:rPr lang="en-US"/>
          </a:br>
          <a:endParaRPr lang="en-US"/>
        </a:p>
      </dgm:t>
    </dgm:pt>
    <dgm:pt modelId="{CEEB6913-B0D2-4E92-9965-E8EB3490AC9A}" type="sibTrans" cxnId="{0A9E3765-3D5B-4A79-A66D-A28F843380AE}">
      <dgm:prSet/>
      <dgm:spPr/>
      <dgm:t>
        <a:bodyPr/>
        <a:lstStyle/>
        <a:p>
          <a:endParaRPr lang="en-US"/>
        </a:p>
      </dgm:t>
    </dgm:pt>
    <dgm:pt modelId="{9F3780D8-7AD0-40A5-BF50-D4B13336C521}" type="parTrans" cxnId="{0A9E3765-3D5B-4A79-A66D-A28F843380AE}">
      <dgm:prSet/>
      <dgm:spPr/>
      <dgm:t>
        <a:bodyPr/>
        <a:lstStyle/>
        <a:p>
          <a:endParaRPr lang="en-US"/>
        </a:p>
      </dgm:t>
    </dgm:pt>
    <dgm:pt modelId="{D0D33C7A-EEE9-45E6-B1D3-6A78AB97A0A5}">
      <dgm:prSet/>
      <dgm:spPr/>
      <dgm:t>
        <a:bodyPr/>
        <a:lstStyle/>
        <a:p>
          <a:r>
            <a:rPr lang="en-US" b="1"/>
            <a:t>Adapts to different speaking speeds</a:t>
          </a:r>
          <a:br>
            <a:rPr lang="en-US"/>
          </a:br>
          <a:endParaRPr lang="en-US"/>
        </a:p>
      </dgm:t>
    </dgm:pt>
    <dgm:pt modelId="{C0E1BD84-42D2-4703-86EC-C014B9134B51}" type="sibTrans" cxnId="{7B1E79AD-7283-4319-A7A2-E8DCE881A24A}">
      <dgm:prSet/>
      <dgm:spPr/>
      <dgm:t>
        <a:bodyPr/>
        <a:lstStyle/>
        <a:p>
          <a:endParaRPr lang="en-US"/>
        </a:p>
      </dgm:t>
    </dgm:pt>
    <dgm:pt modelId="{D43EAD07-DD68-4826-B309-5841993696C1}" type="parTrans" cxnId="{7B1E79AD-7283-4319-A7A2-E8DCE881A24A}">
      <dgm:prSet/>
      <dgm:spPr/>
      <dgm:t>
        <a:bodyPr/>
        <a:lstStyle/>
        <a:p>
          <a:endParaRPr lang="en-US"/>
        </a:p>
      </dgm:t>
    </dgm:pt>
    <dgm:pt modelId="{BB7E4521-ABB1-42A5-9E16-B72FCBC38933}">
      <dgm:prSet/>
      <dgm:spPr/>
      <dgm:t>
        <a:bodyPr/>
        <a:lstStyle/>
        <a:p>
          <a:r>
            <a:rPr lang="en-US" b="1"/>
            <a:t>Enhances real-world performance</a:t>
          </a:r>
          <a:endParaRPr lang="en-US"/>
        </a:p>
      </dgm:t>
    </dgm:pt>
    <dgm:pt modelId="{8F86615C-E4F5-4B16-A092-8B5C2460D56A}" type="sibTrans" cxnId="{6D31C55B-DECE-4C37-8A77-DC8E128A75A8}">
      <dgm:prSet/>
      <dgm:spPr/>
      <dgm:t>
        <a:bodyPr/>
        <a:lstStyle/>
        <a:p>
          <a:endParaRPr lang="en-US"/>
        </a:p>
      </dgm:t>
    </dgm:pt>
    <dgm:pt modelId="{E7D8B06E-2D23-4284-9427-B91D8C847D9E}" type="parTrans" cxnId="{6D31C55B-DECE-4C37-8A77-DC8E128A75A8}">
      <dgm:prSet/>
      <dgm:spPr/>
      <dgm:t>
        <a:bodyPr/>
        <a:lstStyle/>
        <a:p>
          <a:endParaRPr lang="en-US"/>
        </a:p>
      </dgm:t>
    </dgm:pt>
    <dgm:pt modelId="{2CCE02DE-B303-425E-8B16-8F23029DA4CC}" type="pres">
      <dgm:prSet presAssocID="{3D1C40AC-D0D5-4A2F-B335-09C78E70EAEC}" presName="outerComposite" presStyleCnt="0">
        <dgm:presLayoutVars>
          <dgm:chMax val="5"/>
          <dgm:dir/>
          <dgm:resizeHandles val="exact"/>
        </dgm:presLayoutVars>
      </dgm:prSet>
      <dgm:spPr/>
    </dgm:pt>
    <dgm:pt modelId="{017CE259-5E67-4859-95FF-93D4B553AE1C}" type="pres">
      <dgm:prSet presAssocID="{3D1C40AC-D0D5-4A2F-B335-09C78E70EAEC}" presName="dummyMaxCanvas" presStyleCnt="0">
        <dgm:presLayoutVars/>
      </dgm:prSet>
      <dgm:spPr/>
    </dgm:pt>
    <dgm:pt modelId="{B3490B38-8090-49BA-B73A-184390D2E5E8}" type="pres">
      <dgm:prSet presAssocID="{3D1C40AC-D0D5-4A2F-B335-09C78E70EAEC}" presName="FourNodes_1" presStyleLbl="node1" presStyleIdx="0" presStyleCnt="4">
        <dgm:presLayoutVars>
          <dgm:bulletEnabled val="1"/>
        </dgm:presLayoutVars>
      </dgm:prSet>
      <dgm:spPr/>
    </dgm:pt>
    <dgm:pt modelId="{65B23CB3-630E-4264-8157-DC460BA222BA}" type="pres">
      <dgm:prSet presAssocID="{3D1C40AC-D0D5-4A2F-B335-09C78E70EAEC}" presName="FourNodes_2" presStyleLbl="node1" presStyleIdx="1" presStyleCnt="4">
        <dgm:presLayoutVars>
          <dgm:bulletEnabled val="1"/>
        </dgm:presLayoutVars>
      </dgm:prSet>
      <dgm:spPr/>
    </dgm:pt>
    <dgm:pt modelId="{9423DE50-67F2-4E99-9A8B-051CC8DDEBED}" type="pres">
      <dgm:prSet presAssocID="{3D1C40AC-D0D5-4A2F-B335-09C78E70EAEC}" presName="FourNodes_3" presStyleLbl="node1" presStyleIdx="2" presStyleCnt="4">
        <dgm:presLayoutVars>
          <dgm:bulletEnabled val="1"/>
        </dgm:presLayoutVars>
      </dgm:prSet>
      <dgm:spPr/>
    </dgm:pt>
    <dgm:pt modelId="{3CC049FB-09C0-41C3-A35F-9EF575BE0746}" type="pres">
      <dgm:prSet presAssocID="{3D1C40AC-D0D5-4A2F-B335-09C78E70EAEC}" presName="FourNodes_4" presStyleLbl="node1" presStyleIdx="3" presStyleCnt="4">
        <dgm:presLayoutVars>
          <dgm:bulletEnabled val="1"/>
        </dgm:presLayoutVars>
      </dgm:prSet>
      <dgm:spPr/>
    </dgm:pt>
    <dgm:pt modelId="{560F8A1C-1AFE-41EE-8A6C-B43E68FDE795}" type="pres">
      <dgm:prSet presAssocID="{3D1C40AC-D0D5-4A2F-B335-09C78E70EAEC}" presName="FourConn_1-2" presStyleLbl="fgAccFollowNode1" presStyleIdx="0" presStyleCnt="3">
        <dgm:presLayoutVars>
          <dgm:bulletEnabled val="1"/>
        </dgm:presLayoutVars>
      </dgm:prSet>
      <dgm:spPr/>
    </dgm:pt>
    <dgm:pt modelId="{B9F5C863-5419-4069-BE7C-5D8AA7091BA0}" type="pres">
      <dgm:prSet presAssocID="{3D1C40AC-D0D5-4A2F-B335-09C78E70EAEC}" presName="FourConn_2-3" presStyleLbl="fgAccFollowNode1" presStyleIdx="1" presStyleCnt="3">
        <dgm:presLayoutVars>
          <dgm:bulletEnabled val="1"/>
        </dgm:presLayoutVars>
      </dgm:prSet>
      <dgm:spPr/>
    </dgm:pt>
    <dgm:pt modelId="{127669DA-24A9-4191-B071-928AAE9DF1F9}" type="pres">
      <dgm:prSet presAssocID="{3D1C40AC-D0D5-4A2F-B335-09C78E70EAEC}" presName="FourConn_3-4" presStyleLbl="fgAccFollowNode1" presStyleIdx="2" presStyleCnt="3">
        <dgm:presLayoutVars>
          <dgm:bulletEnabled val="1"/>
        </dgm:presLayoutVars>
      </dgm:prSet>
      <dgm:spPr/>
    </dgm:pt>
    <dgm:pt modelId="{C6E1AD6E-3CC6-49FF-BD2A-54F7163C104E}" type="pres">
      <dgm:prSet presAssocID="{3D1C40AC-D0D5-4A2F-B335-09C78E70EAEC}" presName="FourNodes_1_text" presStyleLbl="node1" presStyleIdx="3" presStyleCnt="4">
        <dgm:presLayoutVars>
          <dgm:bulletEnabled val="1"/>
        </dgm:presLayoutVars>
      </dgm:prSet>
      <dgm:spPr/>
    </dgm:pt>
    <dgm:pt modelId="{7EB8A69D-6D10-4D5F-9C5D-48899BF1633A}" type="pres">
      <dgm:prSet presAssocID="{3D1C40AC-D0D5-4A2F-B335-09C78E70EAEC}" presName="FourNodes_2_text" presStyleLbl="node1" presStyleIdx="3" presStyleCnt="4">
        <dgm:presLayoutVars>
          <dgm:bulletEnabled val="1"/>
        </dgm:presLayoutVars>
      </dgm:prSet>
      <dgm:spPr/>
    </dgm:pt>
    <dgm:pt modelId="{741D1522-EBCF-47F5-A31D-564A83D73CB8}" type="pres">
      <dgm:prSet presAssocID="{3D1C40AC-D0D5-4A2F-B335-09C78E70EAEC}" presName="FourNodes_3_text" presStyleLbl="node1" presStyleIdx="3" presStyleCnt="4">
        <dgm:presLayoutVars>
          <dgm:bulletEnabled val="1"/>
        </dgm:presLayoutVars>
      </dgm:prSet>
      <dgm:spPr/>
    </dgm:pt>
    <dgm:pt modelId="{A0DC92BD-F5B1-493B-9198-09D392901565}" type="pres">
      <dgm:prSet presAssocID="{3D1C40AC-D0D5-4A2F-B335-09C78E70EAEC}" presName="FourNodes_4_text" presStyleLbl="node1" presStyleIdx="3" presStyleCnt="4">
        <dgm:presLayoutVars>
          <dgm:bulletEnabled val="1"/>
        </dgm:presLayoutVars>
      </dgm:prSet>
      <dgm:spPr/>
    </dgm:pt>
  </dgm:ptLst>
  <dgm:cxnLst>
    <dgm:cxn modelId="{737BC705-3D3F-4071-98DE-991372DEC60B}" srcId="{3D1C40AC-D0D5-4A2F-B335-09C78E70EAEC}" destId="{42EE2BB5-2ECC-45F7-8B19-4814448C32A2}" srcOrd="0" destOrd="0" parTransId="{8A5BB41B-900A-43C8-B33B-C2715B6643E0}" sibTransId="{2CC957B9-2242-4411-A723-00766A021F7E}"/>
    <dgm:cxn modelId="{FD9B4C09-EB42-4FD6-A12C-96DD3AB89E0A}" type="presOf" srcId="{3063871F-6F4D-4BE0-901A-99EF510B5543}" destId="{65B23CB3-630E-4264-8157-DC460BA222BA}" srcOrd="0" destOrd="0" presId="urn:microsoft.com/office/officeart/2005/8/layout/vProcess5"/>
    <dgm:cxn modelId="{7EBBE71F-54F7-41D0-BD36-66B68293383B}" type="presOf" srcId="{BB7E4521-ABB1-42A5-9E16-B72FCBC38933}" destId="{A0DC92BD-F5B1-493B-9198-09D392901565}" srcOrd="1" destOrd="0" presId="urn:microsoft.com/office/officeart/2005/8/layout/vProcess5"/>
    <dgm:cxn modelId="{D8083423-43BA-4224-A6E4-FA133E348F47}" type="presOf" srcId="{BB7E4521-ABB1-42A5-9E16-B72FCBC38933}" destId="{3CC049FB-09C0-41C3-A35F-9EF575BE0746}" srcOrd="0" destOrd="0" presId="urn:microsoft.com/office/officeart/2005/8/layout/vProcess5"/>
    <dgm:cxn modelId="{F6A89323-F867-4670-9F1B-D1D4C05F7566}" type="presOf" srcId="{3063871F-6F4D-4BE0-901A-99EF510B5543}" destId="{7EB8A69D-6D10-4D5F-9C5D-48899BF1633A}" srcOrd="1" destOrd="0" presId="urn:microsoft.com/office/officeart/2005/8/layout/vProcess5"/>
    <dgm:cxn modelId="{6D31C55B-DECE-4C37-8A77-DC8E128A75A8}" srcId="{3D1C40AC-D0D5-4A2F-B335-09C78E70EAEC}" destId="{BB7E4521-ABB1-42A5-9E16-B72FCBC38933}" srcOrd="3" destOrd="0" parTransId="{E7D8B06E-2D23-4284-9427-B91D8C847D9E}" sibTransId="{8F86615C-E4F5-4B16-A092-8B5C2460D56A}"/>
    <dgm:cxn modelId="{0A9E3765-3D5B-4A79-A66D-A28F843380AE}" srcId="{3D1C40AC-D0D5-4A2F-B335-09C78E70EAEC}" destId="{3063871F-6F4D-4BE0-901A-99EF510B5543}" srcOrd="1" destOrd="0" parTransId="{9F3780D8-7AD0-40A5-BF50-D4B13336C521}" sibTransId="{CEEB6913-B0D2-4E92-9965-E8EB3490AC9A}"/>
    <dgm:cxn modelId="{2DB18E50-4EE6-4635-A75E-B3EF4E413166}" type="presOf" srcId="{CEEB6913-B0D2-4E92-9965-E8EB3490AC9A}" destId="{B9F5C863-5419-4069-BE7C-5D8AA7091BA0}" srcOrd="0" destOrd="0" presId="urn:microsoft.com/office/officeart/2005/8/layout/vProcess5"/>
    <dgm:cxn modelId="{ECC7E270-3EC3-44B8-9900-0303FE7826C5}" type="presOf" srcId="{D0D33C7A-EEE9-45E6-B1D3-6A78AB97A0A5}" destId="{741D1522-EBCF-47F5-A31D-564A83D73CB8}" srcOrd="1" destOrd="0" presId="urn:microsoft.com/office/officeart/2005/8/layout/vProcess5"/>
    <dgm:cxn modelId="{1FA1C971-853C-45B3-AFE2-5D85AF17A973}" type="presOf" srcId="{D0D33C7A-EEE9-45E6-B1D3-6A78AB97A0A5}" destId="{9423DE50-67F2-4E99-9A8B-051CC8DDEBED}" srcOrd="0" destOrd="0" presId="urn:microsoft.com/office/officeart/2005/8/layout/vProcess5"/>
    <dgm:cxn modelId="{13BAE75A-2386-415D-BD8A-AD5AF7B28DF1}" type="presOf" srcId="{42EE2BB5-2ECC-45F7-8B19-4814448C32A2}" destId="{C6E1AD6E-3CC6-49FF-BD2A-54F7163C104E}" srcOrd="1" destOrd="0" presId="urn:microsoft.com/office/officeart/2005/8/layout/vProcess5"/>
    <dgm:cxn modelId="{620BC999-90B7-48D7-A29F-327D168332EF}" type="presOf" srcId="{42EE2BB5-2ECC-45F7-8B19-4814448C32A2}" destId="{B3490B38-8090-49BA-B73A-184390D2E5E8}" srcOrd="0" destOrd="0" presId="urn:microsoft.com/office/officeart/2005/8/layout/vProcess5"/>
    <dgm:cxn modelId="{7B1E79AD-7283-4319-A7A2-E8DCE881A24A}" srcId="{3D1C40AC-D0D5-4A2F-B335-09C78E70EAEC}" destId="{D0D33C7A-EEE9-45E6-B1D3-6A78AB97A0A5}" srcOrd="2" destOrd="0" parTransId="{D43EAD07-DD68-4826-B309-5841993696C1}" sibTransId="{C0E1BD84-42D2-4703-86EC-C014B9134B51}"/>
    <dgm:cxn modelId="{A2142DB5-3316-4F68-9062-AF54B9053AD7}" type="presOf" srcId="{3D1C40AC-D0D5-4A2F-B335-09C78E70EAEC}" destId="{2CCE02DE-B303-425E-8B16-8F23029DA4CC}" srcOrd="0" destOrd="0" presId="urn:microsoft.com/office/officeart/2005/8/layout/vProcess5"/>
    <dgm:cxn modelId="{51601ABC-F322-4EAA-98C7-CD1AA495DFEA}" type="presOf" srcId="{C0E1BD84-42D2-4703-86EC-C014B9134B51}" destId="{127669DA-24A9-4191-B071-928AAE9DF1F9}" srcOrd="0" destOrd="0" presId="urn:microsoft.com/office/officeart/2005/8/layout/vProcess5"/>
    <dgm:cxn modelId="{D0BF84E3-7FED-4FCC-9845-ADA578DCBC75}" type="presOf" srcId="{2CC957B9-2242-4411-A723-00766A021F7E}" destId="{560F8A1C-1AFE-41EE-8A6C-B43E68FDE795}" srcOrd="0" destOrd="0" presId="urn:microsoft.com/office/officeart/2005/8/layout/vProcess5"/>
    <dgm:cxn modelId="{290CDDBF-4780-4F36-91C9-F799193F106B}" type="presParOf" srcId="{2CCE02DE-B303-425E-8B16-8F23029DA4CC}" destId="{017CE259-5E67-4859-95FF-93D4B553AE1C}" srcOrd="0" destOrd="0" presId="urn:microsoft.com/office/officeart/2005/8/layout/vProcess5"/>
    <dgm:cxn modelId="{D250AB5E-F8BD-494F-B2BE-2F98F13685D3}" type="presParOf" srcId="{2CCE02DE-B303-425E-8B16-8F23029DA4CC}" destId="{B3490B38-8090-49BA-B73A-184390D2E5E8}" srcOrd="1" destOrd="0" presId="urn:microsoft.com/office/officeart/2005/8/layout/vProcess5"/>
    <dgm:cxn modelId="{086DC622-25C6-48D4-9406-99505097B816}" type="presParOf" srcId="{2CCE02DE-B303-425E-8B16-8F23029DA4CC}" destId="{65B23CB3-630E-4264-8157-DC460BA222BA}" srcOrd="2" destOrd="0" presId="urn:microsoft.com/office/officeart/2005/8/layout/vProcess5"/>
    <dgm:cxn modelId="{3571C711-635B-4C37-934E-A34A51566373}" type="presParOf" srcId="{2CCE02DE-B303-425E-8B16-8F23029DA4CC}" destId="{9423DE50-67F2-4E99-9A8B-051CC8DDEBED}" srcOrd="3" destOrd="0" presId="urn:microsoft.com/office/officeart/2005/8/layout/vProcess5"/>
    <dgm:cxn modelId="{4E1779EA-8975-45F9-9CB7-B85D50B66E65}" type="presParOf" srcId="{2CCE02DE-B303-425E-8B16-8F23029DA4CC}" destId="{3CC049FB-09C0-41C3-A35F-9EF575BE0746}" srcOrd="4" destOrd="0" presId="urn:microsoft.com/office/officeart/2005/8/layout/vProcess5"/>
    <dgm:cxn modelId="{F9ED262D-AAB5-4968-8862-CF8CDFFE8E95}" type="presParOf" srcId="{2CCE02DE-B303-425E-8B16-8F23029DA4CC}" destId="{560F8A1C-1AFE-41EE-8A6C-B43E68FDE795}" srcOrd="5" destOrd="0" presId="urn:microsoft.com/office/officeart/2005/8/layout/vProcess5"/>
    <dgm:cxn modelId="{B088C43C-2F97-4F61-BCCC-3D4EEC14C1BD}" type="presParOf" srcId="{2CCE02DE-B303-425E-8B16-8F23029DA4CC}" destId="{B9F5C863-5419-4069-BE7C-5D8AA7091BA0}" srcOrd="6" destOrd="0" presId="urn:microsoft.com/office/officeart/2005/8/layout/vProcess5"/>
    <dgm:cxn modelId="{63FD6DA7-97FC-47AE-AC6D-EEF1B633BE3F}" type="presParOf" srcId="{2CCE02DE-B303-425E-8B16-8F23029DA4CC}" destId="{127669DA-24A9-4191-B071-928AAE9DF1F9}" srcOrd="7" destOrd="0" presId="urn:microsoft.com/office/officeart/2005/8/layout/vProcess5"/>
    <dgm:cxn modelId="{663DDF9D-8C0E-4725-B08D-5BDA40B78DC5}" type="presParOf" srcId="{2CCE02DE-B303-425E-8B16-8F23029DA4CC}" destId="{C6E1AD6E-3CC6-49FF-BD2A-54F7163C104E}" srcOrd="8" destOrd="0" presId="urn:microsoft.com/office/officeart/2005/8/layout/vProcess5"/>
    <dgm:cxn modelId="{3CA6FE4B-774A-45AB-94CE-077C5E964DAB}" type="presParOf" srcId="{2CCE02DE-B303-425E-8B16-8F23029DA4CC}" destId="{7EB8A69D-6D10-4D5F-9C5D-48899BF1633A}" srcOrd="9" destOrd="0" presId="urn:microsoft.com/office/officeart/2005/8/layout/vProcess5"/>
    <dgm:cxn modelId="{7800669E-4530-414D-906B-3024B5DA47E0}" type="presParOf" srcId="{2CCE02DE-B303-425E-8B16-8F23029DA4CC}" destId="{741D1522-EBCF-47F5-A31D-564A83D73CB8}" srcOrd="10" destOrd="0" presId="urn:microsoft.com/office/officeart/2005/8/layout/vProcess5"/>
    <dgm:cxn modelId="{6C757B79-F1D1-4363-BAD1-C04930AE7889}" type="presParOf" srcId="{2CCE02DE-B303-425E-8B16-8F23029DA4CC}" destId="{A0DC92BD-F5B1-493B-9198-09D392901565}" srcOrd="11"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BE93B59-1E19-4A2E-B8C3-CDA2171BCC38}">
      <dsp:nvSpPr>
        <dsp:cNvPr id="0" name=""/>
        <dsp:cNvSpPr/>
      </dsp:nvSpPr>
      <dsp:spPr>
        <a:xfrm>
          <a:off x="103372" y="396342"/>
          <a:ext cx="1279676" cy="127967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34CD5CB-EDDB-449D-9A6F-C853F05952CB}">
      <dsp:nvSpPr>
        <dsp:cNvPr id="0" name=""/>
        <dsp:cNvSpPr/>
      </dsp:nvSpPr>
      <dsp:spPr>
        <a:xfrm>
          <a:off x="372104" y="665074"/>
          <a:ext cx="742212" cy="74221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8FCFACD-994E-479D-8F0D-D85DBF636AB0}">
      <dsp:nvSpPr>
        <dsp:cNvPr id="0" name=""/>
        <dsp:cNvSpPr/>
      </dsp:nvSpPr>
      <dsp:spPr>
        <a:xfrm>
          <a:off x="1657265" y="396342"/>
          <a:ext cx="3016379" cy="12796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100000"/>
            </a:lnSpc>
            <a:spcBef>
              <a:spcPct val="0"/>
            </a:spcBef>
            <a:spcAft>
              <a:spcPct val="35000"/>
            </a:spcAft>
            <a:buNone/>
          </a:pPr>
          <a:r>
            <a:rPr lang="en-US" sz="2000" kern="1200"/>
            <a:t>VisoSpeak is a deep learning tool that helps with lip reading using only visuals.</a:t>
          </a:r>
        </a:p>
      </dsp:txBody>
      <dsp:txXfrm>
        <a:off x="1657265" y="396342"/>
        <a:ext cx="3016379" cy="1279676"/>
      </dsp:txXfrm>
    </dsp:sp>
    <dsp:sp modelId="{96776F93-7154-4582-8A01-224C6E90C3D2}">
      <dsp:nvSpPr>
        <dsp:cNvPr id="0" name=""/>
        <dsp:cNvSpPr/>
      </dsp:nvSpPr>
      <dsp:spPr>
        <a:xfrm>
          <a:off x="5199226" y="396342"/>
          <a:ext cx="1279676" cy="127967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D728BF4-647D-457A-8608-CF60F50CE20F}">
      <dsp:nvSpPr>
        <dsp:cNvPr id="0" name=""/>
        <dsp:cNvSpPr/>
      </dsp:nvSpPr>
      <dsp:spPr>
        <a:xfrm>
          <a:off x="5467958" y="665074"/>
          <a:ext cx="742212" cy="74221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00B7614-EC9E-4902-BEFC-666BE1217BFD}">
      <dsp:nvSpPr>
        <dsp:cNvPr id="0" name=""/>
        <dsp:cNvSpPr/>
      </dsp:nvSpPr>
      <dsp:spPr>
        <a:xfrm>
          <a:off x="6753118" y="396342"/>
          <a:ext cx="3016379" cy="12796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100000"/>
            </a:lnSpc>
            <a:spcBef>
              <a:spcPct val="0"/>
            </a:spcBef>
            <a:spcAft>
              <a:spcPct val="35000"/>
            </a:spcAft>
            <a:buNone/>
          </a:pPr>
          <a:r>
            <a:rPr lang="en-US" sz="2000" kern="1200"/>
            <a:t>Regular speech recognition doesn't work well in noisy places or when there's no sound. </a:t>
          </a:r>
        </a:p>
      </dsp:txBody>
      <dsp:txXfrm>
        <a:off x="6753118" y="396342"/>
        <a:ext cx="3016379" cy="1279676"/>
      </dsp:txXfrm>
    </dsp:sp>
    <dsp:sp modelId="{61D457D7-A4D1-49CA-9C07-36BB8C87D946}">
      <dsp:nvSpPr>
        <dsp:cNvPr id="0" name=""/>
        <dsp:cNvSpPr/>
      </dsp:nvSpPr>
      <dsp:spPr>
        <a:xfrm>
          <a:off x="103372" y="2362581"/>
          <a:ext cx="1279676" cy="127967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1F4951D-DF37-4160-9E95-8B8D1D5BDE6E}">
      <dsp:nvSpPr>
        <dsp:cNvPr id="0" name=""/>
        <dsp:cNvSpPr/>
      </dsp:nvSpPr>
      <dsp:spPr>
        <a:xfrm>
          <a:off x="372104" y="2631313"/>
          <a:ext cx="742212" cy="74221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1A01391-41C5-43E0-A705-93EE4EB63ACB}">
      <dsp:nvSpPr>
        <dsp:cNvPr id="0" name=""/>
        <dsp:cNvSpPr/>
      </dsp:nvSpPr>
      <dsp:spPr>
        <a:xfrm>
          <a:off x="1657265" y="2362581"/>
          <a:ext cx="3016379" cy="12796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100000"/>
            </a:lnSpc>
            <a:spcBef>
              <a:spcPct val="0"/>
            </a:spcBef>
            <a:spcAft>
              <a:spcPct val="35000"/>
            </a:spcAft>
            <a:buNone/>
          </a:pPr>
          <a:r>
            <a:rPr lang="en-US" sz="2000" kern="1200"/>
            <a:t>many models are tied to specific languages.</a:t>
          </a:r>
        </a:p>
      </dsp:txBody>
      <dsp:txXfrm>
        <a:off x="1657265" y="2362581"/>
        <a:ext cx="3016379" cy="1279676"/>
      </dsp:txXfrm>
    </dsp:sp>
    <dsp:sp modelId="{C0970E24-C867-4964-8A47-8880D4D3858B}">
      <dsp:nvSpPr>
        <dsp:cNvPr id="0" name=""/>
        <dsp:cNvSpPr/>
      </dsp:nvSpPr>
      <dsp:spPr>
        <a:xfrm>
          <a:off x="5199226" y="2362581"/>
          <a:ext cx="1279676" cy="127967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B32F7E4-59E4-47B6-BE6B-0403BF1D3914}">
      <dsp:nvSpPr>
        <dsp:cNvPr id="0" name=""/>
        <dsp:cNvSpPr/>
      </dsp:nvSpPr>
      <dsp:spPr>
        <a:xfrm>
          <a:off x="5467958" y="2631313"/>
          <a:ext cx="742212" cy="742212"/>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1B8344C-934F-4144-B2F6-C0E84314BAE5}">
      <dsp:nvSpPr>
        <dsp:cNvPr id="0" name=""/>
        <dsp:cNvSpPr/>
      </dsp:nvSpPr>
      <dsp:spPr>
        <a:xfrm>
          <a:off x="6753118" y="2362581"/>
          <a:ext cx="3016379" cy="12796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100000"/>
            </a:lnSpc>
            <a:spcBef>
              <a:spcPct val="0"/>
            </a:spcBef>
            <a:spcAft>
              <a:spcPct val="35000"/>
            </a:spcAft>
            <a:buNone/>
          </a:pPr>
          <a:r>
            <a:rPr lang="en-US" sz="2000" kern="1200"/>
            <a:t>VisoSpeak fixes these issues by focusing only on lip movements, making it more private and accessible.</a:t>
          </a:r>
        </a:p>
      </dsp:txBody>
      <dsp:txXfrm>
        <a:off x="6753118" y="2362581"/>
        <a:ext cx="3016379" cy="127967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F905020-1EC3-48EE-B03D-7661730DD1BA}">
      <dsp:nvSpPr>
        <dsp:cNvPr id="0" name=""/>
        <dsp:cNvSpPr/>
      </dsp:nvSpPr>
      <dsp:spPr>
        <a:xfrm>
          <a:off x="0" y="492"/>
          <a:ext cx="9872871" cy="1153604"/>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FADAFA3-BD97-4F8A-8428-24170514C08F}">
      <dsp:nvSpPr>
        <dsp:cNvPr id="0" name=""/>
        <dsp:cNvSpPr/>
      </dsp:nvSpPr>
      <dsp:spPr>
        <a:xfrm>
          <a:off x="348965" y="260053"/>
          <a:ext cx="634482" cy="63448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AC02DE5-81CD-4F30-AEAC-852753A91924}">
      <dsp:nvSpPr>
        <dsp:cNvPr id="0" name=""/>
        <dsp:cNvSpPr/>
      </dsp:nvSpPr>
      <dsp:spPr>
        <a:xfrm>
          <a:off x="1332412" y="492"/>
          <a:ext cx="8540458" cy="11536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090" tIns="122090" rIns="122090" bIns="122090" numCol="1" spcCol="1270" anchor="ctr" anchorCtr="0">
          <a:noAutofit/>
        </a:bodyPr>
        <a:lstStyle/>
        <a:p>
          <a:pPr marL="0" lvl="0" indent="0" algn="l" defTabSz="1111250">
            <a:lnSpc>
              <a:spcPct val="100000"/>
            </a:lnSpc>
            <a:spcBef>
              <a:spcPct val="0"/>
            </a:spcBef>
            <a:spcAft>
              <a:spcPct val="35000"/>
            </a:spcAft>
            <a:buNone/>
          </a:pPr>
          <a:r>
            <a:rPr lang="en-US" sz="2500" kern="1200"/>
            <a:t>LipNet (2016) - Works end-to-end but struggles with accuracy.</a:t>
          </a:r>
        </a:p>
      </dsp:txBody>
      <dsp:txXfrm>
        <a:off x="1332412" y="492"/>
        <a:ext cx="8540458" cy="1153604"/>
      </dsp:txXfrm>
    </dsp:sp>
    <dsp:sp modelId="{214FB925-2B20-427B-B130-847F414BF0D1}">
      <dsp:nvSpPr>
        <dsp:cNvPr id="0" name=""/>
        <dsp:cNvSpPr/>
      </dsp:nvSpPr>
      <dsp:spPr>
        <a:xfrm>
          <a:off x="0" y="1442497"/>
          <a:ext cx="9872871" cy="1153604"/>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7AC21A5-B37D-4EE4-BEAA-20D674FB165F}">
      <dsp:nvSpPr>
        <dsp:cNvPr id="0" name=""/>
        <dsp:cNvSpPr/>
      </dsp:nvSpPr>
      <dsp:spPr>
        <a:xfrm>
          <a:off x="348965" y="1702058"/>
          <a:ext cx="634482" cy="63448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97EAB1E-E281-42E4-BB6F-D5692DE32618}">
      <dsp:nvSpPr>
        <dsp:cNvPr id="0" name=""/>
        <dsp:cNvSpPr/>
      </dsp:nvSpPr>
      <dsp:spPr>
        <a:xfrm>
          <a:off x="1332412" y="1442497"/>
          <a:ext cx="8540458" cy="11536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090" tIns="122090" rIns="122090" bIns="122090" numCol="1" spcCol="1270" anchor="ctr" anchorCtr="0">
          <a:noAutofit/>
        </a:bodyPr>
        <a:lstStyle/>
        <a:p>
          <a:pPr marL="0" lvl="0" indent="0" algn="l" defTabSz="1111250">
            <a:lnSpc>
              <a:spcPct val="100000"/>
            </a:lnSpc>
            <a:spcBef>
              <a:spcPct val="0"/>
            </a:spcBef>
            <a:spcAft>
              <a:spcPct val="35000"/>
            </a:spcAft>
            <a:buNone/>
          </a:pPr>
          <a:r>
            <a:rPr lang="en-US" sz="2500" kern="1200"/>
            <a:t>Lip Reading Sentences in the Wild (2017) - Uses both audio and video.</a:t>
          </a:r>
        </a:p>
      </dsp:txBody>
      <dsp:txXfrm>
        <a:off x="1332412" y="1442497"/>
        <a:ext cx="8540458" cy="1153604"/>
      </dsp:txXfrm>
    </dsp:sp>
    <dsp:sp modelId="{A653C0B6-BC6D-4030-A04C-EFBD1CF64F14}">
      <dsp:nvSpPr>
        <dsp:cNvPr id="0" name=""/>
        <dsp:cNvSpPr/>
      </dsp:nvSpPr>
      <dsp:spPr>
        <a:xfrm>
          <a:off x="0" y="2884503"/>
          <a:ext cx="9872871" cy="1153604"/>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132AAF7-1897-4894-882D-4C08D07D679B}">
      <dsp:nvSpPr>
        <dsp:cNvPr id="0" name=""/>
        <dsp:cNvSpPr/>
      </dsp:nvSpPr>
      <dsp:spPr>
        <a:xfrm>
          <a:off x="348965" y="3144063"/>
          <a:ext cx="634482" cy="63448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C32DD48-6E7E-4BDC-A9BE-CAE0AAB37749}">
      <dsp:nvSpPr>
        <dsp:cNvPr id="0" name=""/>
        <dsp:cNvSpPr/>
      </dsp:nvSpPr>
      <dsp:spPr>
        <a:xfrm>
          <a:off x="1332412" y="2884503"/>
          <a:ext cx="8540458" cy="11536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090" tIns="122090" rIns="122090" bIns="122090" numCol="1" spcCol="1270" anchor="ctr" anchorCtr="0">
          <a:noAutofit/>
        </a:bodyPr>
        <a:lstStyle/>
        <a:p>
          <a:pPr marL="0" lvl="0" indent="0" algn="l" defTabSz="1111250">
            <a:lnSpc>
              <a:spcPct val="100000"/>
            </a:lnSpc>
            <a:spcBef>
              <a:spcPct val="0"/>
            </a:spcBef>
            <a:spcAft>
              <a:spcPct val="35000"/>
            </a:spcAft>
            <a:buNone/>
          </a:pPr>
          <a:r>
            <a:rPr lang="en-US" sz="2500" kern="1200"/>
            <a:t>Lip Reading Sentences Using Deep Learning (2020) - Focuses on visual cues but uses fixed timestamps.</a:t>
          </a:r>
        </a:p>
      </dsp:txBody>
      <dsp:txXfrm>
        <a:off x="1332412" y="2884503"/>
        <a:ext cx="8540458" cy="115360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A68FE9-A433-4D51-B1A9-DC6D992ED179}">
      <dsp:nvSpPr>
        <dsp:cNvPr id="0" name=""/>
        <dsp:cNvSpPr/>
      </dsp:nvSpPr>
      <dsp:spPr>
        <a:xfrm>
          <a:off x="693352" y="838389"/>
          <a:ext cx="1251889" cy="1251889"/>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0B4EA01-4513-415D-A3AD-8FF01B6DE2F3}">
      <dsp:nvSpPr>
        <dsp:cNvPr id="0" name=""/>
        <dsp:cNvSpPr/>
      </dsp:nvSpPr>
      <dsp:spPr>
        <a:xfrm>
          <a:off x="960148" y="1105185"/>
          <a:ext cx="718297" cy="71829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8D3AB5A-6F13-4F93-8B80-BABF274EA590}">
      <dsp:nvSpPr>
        <dsp:cNvPr id="0" name=""/>
        <dsp:cNvSpPr/>
      </dsp:nvSpPr>
      <dsp:spPr>
        <a:xfrm>
          <a:off x="293158" y="2480210"/>
          <a:ext cx="2052277"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defRPr cap="all"/>
          </a:pPr>
          <a:r>
            <a:rPr lang="en-US" sz="1500" kern="1200"/>
            <a:t>We chose the </a:t>
          </a:r>
          <a:r>
            <a:rPr lang="en-US" sz="1500" b="1" kern="1200"/>
            <a:t>2020 lip-reading system</a:t>
          </a:r>
          <a:r>
            <a:rPr lang="en-US" sz="1500" kern="1200"/>
            <a:t>.</a:t>
          </a:r>
        </a:p>
      </dsp:txBody>
      <dsp:txXfrm>
        <a:off x="293158" y="2480210"/>
        <a:ext cx="2052277" cy="720000"/>
      </dsp:txXfrm>
    </dsp:sp>
    <dsp:sp modelId="{6AF81A33-5046-43F0-93E7-FD2828D8D82F}">
      <dsp:nvSpPr>
        <dsp:cNvPr id="0" name=""/>
        <dsp:cNvSpPr/>
      </dsp:nvSpPr>
      <dsp:spPr>
        <a:xfrm>
          <a:off x="3104778" y="838389"/>
          <a:ext cx="1251889" cy="1251889"/>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A14B5A5-BFEC-4A80-9270-499B20FAE283}">
      <dsp:nvSpPr>
        <dsp:cNvPr id="0" name=""/>
        <dsp:cNvSpPr/>
      </dsp:nvSpPr>
      <dsp:spPr>
        <a:xfrm>
          <a:off x="3371574" y="1105185"/>
          <a:ext cx="718297" cy="71829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C5B3C19-539F-4162-A155-6003E9998D81}">
      <dsp:nvSpPr>
        <dsp:cNvPr id="0" name=""/>
        <dsp:cNvSpPr/>
      </dsp:nvSpPr>
      <dsp:spPr>
        <a:xfrm>
          <a:off x="2704584" y="2480210"/>
          <a:ext cx="2052277"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defRPr cap="all"/>
          </a:pPr>
          <a:r>
            <a:rPr lang="en-US" sz="1500" kern="1200"/>
            <a:t>It uses </a:t>
          </a:r>
          <a:r>
            <a:rPr lang="en-US" sz="1500" b="1" kern="1200"/>
            <a:t>viseme classification</a:t>
          </a:r>
          <a:r>
            <a:rPr lang="en-US" sz="1500" kern="1200"/>
            <a:t> for better accuracy.</a:t>
          </a:r>
        </a:p>
      </dsp:txBody>
      <dsp:txXfrm>
        <a:off x="2704584" y="2480210"/>
        <a:ext cx="2052277" cy="720000"/>
      </dsp:txXfrm>
    </dsp:sp>
    <dsp:sp modelId="{E14CD57C-BBA3-4DB8-AF9B-81FE5FBAB607}">
      <dsp:nvSpPr>
        <dsp:cNvPr id="0" name=""/>
        <dsp:cNvSpPr/>
      </dsp:nvSpPr>
      <dsp:spPr>
        <a:xfrm>
          <a:off x="5516203" y="838389"/>
          <a:ext cx="1251889" cy="1251889"/>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8016648-9DC3-4A56-A8B5-427E09A8A5FB}">
      <dsp:nvSpPr>
        <dsp:cNvPr id="0" name=""/>
        <dsp:cNvSpPr/>
      </dsp:nvSpPr>
      <dsp:spPr>
        <a:xfrm>
          <a:off x="5782999" y="1105185"/>
          <a:ext cx="718297" cy="71829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6E7826E-2D83-41A3-BDCA-CBA77BA97A9F}">
      <dsp:nvSpPr>
        <dsp:cNvPr id="0" name=""/>
        <dsp:cNvSpPr/>
      </dsp:nvSpPr>
      <dsp:spPr>
        <a:xfrm>
          <a:off x="5116009" y="2480210"/>
          <a:ext cx="2052277"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defRPr cap="all"/>
          </a:pPr>
          <a:r>
            <a:rPr lang="en-US" sz="1500" kern="1200"/>
            <a:t>Its </a:t>
          </a:r>
          <a:r>
            <a:rPr lang="en-US" sz="1500" b="1" kern="1200"/>
            <a:t>weakness</a:t>
          </a:r>
          <a:r>
            <a:rPr lang="en-US" sz="1500" kern="1200"/>
            <a:t> : relies on </a:t>
          </a:r>
          <a:r>
            <a:rPr lang="en-US" sz="1500" b="1" kern="1200"/>
            <a:t>Static Timestamps</a:t>
          </a:r>
          <a:endParaRPr lang="en-US" sz="1500" kern="1200"/>
        </a:p>
      </dsp:txBody>
      <dsp:txXfrm>
        <a:off x="5116009" y="2480210"/>
        <a:ext cx="2052277" cy="720000"/>
      </dsp:txXfrm>
    </dsp:sp>
    <dsp:sp modelId="{A02710D8-168E-419B-B00D-5AAF78A6939B}">
      <dsp:nvSpPr>
        <dsp:cNvPr id="0" name=""/>
        <dsp:cNvSpPr/>
      </dsp:nvSpPr>
      <dsp:spPr>
        <a:xfrm>
          <a:off x="7927629" y="838389"/>
          <a:ext cx="1251889" cy="1251889"/>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5DAE6C1-A48F-425E-9A1B-F7DC5D18C58B}">
      <dsp:nvSpPr>
        <dsp:cNvPr id="0" name=""/>
        <dsp:cNvSpPr/>
      </dsp:nvSpPr>
      <dsp:spPr>
        <a:xfrm>
          <a:off x="8194425" y="1105185"/>
          <a:ext cx="718297" cy="718297"/>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2462536-AD29-4FB3-8FF5-DBE80A29C1C4}">
      <dsp:nvSpPr>
        <dsp:cNvPr id="0" name=""/>
        <dsp:cNvSpPr/>
      </dsp:nvSpPr>
      <dsp:spPr>
        <a:xfrm>
          <a:off x="7527435" y="2480210"/>
          <a:ext cx="2052277"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defRPr cap="all"/>
          </a:pPr>
          <a:r>
            <a:rPr lang="en-US" sz="1500" kern="1200"/>
            <a:t>Fixing this improves </a:t>
          </a:r>
          <a:r>
            <a:rPr lang="en-US" sz="1500" b="1" kern="1200"/>
            <a:t>functionality and accuracy</a:t>
          </a:r>
          <a:r>
            <a:rPr lang="en-US" sz="1500" kern="1200"/>
            <a:t>.</a:t>
          </a:r>
        </a:p>
      </dsp:txBody>
      <dsp:txXfrm>
        <a:off x="7527435" y="2480210"/>
        <a:ext cx="2052277" cy="7200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3490B38-8090-49BA-B73A-184390D2E5E8}">
      <dsp:nvSpPr>
        <dsp:cNvPr id="0" name=""/>
        <dsp:cNvSpPr/>
      </dsp:nvSpPr>
      <dsp:spPr>
        <a:xfrm>
          <a:off x="0" y="0"/>
          <a:ext cx="7900416" cy="84059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1" kern="1200"/>
            <a:t>More accurate word boundary detection</a:t>
          </a:r>
          <a:br>
            <a:rPr lang="en-US" sz="2200" kern="1200"/>
          </a:br>
          <a:endParaRPr lang="en-US" sz="2200" kern="1200"/>
        </a:p>
      </dsp:txBody>
      <dsp:txXfrm>
        <a:off x="24620" y="24620"/>
        <a:ext cx="6922318" cy="791354"/>
      </dsp:txXfrm>
    </dsp:sp>
    <dsp:sp modelId="{65B23CB3-630E-4264-8157-DC460BA222BA}">
      <dsp:nvSpPr>
        <dsp:cNvPr id="0" name=""/>
        <dsp:cNvSpPr/>
      </dsp:nvSpPr>
      <dsp:spPr>
        <a:xfrm>
          <a:off x="661659" y="993430"/>
          <a:ext cx="7900416" cy="84059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1" kern="1200"/>
            <a:t>Improved sentence reconstruction</a:t>
          </a:r>
          <a:br>
            <a:rPr lang="en-US" sz="2200" kern="1200"/>
          </a:br>
          <a:endParaRPr lang="en-US" sz="2200" kern="1200"/>
        </a:p>
      </dsp:txBody>
      <dsp:txXfrm>
        <a:off x="686279" y="1018050"/>
        <a:ext cx="6643129" cy="791354"/>
      </dsp:txXfrm>
    </dsp:sp>
    <dsp:sp modelId="{9423DE50-67F2-4E99-9A8B-051CC8DDEBED}">
      <dsp:nvSpPr>
        <dsp:cNvPr id="0" name=""/>
        <dsp:cNvSpPr/>
      </dsp:nvSpPr>
      <dsp:spPr>
        <a:xfrm>
          <a:off x="1313444" y="1986860"/>
          <a:ext cx="7900416" cy="84059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1" kern="1200"/>
            <a:t>Adapts to different speaking speeds</a:t>
          </a:r>
          <a:br>
            <a:rPr lang="en-US" sz="2200" kern="1200"/>
          </a:br>
          <a:endParaRPr lang="en-US" sz="2200" kern="1200"/>
        </a:p>
      </dsp:txBody>
      <dsp:txXfrm>
        <a:off x="1338064" y="2011480"/>
        <a:ext cx="6653005" cy="791354"/>
      </dsp:txXfrm>
    </dsp:sp>
    <dsp:sp modelId="{3CC049FB-09C0-41C3-A35F-9EF575BE0746}">
      <dsp:nvSpPr>
        <dsp:cNvPr id="0" name=""/>
        <dsp:cNvSpPr/>
      </dsp:nvSpPr>
      <dsp:spPr>
        <a:xfrm>
          <a:off x="1975103" y="2980290"/>
          <a:ext cx="7900416" cy="84059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1" kern="1200"/>
            <a:t>Enhances real-world performance</a:t>
          </a:r>
          <a:endParaRPr lang="en-US" sz="2200" kern="1200"/>
        </a:p>
      </dsp:txBody>
      <dsp:txXfrm>
        <a:off x="1999723" y="3004910"/>
        <a:ext cx="6643129" cy="791354"/>
      </dsp:txXfrm>
    </dsp:sp>
    <dsp:sp modelId="{560F8A1C-1AFE-41EE-8A6C-B43E68FDE795}">
      <dsp:nvSpPr>
        <dsp:cNvPr id="0" name=""/>
        <dsp:cNvSpPr/>
      </dsp:nvSpPr>
      <dsp:spPr>
        <a:xfrm>
          <a:off x="7354029" y="643819"/>
          <a:ext cx="546386" cy="546386"/>
        </a:xfrm>
        <a:prstGeom prst="downArrow">
          <a:avLst>
            <a:gd name="adj1" fmla="val 55000"/>
            <a:gd name="adj2" fmla="val 45000"/>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endParaRPr lang="en-US" sz="2400" kern="1200"/>
        </a:p>
      </dsp:txBody>
      <dsp:txXfrm>
        <a:off x="7476966" y="643819"/>
        <a:ext cx="300512" cy="411155"/>
      </dsp:txXfrm>
    </dsp:sp>
    <dsp:sp modelId="{B9F5C863-5419-4069-BE7C-5D8AA7091BA0}">
      <dsp:nvSpPr>
        <dsp:cNvPr id="0" name=""/>
        <dsp:cNvSpPr/>
      </dsp:nvSpPr>
      <dsp:spPr>
        <a:xfrm>
          <a:off x="8015689" y="1637249"/>
          <a:ext cx="546386" cy="546386"/>
        </a:xfrm>
        <a:prstGeom prst="downArrow">
          <a:avLst>
            <a:gd name="adj1" fmla="val 55000"/>
            <a:gd name="adj2" fmla="val 45000"/>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endParaRPr lang="en-US" sz="2400" kern="1200"/>
        </a:p>
      </dsp:txBody>
      <dsp:txXfrm>
        <a:off x="8138626" y="1637249"/>
        <a:ext cx="300512" cy="411155"/>
      </dsp:txXfrm>
    </dsp:sp>
    <dsp:sp modelId="{127669DA-24A9-4191-B071-928AAE9DF1F9}">
      <dsp:nvSpPr>
        <dsp:cNvPr id="0" name=""/>
        <dsp:cNvSpPr/>
      </dsp:nvSpPr>
      <dsp:spPr>
        <a:xfrm>
          <a:off x="8667473" y="2630679"/>
          <a:ext cx="546386" cy="546386"/>
        </a:xfrm>
        <a:prstGeom prst="downArrow">
          <a:avLst>
            <a:gd name="adj1" fmla="val 55000"/>
            <a:gd name="adj2" fmla="val 45000"/>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endParaRPr lang="en-US" sz="2400" kern="1200"/>
        </a:p>
      </dsp:txBody>
      <dsp:txXfrm>
        <a:off x="8790410" y="2630679"/>
        <a:ext cx="300512" cy="411155"/>
      </dsp:txXfrm>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3886200" y="0"/>
            <a:ext cx="2971800" cy="458788"/>
          </a:xfrm>
          <a:prstGeom prst="rect">
            <a:avLst/>
          </a:prstGeom>
        </p:spPr>
        <p:txBody>
          <a:bodyPr vert="horz" lIns="91440" tIns="45720" rIns="91440" bIns="45720" rtlCol="1"/>
          <a:lstStyle>
            <a:lvl1pPr algn="l">
              <a:defRPr sz="1200"/>
            </a:lvl1pPr>
          </a:lstStyle>
          <a:p>
            <a:endParaRPr lang="en-IL"/>
          </a:p>
        </p:txBody>
      </p:sp>
      <p:sp>
        <p:nvSpPr>
          <p:cNvPr id="3" name="מציין מיקום של תאריך 2"/>
          <p:cNvSpPr>
            <a:spLocks noGrp="1"/>
          </p:cNvSpPr>
          <p:nvPr>
            <p:ph type="dt" idx="1"/>
          </p:nvPr>
        </p:nvSpPr>
        <p:spPr>
          <a:xfrm>
            <a:off x="1588" y="0"/>
            <a:ext cx="2971800" cy="458788"/>
          </a:xfrm>
          <a:prstGeom prst="rect">
            <a:avLst/>
          </a:prstGeom>
        </p:spPr>
        <p:txBody>
          <a:bodyPr vert="horz" lIns="91440" tIns="45720" rIns="91440" bIns="45720" rtlCol="1"/>
          <a:lstStyle>
            <a:lvl1pPr algn="r">
              <a:defRPr sz="1200"/>
            </a:lvl1pPr>
          </a:lstStyle>
          <a:p>
            <a:fld id="{E07CC510-56E4-4219-AB13-7262CDD19993}" type="datetimeFigureOut">
              <a:rPr lang="en-IL" smtClean="0"/>
              <a:t>02/03/2025</a:t>
            </a:fld>
            <a:endParaRPr lang="en-IL"/>
          </a:p>
        </p:txBody>
      </p:sp>
      <p:sp>
        <p:nvSpPr>
          <p:cNvPr id="4" name="מציין מיקום של תמונת שקופית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1" anchor="ctr"/>
          <a:lstStyle/>
          <a:p>
            <a:endParaRPr lang="en-IL"/>
          </a:p>
        </p:txBody>
      </p:sp>
      <p:sp>
        <p:nvSpPr>
          <p:cNvPr id="5" name="מציין מיקום של הערות 4"/>
          <p:cNvSpPr>
            <a:spLocks noGrp="1"/>
          </p:cNvSpPr>
          <p:nvPr>
            <p:ph type="body" sz="quarter" idx="3"/>
          </p:nvPr>
        </p:nvSpPr>
        <p:spPr>
          <a:xfrm>
            <a:off x="685800" y="4400550"/>
            <a:ext cx="5486400" cy="3600450"/>
          </a:xfrm>
          <a:prstGeom prst="rect">
            <a:avLst/>
          </a:prstGeom>
        </p:spPr>
        <p:txBody>
          <a:bodyPr vert="horz" lIns="91440" tIns="45720" rIns="91440" bIns="45720" rtlCol="1"/>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IL"/>
          </a:p>
        </p:txBody>
      </p:sp>
      <p:sp>
        <p:nvSpPr>
          <p:cNvPr id="6" name="מציין מיקום של כותרת תחתונה 5"/>
          <p:cNvSpPr>
            <a:spLocks noGrp="1"/>
          </p:cNvSpPr>
          <p:nvPr>
            <p:ph type="ftr" sz="quarter" idx="4"/>
          </p:nvPr>
        </p:nvSpPr>
        <p:spPr>
          <a:xfrm>
            <a:off x="3886200" y="8685213"/>
            <a:ext cx="2971800" cy="458787"/>
          </a:xfrm>
          <a:prstGeom prst="rect">
            <a:avLst/>
          </a:prstGeom>
        </p:spPr>
        <p:txBody>
          <a:bodyPr vert="horz" lIns="91440" tIns="45720" rIns="91440" bIns="45720" rtlCol="1" anchor="b"/>
          <a:lstStyle>
            <a:lvl1pPr algn="l">
              <a:defRPr sz="1200"/>
            </a:lvl1pPr>
          </a:lstStyle>
          <a:p>
            <a:endParaRPr lang="en-IL"/>
          </a:p>
        </p:txBody>
      </p:sp>
      <p:sp>
        <p:nvSpPr>
          <p:cNvPr id="7" name="מציין מיקום של מספר שקופית 6"/>
          <p:cNvSpPr>
            <a:spLocks noGrp="1"/>
          </p:cNvSpPr>
          <p:nvPr>
            <p:ph type="sldNum" sz="quarter" idx="5"/>
          </p:nvPr>
        </p:nvSpPr>
        <p:spPr>
          <a:xfrm>
            <a:off x="1588" y="8685213"/>
            <a:ext cx="2971800" cy="458787"/>
          </a:xfrm>
          <a:prstGeom prst="rect">
            <a:avLst/>
          </a:prstGeom>
        </p:spPr>
        <p:txBody>
          <a:bodyPr vert="horz" lIns="91440" tIns="45720" rIns="91440" bIns="45720" rtlCol="1" anchor="b"/>
          <a:lstStyle>
            <a:lvl1pPr algn="r">
              <a:defRPr sz="1200"/>
            </a:lvl1pPr>
          </a:lstStyle>
          <a:p>
            <a:fld id="{B1EB5100-3F3F-4684-BF27-8BCA8A2A5A8E}" type="slidenum">
              <a:rPr lang="en-IL" smtClean="0"/>
              <a:t>‹#›</a:t>
            </a:fld>
            <a:endParaRPr lang="en-IL"/>
          </a:p>
        </p:txBody>
      </p:sp>
    </p:spTree>
    <p:extLst>
      <p:ext uri="{BB962C8B-B14F-4D97-AF65-F5344CB8AC3E}">
        <p14:creationId xmlns:p14="http://schemas.microsoft.com/office/powerpoint/2010/main" val="103051211"/>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e-IL"/>
          </a:p>
        </p:txBody>
      </p:sp>
      <p:sp>
        <p:nvSpPr>
          <p:cNvPr id="4" name="Slide Number Placeholder 3"/>
          <p:cNvSpPr>
            <a:spLocks noGrp="1"/>
          </p:cNvSpPr>
          <p:nvPr>
            <p:ph type="sldNum" sz="quarter" idx="5"/>
          </p:nvPr>
        </p:nvSpPr>
        <p:spPr/>
        <p:txBody>
          <a:bodyPr/>
          <a:lstStyle/>
          <a:p>
            <a:fld id="{B1EB5100-3F3F-4684-BF27-8BCA8A2A5A8E}" type="slidenum">
              <a:rPr lang="en-IL" smtClean="0"/>
              <a:t>1</a:t>
            </a:fld>
            <a:endParaRPr lang="en-IL"/>
          </a:p>
        </p:txBody>
      </p:sp>
    </p:spTree>
    <p:extLst>
      <p:ext uri="{BB962C8B-B14F-4D97-AF65-F5344CB8AC3E}">
        <p14:creationId xmlns:p14="http://schemas.microsoft.com/office/powerpoint/2010/main" val="18334110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VisoSpeak is a deep learning tool that helps with lip reading using only visuals. Regular speech recognition doesn't work well in noisy places or when there's no sound. Also, many models are tied to specific languages. VisoSpeak fixes these issues by focusing only on lip movements, making it more private and accessible. Our project is built upon improving an existing lip-reading model from 2020, which had strong potential but needed enhancements. We refined its approach by making it more accurate and adaptable to different speaking styles</a:t>
            </a:r>
            <a:endParaRPr lang="he-IL"/>
          </a:p>
        </p:txBody>
      </p:sp>
      <p:sp>
        <p:nvSpPr>
          <p:cNvPr id="4" name="Slide Number Placeholder 3"/>
          <p:cNvSpPr>
            <a:spLocks noGrp="1"/>
          </p:cNvSpPr>
          <p:nvPr>
            <p:ph type="sldNum" sz="quarter" idx="5"/>
          </p:nvPr>
        </p:nvSpPr>
        <p:spPr/>
        <p:txBody>
          <a:bodyPr/>
          <a:lstStyle/>
          <a:p>
            <a:fld id="{B1EB5100-3F3F-4684-BF27-8BCA8A2A5A8E}" type="slidenum">
              <a:rPr lang="en-IL" smtClean="0"/>
              <a:t>2</a:t>
            </a:fld>
            <a:endParaRPr lang="en-IL"/>
          </a:p>
        </p:txBody>
      </p:sp>
    </p:spTree>
    <p:extLst>
      <p:ext uri="{BB962C8B-B14F-4D97-AF65-F5344CB8AC3E}">
        <p14:creationId xmlns:p14="http://schemas.microsoft.com/office/powerpoint/2010/main" val="11717557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r>
              <a:rPr lang="en-US" b="1"/>
              <a:t>We explored several existing projects in lip reading and identified three key models that have shaped this field.</a:t>
            </a:r>
            <a:endParaRPr lang="en-US"/>
          </a:p>
          <a:p>
            <a:pPr algn="l" rtl="0">
              <a:buFont typeface="+mj-lt"/>
              <a:buAutoNum type="arabicPeriod"/>
            </a:pPr>
            <a:r>
              <a:rPr lang="en-US" b="1" err="1"/>
              <a:t>LipNet</a:t>
            </a:r>
            <a:r>
              <a:rPr lang="en-US" b="1"/>
              <a:t> (2016) –</a:t>
            </a:r>
            <a:r>
              <a:rPr lang="en-US"/>
              <a:t> First end-to-end model, but low accuracy.</a:t>
            </a:r>
          </a:p>
          <a:p>
            <a:pPr algn="l" rtl="0">
              <a:buFont typeface="+mj-lt"/>
              <a:buAutoNum type="arabicPeriod"/>
            </a:pPr>
            <a:r>
              <a:rPr lang="en-US" b="1"/>
              <a:t>Lip Reading Sentences in the Wild (2017) –</a:t>
            </a:r>
            <a:r>
              <a:rPr lang="en-US"/>
              <a:t> Uses audio and video, not purely visual.</a:t>
            </a:r>
          </a:p>
          <a:p>
            <a:pPr algn="l" rtl="0">
              <a:buFont typeface="+mj-lt"/>
              <a:buAutoNum type="arabicPeriod"/>
            </a:pPr>
            <a:r>
              <a:rPr lang="en-US" b="1"/>
              <a:t>Lip Reading Sentences Using Deep Learning (2020) –</a:t>
            </a:r>
            <a:r>
              <a:rPr lang="en-US"/>
              <a:t> Fully visual but relies on fixed timestamps.</a:t>
            </a:r>
          </a:p>
          <a:p>
            <a:pPr algn="l" rtl="0"/>
            <a:r>
              <a:rPr lang="en-US"/>
              <a:t>Each of these projects contributed valuable advancements, but they also had limitations. </a:t>
            </a:r>
          </a:p>
          <a:p>
            <a:pPr algn="l" rtl="0"/>
            <a:r>
              <a:rPr lang="en-US" b="1"/>
              <a:t>We focused on the third model because it uses viseme classification, which makes it more flexible and adaptable for visual-only speech recognition</a:t>
            </a:r>
            <a:endParaRPr lang="he-IL"/>
          </a:p>
        </p:txBody>
      </p:sp>
      <p:sp>
        <p:nvSpPr>
          <p:cNvPr id="4" name="Slide Number Placeholder 3"/>
          <p:cNvSpPr>
            <a:spLocks noGrp="1"/>
          </p:cNvSpPr>
          <p:nvPr>
            <p:ph type="sldNum" sz="quarter" idx="5"/>
          </p:nvPr>
        </p:nvSpPr>
        <p:spPr/>
        <p:txBody>
          <a:bodyPr/>
          <a:lstStyle/>
          <a:p>
            <a:fld id="{B1EB5100-3F3F-4684-BF27-8BCA8A2A5A8E}" type="slidenum">
              <a:rPr lang="en-IL" smtClean="0"/>
              <a:t>3</a:t>
            </a:fld>
            <a:endParaRPr lang="en-IL"/>
          </a:p>
        </p:txBody>
      </p:sp>
    </p:spTree>
    <p:extLst>
      <p:ext uri="{BB962C8B-B14F-4D97-AF65-F5344CB8AC3E}">
        <p14:creationId xmlns:p14="http://schemas.microsoft.com/office/powerpoint/2010/main" val="2921228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r>
              <a:rPr lang="en-US"/>
              <a:t>The project we chose to improve is the </a:t>
            </a:r>
            <a:r>
              <a:rPr lang="en-US" b="1"/>
              <a:t>2020 lip-reading system</a:t>
            </a:r>
            <a:r>
              <a:rPr lang="en-US"/>
              <a:t>. We selected this model because it utilizes </a:t>
            </a:r>
            <a:r>
              <a:rPr lang="en-US" b="1"/>
              <a:t>viseme classification</a:t>
            </a:r>
            <a:r>
              <a:rPr lang="en-US"/>
              <a:t>, which makes it more flexible and adaptable for recognizing speech through visual cues. However, we identified a key weakness: it relies on </a:t>
            </a:r>
            <a:r>
              <a:rPr lang="en-US" b="1"/>
              <a:t>static timestamps</a:t>
            </a:r>
            <a:r>
              <a:rPr lang="en-US"/>
              <a:t> to segment speech, which limits its accuracy and adaptability.</a:t>
            </a:r>
          </a:p>
          <a:p>
            <a:pPr algn="l" rtl="0"/>
            <a:r>
              <a:rPr lang="en-US"/>
              <a:t>By replacing static timestamps with </a:t>
            </a:r>
            <a:r>
              <a:rPr lang="en-US" b="1"/>
              <a:t>dynamic timestamps</a:t>
            </a:r>
            <a:r>
              <a:rPr lang="en-US"/>
              <a:t>, we can make the system more responsive to different speaking speeds and improve overall accuracy. This enhancement makes the model more effective in real-world scenarios where speech patterns vary</a:t>
            </a:r>
          </a:p>
          <a:p>
            <a:pPr algn="l" rtl="0"/>
            <a:endParaRPr lang="he-IL"/>
          </a:p>
        </p:txBody>
      </p:sp>
      <p:sp>
        <p:nvSpPr>
          <p:cNvPr id="4" name="Slide Number Placeholder 3"/>
          <p:cNvSpPr>
            <a:spLocks noGrp="1"/>
          </p:cNvSpPr>
          <p:nvPr>
            <p:ph type="sldNum" sz="quarter" idx="5"/>
          </p:nvPr>
        </p:nvSpPr>
        <p:spPr/>
        <p:txBody>
          <a:bodyPr/>
          <a:lstStyle/>
          <a:p>
            <a:fld id="{B1EB5100-3F3F-4684-BF27-8BCA8A2A5A8E}" type="slidenum">
              <a:rPr lang="en-IL" smtClean="0"/>
              <a:t>4</a:t>
            </a:fld>
            <a:endParaRPr lang="en-IL"/>
          </a:p>
        </p:txBody>
      </p:sp>
    </p:spTree>
    <p:extLst>
      <p:ext uri="{BB962C8B-B14F-4D97-AF65-F5344CB8AC3E}">
        <p14:creationId xmlns:p14="http://schemas.microsoft.com/office/powerpoint/2010/main" val="32120365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r>
              <a:rPr lang="en-US"/>
              <a:t>The old algorithm used </a:t>
            </a:r>
            <a:r>
              <a:rPr lang="en-US" b="1"/>
              <a:t>fixed timestamps</a:t>
            </a:r>
            <a:r>
              <a:rPr lang="en-US"/>
              <a:t> to detect </a:t>
            </a:r>
            <a:r>
              <a:rPr lang="en-US" b="1"/>
              <a:t>word boundaries</a:t>
            </a:r>
            <a:r>
              <a:rPr lang="en-US"/>
              <a:t>, meaning it followed a rigid timing structure that did not adjust based on the speaker’s natural pace. This caused errors, especially when people spoke too fast or too slow.</a:t>
            </a:r>
          </a:p>
          <a:p>
            <a:pPr algn="l" rtl="0"/>
            <a:r>
              <a:rPr lang="en-US"/>
              <a:t>Because the algorithm did not adapt to different speaking speeds, it often </a:t>
            </a:r>
            <a:r>
              <a:rPr lang="en-US" b="1"/>
              <a:t>incorrectly segmented words</a:t>
            </a:r>
            <a:r>
              <a:rPr lang="en-US"/>
              <a:t>, reducing its accuracy. This limitation made it less reliable in real-world scenarios</a:t>
            </a:r>
          </a:p>
        </p:txBody>
      </p:sp>
      <p:sp>
        <p:nvSpPr>
          <p:cNvPr id="4" name="Slide Number Placeholder 3"/>
          <p:cNvSpPr>
            <a:spLocks noGrp="1"/>
          </p:cNvSpPr>
          <p:nvPr>
            <p:ph type="sldNum" sz="quarter" idx="5"/>
          </p:nvPr>
        </p:nvSpPr>
        <p:spPr/>
        <p:txBody>
          <a:bodyPr/>
          <a:lstStyle/>
          <a:p>
            <a:fld id="{B1EB5100-3F3F-4684-BF27-8BCA8A2A5A8E}" type="slidenum">
              <a:rPr lang="en-IL" smtClean="0"/>
              <a:t>5</a:t>
            </a:fld>
            <a:endParaRPr lang="en-IL"/>
          </a:p>
        </p:txBody>
      </p:sp>
    </p:spTree>
    <p:extLst>
      <p:ext uri="{BB962C8B-B14F-4D97-AF65-F5344CB8AC3E}">
        <p14:creationId xmlns:p14="http://schemas.microsoft.com/office/powerpoint/2010/main" val="10297917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r>
              <a:rPr lang="en-US"/>
              <a:t>One of the biggest weaknesses of the previous approach was its reliance on </a:t>
            </a:r>
            <a:r>
              <a:rPr lang="en-US" b="1"/>
              <a:t>fixed timestamps</a:t>
            </a:r>
            <a:r>
              <a:rPr lang="en-US"/>
              <a:t>, which did not adjust to different speaking speeds. To solve this, we replaced them with </a:t>
            </a:r>
            <a:r>
              <a:rPr lang="en-US" b="1"/>
              <a:t>dynamic timestamps</a:t>
            </a:r>
            <a:r>
              <a:rPr lang="en-US"/>
              <a:t>, allowing the system to </a:t>
            </a:r>
            <a:r>
              <a:rPr lang="en-US" b="1"/>
              <a:t>adapt in real-time</a:t>
            </a:r>
            <a:r>
              <a:rPr lang="en-US"/>
              <a:t> to the speaker’s pace.</a:t>
            </a:r>
          </a:p>
          <a:p>
            <a:pPr algn="l" rtl="0"/>
            <a:r>
              <a:rPr lang="en-US"/>
              <a:t>To improve </a:t>
            </a:r>
            <a:r>
              <a:rPr lang="en-US" b="1"/>
              <a:t>word boundary detection</a:t>
            </a:r>
            <a:r>
              <a:rPr lang="en-US"/>
              <a:t>, we introduced </a:t>
            </a:r>
            <a:r>
              <a:rPr lang="en-US" b="1"/>
              <a:t>8 new variables</a:t>
            </a:r>
            <a:r>
              <a:rPr lang="en-US"/>
              <a:t> that help calculate the </a:t>
            </a:r>
            <a:r>
              <a:rPr lang="en-US" b="1"/>
              <a:t>average time between words and letters for each user</a:t>
            </a:r>
            <a:r>
              <a:rPr lang="en-US"/>
              <a:t>. This personalized approach ensures </a:t>
            </a:r>
            <a:r>
              <a:rPr lang="en-US" b="1"/>
              <a:t>better segmentation and higher accuracy</a:t>
            </a:r>
            <a:r>
              <a:rPr lang="en-US"/>
              <a:t>, making the system more effective in real-world scenarios.</a:t>
            </a:r>
          </a:p>
          <a:p>
            <a:pPr algn="l" rtl="0"/>
            <a:endParaRPr lang="he-IL"/>
          </a:p>
        </p:txBody>
      </p:sp>
      <p:sp>
        <p:nvSpPr>
          <p:cNvPr id="4" name="Slide Number Placeholder 3"/>
          <p:cNvSpPr>
            <a:spLocks noGrp="1"/>
          </p:cNvSpPr>
          <p:nvPr>
            <p:ph type="sldNum" sz="quarter" idx="5"/>
          </p:nvPr>
        </p:nvSpPr>
        <p:spPr/>
        <p:txBody>
          <a:bodyPr/>
          <a:lstStyle/>
          <a:p>
            <a:fld id="{B1EB5100-3F3F-4684-BF27-8BCA8A2A5A8E}" type="slidenum">
              <a:rPr lang="en-IL" smtClean="0"/>
              <a:t>6</a:t>
            </a:fld>
            <a:endParaRPr lang="en-IL"/>
          </a:p>
        </p:txBody>
      </p:sp>
    </p:spTree>
    <p:extLst>
      <p:ext uri="{BB962C8B-B14F-4D97-AF65-F5344CB8AC3E}">
        <p14:creationId xmlns:p14="http://schemas.microsoft.com/office/powerpoint/2010/main" val="27145603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r>
              <a:rPr lang="en-US"/>
              <a:t>To make our system more </a:t>
            </a:r>
            <a:r>
              <a:rPr lang="en-US" b="1"/>
              <a:t>adaptive and accurate</a:t>
            </a:r>
            <a:r>
              <a:rPr lang="en-US"/>
              <a:t>, we introduced </a:t>
            </a:r>
            <a:r>
              <a:rPr lang="en-US" b="1"/>
              <a:t>8 key variables</a:t>
            </a:r>
            <a:r>
              <a:rPr lang="en-US"/>
              <a:t> that measure different aspects of speech timing.</a:t>
            </a:r>
          </a:p>
          <a:p>
            <a:pPr algn="l" rtl="0">
              <a:buFont typeface="Arial" panose="020B0604020202020204" pitchFamily="34" charset="0"/>
              <a:buChar char="•"/>
            </a:pPr>
            <a:r>
              <a:rPr lang="en-US" b="1"/>
              <a:t>SBL &amp; SBW</a:t>
            </a:r>
            <a:r>
              <a:rPr lang="en-US"/>
              <a:t> track the </a:t>
            </a:r>
            <a:r>
              <a:rPr lang="en-US" b="1"/>
              <a:t>spacing between letters and words</a:t>
            </a:r>
            <a:r>
              <a:rPr lang="en-US"/>
              <a:t>, helping the system understand how users naturally pause while speaking.</a:t>
            </a:r>
          </a:p>
          <a:p>
            <a:pPr algn="l" rtl="0">
              <a:buFont typeface="Arial" panose="020B0604020202020204" pitchFamily="34" charset="0"/>
              <a:buChar char="•"/>
            </a:pPr>
            <a:r>
              <a:rPr lang="en-US" b="1"/>
              <a:t>NOL &amp; NOW</a:t>
            </a:r>
            <a:r>
              <a:rPr lang="en-US"/>
              <a:t> count the </a:t>
            </a:r>
            <a:r>
              <a:rPr lang="en-US" b="1"/>
              <a:t>number of letters and words</a:t>
            </a:r>
            <a:r>
              <a:rPr lang="en-US"/>
              <a:t>, providing a structure for segmentation.</a:t>
            </a:r>
          </a:p>
          <a:p>
            <a:pPr algn="l" rtl="0">
              <a:buFont typeface="Arial" panose="020B0604020202020204" pitchFamily="34" charset="0"/>
              <a:buChar char="•"/>
            </a:pPr>
            <a:r>
              <a:rPr lang="en-US" b="1"/>
              <a:t>SOTTL &amp; SOTTW</a:t>
            </a:r>
            <a:r>
              <a:rPr lang="en-US"/>
              <a:t> calculate the </a:t>
            </a:r>
            <a:r>
              <a:rPr lang="en-US" b="1"/>
              <a:t>total time spent on letters and words</a:t>
            </a:r>
            <a:r>
              <a:rPr lang="en-US"/>
              <a:t>, which helps in refining timestamps dynamically.</a:t>
            </a:r>
          </a:p>
          <a:p>
            <a:pPr algn="l" rtl="0">
              <a:buFont typeface="Arial" panose="020B0604020202020204" pitchFamily="34" charset="0"/>
              <a:buChar char="•"/>
            </a:pPr>
            <a:r>
              <a:rPr lang="en-US" b="1" err="1"/>
              <a:t>avg_time_letter</a:t>
            </a:r>
            <a:r>
              <a:rPr lang="en-US" b="1"/>
              <a:t> &amp; </a:t>
            </a:r>
            <a:r>
              <a:rPr lang="en-US" b="1" err="1"/>
              <a:t>avg_time_word</a:t>
            </a:r>
            <a:r>
              <a:rPr lang="en-US"/>
              <a:t> give an </a:t>
            </a:r>
            <a:r>
              <a:rPr lang="en-US" b="1"/>
              <a:t>average duration</a:t>
            </a:r>
            <a:r>
              <a:rPr lang="en-US"/>
              <a:t> for each user’s speech, allowing the model to adapt its timing based on individual speaking patterns.</a:t>
            </a:r>
          </a:p>
          <a:p>
            <a:pPr algn="l" rtl="0"/>
            <a:r>
              <a:rPr lang="en-US"/>
              <a:t>By using these variables, our system can </a:t>
            </a:r>
            <a:r>
              <a:rPr lang="en-US" b="1"/>
              <a:t>adjust dynamically</a:t>
            </a:r>
            <a:r>
              <a:rPr lang="en-US"/>
              <a:t> to each speaker, achieving </a:t>
            </a:r>
            <a:r>
              <a:rPr lang="en-US" b="1"/>
              <a:t>higher accuracy in detecting word boundaries</a:t>
            </a:r>
            <a:r>
              <a:rPr lang="en-US"/>
              <a:t> and making lip reading more precise.</a:t>
            </a:r>
          </a:p>
          <a:p>
            <a:pPr algn="l" rtl="0"/>
            <a:endParaRPr lang="he-IL"/>
          </a:p>
        </p:txBody>
      </p:sp>
      <p:sp>
        <p:nvSpPr>
          <p:cNvPr id="4" name="Slide Number Placeholder 3"/>
          <p:cNvSpPr>
            <a:spLocks noGrp="1"/>
          </p:cNvSpPr>
          <p:nvPr>
            <p:ph type="sldNum" sz="quarter" idx="5"/>
          </p:nvPr>
        </p:nvSpPr>
        <p:spPr/>
        <p:txBody>
          <a:bodyPr/>
          <a:lstStyle/>
          <a:p>
            <a:fld id="{B1EB5100-3F3F-4684-BF27-8BCA8A2A5A8E}" type="slidenum">
              <a:rPr lang="en-IL" smtClean="0"/>
              <a:t>7</a:t>
            </a:fld>
            <a:endParaRPr lang="en-IL"/>
          </a:p>
        </p:txBody>
      </p:sp>
    </p:spTree>
    <p:extLst>
      <p:ext uri="{BB962C8B-B14F-4D97-AF65-F5344CB8AC3E}">
        <p14:creationId xmlns:p14="http://schemas.microsoft.com/office/powerpoint/2010/main" val="16466662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a:t>With dynamic timestamps, our model is more accurate and works better in real life. It detects words more clearly and reduces mistakes. This improvement makes lip reading more helpful for assistive tools, silent communication, and speech recognition.</a:t>
            </a:r>
            <a:endParaRPr lang="he-IL"/>
          </a:p>
        </p:txBody>
      </p:sp>
      <p:sp>
        <p:nvSpPr>
          <p:cNvPr id="4" name="Slide Number Placeholder 3"/>
          <p:cNvSpPr>
            <a:spLocks noGrp="1"/>
          </p:cNvSpPr>
          <p:nvPr>
            <p:ph type="sldNum" sz="quarter" idx="5"/>
          </p:nvPr>
        </p:nvSpPr>
        <p:spPr/>
        <p:txBody>
          <a:bodyPr/>
          <a:lstStyle/>
          <a:p>
            <a:fld id="{B1EB5100-3F3F-4684-BF27-8BCA8A2A5A8E}" type="slidenum">
              <a:rPr lang="en-IL" smtClean="0"/>
              <a:t>8</a:t>
            </a:fld>
            <a:endParaRPr lang="en-IL"/>
          </a:p>
        </p:txBody>
      </p:sp>
    </p:spTree>
    <p:extLst>
      <p:ext uri="{BB962C8B-B14F-4D97-AF65-F5344CB8AC3E}">
        <p14:creationId xmlns:p14="http://schemas.microsoft.com/office/powerpoint/2010/main" val="10542433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pPr algn="l"/>
            <a:r>
              <a:rPr lang="en-GB"/>
              <a:t>we see the full process flow of our system. The flow begins with the video upload and progresses through each stage until we reach the final output. Let’s now break down each step and explain how the algorithms work in detail.</a:t>
            </a:r>
          </a:p>
          <a:p>
            <a:pPr algn="l"/>
            <a:r>
              <a:rPr lang="en-GB"/>
              <a:t>The first step in the process is simply uploading the video. This is the starting point, where the user provides the video file in MP4 format. There's no complex algorithm involved here; it's just an I/O operation to upload the file. The time complexity here is O(1), as it’s independent of the video size.</a:t>
            </a:r>
            <a:endParaRPr lang="en-IL"/>
          </a:p>
        </p:txBody>
      </p:sp>
      <p:sp>
        <p:nvSpPr>
          <p:cNvPr id="4" name="מציין מיקום של מספר שקופית 3"/>
          <p:cNvSpPr>
            <a:spLocks noGrp="1"/>
          </p:cNvSpPr>
          <p:nvPr>
            <p:ph type="sldNum" sz="quarter" idx="5"/>
          </p:nvPr>
        </p:nvSpPr>
        <p:spPr/>
        <p:txBody>
          <a:bodyPr/>
          <a:lstStyle/>
          <a:p>
            <a:fld id="{B1EB5100-3F3F-4684-BF27-8BCA8A2A5A8E}" type="slidenum">
              <a:rPr lang="en-IL" smtClean="0"/>
              <a:t>10</a:t>
            </a:fld>
            <a:endParaRPr lang="en-IL"/>
          </a:p>
        </p:txBody>
      </p:sp>
    </p:spTree>
    <p:extLst>
      <p:ext uri="{BB962C8B-B14F-4D97-AF65-F5344CB8AC3E}">
        <p14:creationId xmlns:p14="http://schemas.microsoft.com/office/powerpoint/2010/main" val="13644378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323CC1-93B3-A38B-CCA3-B6D963238E3C}"/>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CC0972FB-53F9-65EC-AC58-718F5EC05204}"/>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E0AE2CEB-5F5A-C74D-FAF1-6081269240A4}"/>
              </a:ext>
            </a:extLst>
          </p:cNvPr>
          <p:cNvSpPr>
            <a:spLocks noGrp="1"/>
          </p:cNvSpPr>
          <p:nvPr>
            <p:ph type="body" idx="1"/>
          </p:nvPr>
        </p:nvSpPr>
        <p:spPr/>
        <p:txBody>
          <a:bodyPr/>
          <a:lstStyle/>
          <a:p>
            <a:pPr algn="l"/>
            <a:r>
              <a:rPr lang="en-GB"/>
              <a:t>The second step is face detection. We use the </a:t>
            </a:r>
            <a:r>
              <a:rPr lang="en-GB" b="1"/>
              <a:t>Single Shot </a:t>
            </a:r>
            <a:r>
              <a:rPr lang="en-GB" b="1" err="1"/>
              <a:t>MultiBox</a:t>
            </a:r>
            <a:r>
              <a:rPr lang="en-GB" b="1"/>
              <a:t> Detector (SSD)</a:t>
            </a:r>
            <a:r>
              <a:rPr lang="en-GB"/>
              <a:t> algorithm, a deep learning-based model that detects faces within the video frames. SSD is efficient and fast, and it works by sliding over the image at different scales. The time complexity for face detection is O(n * m), where </a:t>
            </a:r>
            <a:r>
              <a:rPr lang="en-GB" b="1"/>
              <a:t>n</a:t>
            </a:r>
            <a:r>
              <a:rPr lang="en-GB"/>
              <a:t> is the number of frames and </a:t>
            </a:r>
            <a:r>
              <a:rPr lang="en-GB" b="1"/>
              <a:t>m</a:t>
            </a:r>
            <a:r>
              <a:rPr lang="en-GB"/>
              <a:t> is the number of pixels in each frame.</a:t>
            </a:r>
            <a:endParaRPr lang="en-IL"/>
          </a:p>
        </p:txBody>
      </p:sp>
      <p:sp>
        <p:nvSpPr>
          <p:cNvPr id="4" name="מציין מיקום של מספר שקופית 3">
            <a:extLst>
              <a:ext uri="{FF2B5EF4-FFF2-40B4-BE49-F238E27FC236}">
                <a16:creationId xmlns:a16="http://schemas.microsoft.com/office/drawing/2014/main" id="{109622E8-4667-A370-CD5C-1930458786D2}"/>
              </a:ext>
            </a:extLst>
          </p:cNvPr>
          <p:cNvSpPr>
            <a:spLocks noGrp="1"/>
          </p:cNvSpPr>
          <p:nvPr>
            <p:ph type="sldNum" sz="quarter" idx="5"/>
          </p:nvPr>
        </p:nvSpPr>
        <p:spPr/>
        <p:txBody>
          <a:bodyPr/>
          <a:lstStyle/>
          <a:p>
            <a:fld id="{B1EB5100-3F3F-4684-BF27-8BCA8A2A5A8E}" type="slidenum">
              <a:rPr lang="en-IL" smtClean="0"/>
              <a:t>11</a:t>
            </a:fld>
            <a:endParaRPr lang="en-IL"/>
          </a:p>
        </p:txBody>
      </p:sp>
    </p:spTree>
    <p:extLst>
      <p:ext uri="{BB962C8B-B14F-4D97-AF65-F5344CB8AC3E}">
        <p14:creationId xmlns:p14="http://schemas.microsoft.com/office/powerpoint/2010/main" val="2244692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BEBE1D-BB93-FD64-A8D7-0A849559F7AA}"/>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4076CFFD-7A0C-F660-F237-F839E8869D96}"/>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A82DA838-791C-2EA5-0FAC-0D60FAA26472}"/>
              </a:ext>
            </a:extLst>
          </p:cNvPr>
          <p:cNvSpPr>
            <a:spLocks noGrp="1"/>
          </p:cNvSpPr>
          <p:nvPr>
            <p:ph type="body" idx="1"/>
          </p:nvPr>
        </p:nvSpPr>
        <p:spPr/>
        <p:txBody>
          <a:bodyPr/>
          <a:lstStyle/>
          <a:p>
            <a:pPr algn="l"/>
            <a:r>
              <a:rPr lang="en-GB"/>
              <a:t>After detecting the face, the next step is lip detection. We focus on identifying the lip region in the video. This is done using a </a:t>
            </a:r>
            <a:r>
              <a:rPr lang="en-GB" b="1"/>
              <a:t>CNN</a:t>
            </a:r>
            <a:r>
              <a:rPr lang="en-GB"/>
              <a:t> (Convolutional Neural Network), a deep learning technique that helps us identify key facial landmarks. The time complexity for lip detection is O(n * m * d), where </a:t>
            </a:r>
            <a:r>
              <a:rPr lang="en-GB" b="1"/>
              <a:t>d</a:t>
            </a:r>
            <a:r>
              <a:rPr lang="en-GB"/>
              <a:t> is the number of landmarks detected, and this step ensures that we focus only on the lips for further analysis."</a:t>
            </a:r>
            <a:endParaRPr lang="en-IL"/>
          </a:p>
        </p:txBody>
      </p:sp>
      <p:sp>
        <p:nvSpPr>
          <p:cNvPr id="4" name="מציין מיקום של מספר שקופית 3">
            <a:extLst>
              <a:ext uri="{FF2B5EF4-FFF2-40B4-BE49-F238E27FC236}">
                <a16:creationId xmlns:a16="http://schemas.microsoft.com/office/drawing/2014/main" id="{2EC50C21-F9EC-D215-6C87-6634F8489235}"/>
              </a:ext>
            </a:extLst>
          </p:cNvPr>
          <p:cNvSpPr>
            <a:spLocks noGrp="1"/>
          </p:cNvSpPr>
          <p:nvPr>
            <p:ph type="sldNum" sz="quarter" idx="5"/>
          </p:nvPr>
        </p:nvSpPr>
        <p:spPr/>
        <p:txBody>
          <a:bodyPr/>
          <a:lstStyle/>
          <a:p>
            <a:fld id="{B1EB5100-3F3F-4684-BF27-8BCA8A2A5A8E}" type="slidenum">
              <a:rPr lang="en-IL" smtClean="0"/>
              <a:t>12</a:t>
            </a:fld>
            <a:endParaRPr lang="en-IL"/>
          </a:p>
        </p:txBody>
      </p:sp>
    </p:spTree>
    <p:extLst>
      <p:ext uri="{BB962C8B-B14F-4D97-AF65-F5344CB8AC3E}">
        <p14:creationId xmlns:p14="http://schemas.microsoft.com/office/powerpoint/2010/main" val="38879868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5F6DF1-837B-3948-F219-CA1ECADBC046}"/>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C7771A13-6DD7-4B87-D2E8-A12BBDDC6B25}"/>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10CB815C-319C-FE98-065D-900885219C9C}"/>
              </a:ext>
            </a:extLst>
          </p:cNvPr>
          <p:cNvSpPr>
            <a:spLocks noGrp="1"/>
          </p:cNvSpPr>
          <p:nvPr>
            <p:ph type="body" idx="1"/>
          </p:nvPr>
        </p:nvSpPr>
        <p:spPr/>
        <p:txBody>
          <a:bodyPr/>
          <a:lstStyle/>
          <a:p>
            <a:pPr algn="l"/>
            <a:r>
              <a:rPr lang="en-GB"/>
              <a:t>Now that we’ve detected the lips, we preprocess the frames. This involves converting the video frames to grayscale, normalizing pixel values, and cropping to focus on the lip region. This preprocessing step ensures that the model can focus on the relevant parts of the video, reducing noise and improving accuracy. The time complexity is O(n * m), where </a:t>
            </a:r>
            <a:r>
              <a:rPr lang="en-GB" b="1"/>
              <a:t>n</a:t>
            </a:r>
            <a:r>
              <a:rPr lang="en-GB"/>
              <a:t> is the number of frames and </a:t>
            </a:r>
            <a:r>
              <a:rPr lang="en-GB" b="1"/>
              <a:t>m</a:t>
            </a:r>
            <a:r>
              <a:rPr lang="en-GB"/>
              <a:t> is the number of pixels per frame.</a:t>
            </a:r>
            <a:endParaRPr lang="en-IL"/>
          </a:p>
        </p:txBody>
      </p:sp>
      <p:sp>
        <p:nvSpPr>
          <p:cNvPr id="4" name="מציין מיקום של מספר שקופית 3">
            <a:extLst>
              <a:ext uri="{FF2B5EF4-FFF2-40B4-BE49-F238E27FC236}">
                <a16:creationId xmlns:a16="http://schemas.microsoft.com/office/drawing/2014/main" id="{2F880C67-6D2C-7EC0-287E-5370EDA3D8FC}"/>
              </a:ext>
            </a:extLst>
          </p:cNvPr>
          <p:cNvSpPr>
            <a:spLocks noGrp="1"/>
          </p:cNvSpPr>
          <p:nvPr>
            <p:ph type="sldNum" sz="quarter" idx="5"/>
          </p:nvPr>
        </p:nvSpPr>
        <p:spPr/>
        <p:txBody>
          <a:bodyPr/>
          <a:lstStyle/>
          <a:p>
            <a:fld id="{B1EB5100-3F3F-4684-BF27-8BCA8A2A5A8E}" type="slidenum">
              <a:rPr lang="en-IL" smtClean="0"/>
              <a:t>13</a:t>
            </a:fld>
            <a:endParaRPr lang="en-IL"/>
          </a:p>
        </p:txBody>
      </p:sp>
    </p:spTree>
    <p:extLst>
      <p:ext uri="{BB962C8B-B14F-4D97-AF65-F5344CB8AC3E}">
        <p14:creationId xmlns:p14="http://schemas.microsoft.com/office/powerpoint/2010/main" val="32125955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B40815-9803-215D-24DD-5A4BDCFC0FF8}"/>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E483349A-DE84-7CAB-B160-9237987D839D}"/>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F30E96B6-20FA-9048-4DDB-6A17FAF4057F}"/>
              </a:ext>
            </a:extLst>
          </p:cNvPr>
          <p:cNvSpPr>
            <a:spLocks noGrp="1"/>
          </p:cNvSpPr>
          <p:nvPr>
            <p:ph type="body" idx="1"/>
          </p:nvPr>
        </p:nvSpPr>
        <p:spPr/>
        <p:txBody>
          <a:bodyPr/>
          <a:lstStyle/>
          <a:p>
            <a:pPr algn="l"/>
            <a:r>
              <a:rPr lang="en-GB"/>
              <a:t>The next step is feature extraction. We use </a:t>
            </a:r>
            <a:r>
              <a:rPr lang="en-GB" b="1"/>
              <a:t>3D-CNN</a:t>
            </a:r>
            <a:r>
              <a:rPr lang="en-GB"/>
              <a:t> (3D Convolutional Neural Networks) to capture spatial and temporal features across consecutive frames. This allows the system to understand the movement and context over time. Additionally, we use </a:t>
            </a:r>
            <a:r>
              <a:rPr lang="en-GB" b="1"/>
              <a:t>2D-ResNet</a:t>
            </a:r>
            <a:r>
              <a:rPr lang="en-GB"/>
              <a:t>, a deep network architecture, for dimensionality reduction. This reduces the complexity of the features while retaining important visual information. The time complexity for 3D-CNN is O(n * m * f * k), where </a:t>
            </a:r>
            <a:r>
              <a:rPr lang="en-GB" b="1"/>
              <a:t>f</a:t>
            </a:r>
            <a:r>
              <a:rPr lang="en-GB"/>
              <a:t> is the filter size and </a:t>
            </a:r>
            <a:r>
              <a:rPr lang="en-GB" b="1"/>
              <a:t>k</a:t>
            </a:r>
            <a:r>
              <a:rPr lang="en-GB"/>
              <a:t> is the number of filters. For </a:t>
            </a:r>
            <a:r>
              <a:rPr lang="en-GB" err="1"/>
              <a:t>ResNet</a:t>
            </a:r>
            <a:r>
              <a:rPr lang="en-GB"/>
              <a:t>, it's O(n * m * d), where </a:t>
            </a:r>
            <a:r>
              <a:rPr lang="en-GB" b="1"/>
              <a:t>d</a:t>
            </a:r>
            <a:r>
              <a:rPr lang="en-GB"/>
              <a:t> is the feature dimension.</a:t>
            </a:r>
          </a:p>
          <a:p>
            <a:pPr algn="l"/>
            <a:r>
              <a:rPr lang="en-GB"/>
              <a:t>We dynamically adjust the </a:t>
            </a:r>
            <a:r>
              <a:rPr lang="en-GB" b="1"/>
              <a:t>timing variables</a:t>
            </a:r>
            <a:r>
              <a:rPr lang="en-GB"/>
              <a:t> such as </a:t>
            </a:r>
            <a:r>
              <a:rPr lang="en-GB" b="1"/>
              <a:t>Space Between Letters (SBL)</a:t>
            </a:r>
            <a:r>
              <a:rPr lang="en-GB"/>
              <a:t> and </a:t>
            </a:r>
            <a:r>
              <a:rPr lang="en-GB" b="1"/>
              <a:t>Space Between Words (SBW)</a:t>
            </a:r>
            <a:r>
              <a:rPr lang="en-GB"/>
              <a:t> based on the speaking speed. If the speaker talks quickly, we compress the space between letters and words; if the speaker talks slowly, we expand those spaces. This allows the system to be more accurate when processing frames at different paces</a:t>
            </a:r>
            <a:endParaRPr lang="en-IL"/>
          </a:p>
        </p:txBody>
      </p:sp>
      <p:sp>
        <p:nvSpPr>
          <p:cNvPr id="4" name="מציין מיקום של מספר שקופית 3">
            <a:extLst>
              <a:ext uri="{FF2B5EF4-FFF2-40B4-BE49-F238E27FC236}">
                <a16:creationId xmlns:a16="http://schemas.microsoft.com/office/drawing/2014/main" id="{03179FB7-29A2-84C5-0409-6235903D4FF9}"/>
              </a:ext>
            </a:extLst>
          </p:cNvPr>
          <p:cNvSpPr>
            <a:spLocks noGrp="1"/>
          </p:cNvSpPr>
          <p:nvPr>
            <p:ph type="sldNum" sz="quarter" idx="5"/>
          </p:nvPr>
        </p:nvSpPr>
        <p:spPr/>
        <p:txBody>
          <a:bodyPr/>
          <a:lstStyle/>
          <a:p>
            <a:fld id="{B1EB5100-3F3F-4684-BF27-8BCA8A2A5A8E}" type="slidenum">
              <a:rPr lang="en-IL" smtClean="0"/>
              <a:t>14</a:t>
            </a:fld>
            <a:endParaRPr lang="en-IL"/>
          </a:p>
        </p:txBody>
      </p:sp>
    </p:spTree>
    <p:extLst>
      <p:ext uri="{BB962C8B-B14F-4D97-AF65-F5344CB8AC3E}">
        <p14:creationId xmlns:p14="http://schemas.microsoft.com/office/powerpoint/2010/main" val="38550551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C10E0-1290-4AD8-A81E-D784A7156638}"/>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CA351F17-3BF0-4241-A218-21EC7980E627}"/>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759A2B05-109C-A9BC-A562-E3BE22193DA6}"/>
              </a:ext>
            </a:extLst>
          </p:cNvPr>
          <p:cNvSpPr>
            <a:spLocks noGrp="1"/>
          </p:cNvSpPr>
          <p:nvPr>
            <p:ph type="body" idx="1"/>
          </p:nvPr>
        </p:nvSpPr>
        <p:spPr/>
        <p:txBody>
          <a:bodyPr/>
          <a:lstStyle/>
          <a:p>
            <a:pPr algn="l"/>
            <a:r>
              <a:rPr lang="en-GB"/>
              <a:t>Once the features are extracted, we move to </a:t>
            </a:r>
            <a:r>
              <a:rPr lang="en-GB" b="1"/>
              <a:t>viseme classification</a:t>
            </a:r>
            <a:r>
              <a:rPr lang="en-GB"/>
              <a:t>. Here, we use a </a:t>
            </a:r>
            <a:r>
              <a:rPr lang="en-GB" b="1"/>
              <a:t>Transformer</a:t>
            </a:r>
            <a:r>
              <a:rPr lang="en-GB"/>
              <a:t> model to process the features and classify them into visemes. Visemes are visual representations of phonemes, and the Transformer helps us understand the relationship between them over time. The time complexity of the Transformer model is O(n * d * T), where </a:t>
            </a:r>
            <a:r>
              <a:rPr lang="en-GB" b="1"/>
              <a:t>n</a:t>
            </a:r>
            <a:r>
              <a:rPr lang="en-GB"/>
              <a:t> is the number of frames, </a:t>
            </a:r>
            <a:r>
              <a:rPr lang="en-GB" b="1"/>
              <a:t>d</a:t>
            </a:r>
            <a:r>
              <a:rPr lang="en-GB"/>
              <a:t> is the feature dimension, and </a:t>
            </a:r>
            <a:r>
              <a:rPr lang="en-GB" b="1"/>
              <a:t>T</a:t>
            </a:r>
            <a:r>
              <a:rPr lang="en-GB"/>
              <a:t> is the number of layers in the model. The system classifies visemes using a </a:t>
            </a:r>
            <a:r>
              <a:rPr lang="en-GB" b="1"/>
              <a:t>Transformer</a:t>
            </a:r>
            <a:r>
              <a:rPr lang="en-GB"/>
              <a:t> model. The key improvement here is </a:t>
            </a:r>
            <a:r>
              <a:rPr lang="en-GB" b="1"/>
              <a:t>dynamic timing</a:t>
            </a:r>
            <a:r>
              <a:rPr lang="en-GB"/>
              <a:t>. For instance, the system dynamically adjusts the </a:t>
            </a:r>
            <a:r>
              <a:rPr lang="en-GB" b="1"/>
              <a:t>Space Between Letters (SBL)</a:t>
            </a:r>
            <a:r>
              <a:rPr lang="en-GB"/>
              <a:t> and </a:t>
            </a:r>
            <a:r>
              <a:rPr lang="en-GB" b="1"/>
              <a:t>Space Between Words (SBW)</a:t>
            </a:r>
            <a:r>
              <a:rPr lang="en-GB"/>
              <a:t> based on speaking speed. This allows the model to recognize faster or slower speech more accurately.</a:t>
            </a:r>
          </a:p>
        </p:txBody>
      </p:sp>
      <p:sp>
        <p:nvSpPr>
          <p:cNvPr id="4" name="מציין מיקום של מספר שקופית 3">
            <a:extLst>
              <a:ext uri="{FF2B5EF4-FFF2-40B4-BE49-F238E27FC236}">
                <a16:creationId xmlns:a16="http://schemas.microsoft.com/office/drawing/2014/main" id="{178D6350-B120-1CEB-F460-F22BB33454B9}"/>
              </a:ext>
            </a:extLst>
          </p:cNvPr>
          <p:cNvSpPr>
            <a:spLocks noGrp="1"/>
          </p:cNvSpPr>
          <p:nvPr>
            <p:ph type="sldNum" sz="quarter" idx="5"/>
          </p:nvPr>
        </p:nvSpPr>
        <p:spPr/>
        <p:txBody>
          <a:bodyPr/>
          <a:lstStyle/>
          <a:p>
            <a:fld id="{B1EB5100-3F3F-4684-BF27-8BCA8A2A5A8E}" type="slidenum">
              <a:rPr lang="en-IL" smtClean="0"/>
              <a:t>15</a:t>
            </a:fld>
            <a:endParaRPr lang="en-IL"/>
          </a:p>
        </p:txBody>
      </p:sp>
    </p:spTree>
    <p:extLst>
      <p:ext uri="{BB962C8B-B14F-4D97-AF65-F5344CB8AC3E}">
        <p14:creationId xmlns:p14="http://schemas.microsoft.com/office/powerpoint/2010/main" val="42868543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8D8102-9AA0-79EC-A4CD-1878533CC7FB}"/>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B9D95FA7-77A0-1614-812C-189E843CC06C}"/>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CBA80659-F0F8-4297-EBC3-5E1C0783CC31}"/>
              </a:ext>
            </a:extLst>
          </p:cNvPr>
          <p:cNvSpPr>
            <a:spLocks noGrp="1"/>
          </p:cNvSpPr>
          <p:nvPr>
            <p:ph type="body" idx="1"/>
          </p:nvPr>
        </p:nvSpPr>
        <p:spPr/>
        <p:txBody>
          <a:bodyPr/>
          <a:lstStyle/>
          <a:p>
            <a:pPr algn="l"/>
            <a:r>
              <a:rPr lang="en-GB"/>
              <a:t>Now we come to </a:t>
            </a:r>
            <a:r>
              <a:rPr lang="en-GB" b="1"/>
              <a:t>sentence reconstruction</a:t>
            </a:r>
            <a:r>
              <a:rPr lang="en-GB"/>
              <a:t>. We use </a:t>
            </a:r>
            <a:r>
              <a:rPr lang="en-GB" b="1"/>
              <a:t>Beam Search</a:t>
            </a:r>
            <a:r>
              <a:rPr lang="en-GB"/>
              <a:t>, a search algorithm, to find the most likely sequence of words based on the visemes. Beam Search evaluates multiple possible sequences and selects the one with the highest probability, improving the overall accuracy of word and sentence detection. The time complexity for Beam Search is O(v * p), where </a:t>
            </a:r>
            <a:r>
              <a:rPr lang="en-GB" b="1"/>
              <a:t>v</a:t>
            </a:r>
            <a:r>
              <a:rPr lang="en-GB"/>
              <a:t> is the vocabulary size and </a:t>
            </a:r>
            <a:r>
              <a:rPr lang="en-GB" b="1"/>
              <a:t>p</a:t>
            </a:r>
            <a:r>
              <a:rPr lang="en-GB"/>
              <a:t> is the number of possible word combinations.</a:t>
            </a:r>
            <a:endParaRPr lang="en-IL"/>
          </a:p>
        </p:txBody>
      </p:sp>
      <p:sp>
        <p:nvSpPr>
          <p:cNvPr id="4" name="מציין מיקום של מספר שקופית 3">
            <a:extLst>
              <a:ext uri="{FF2B5EF4-FFF2-40B4-BE49-F238E27FC236}">
                <a16:creationId xmlns:a16="http://schemas.microsoft.com/office/drawing/2014/main" id="{EDBB2CFB-B529-02BF-AC20-5CD2446744DD}"/>
              </a:ext>
            </a:extLst>
          </p:cNvPr>
          <p:cNvSpPr>
            <a:spLocks noGrp="1"/>
          </p:cNvSpPr>
          <p:nvPr>
            <p:ph type="sldNum" sz="quarter" idx="5"/>
          </p:nvPr>
        </p:nvSpPr>
        <p:spPr/>
        <p:txBody>
          <a:bodyPr/>
          <a:lstStyle/>
          <a:p>
            <a:fld id="{B1EB5100-3F3F-4684-BF27-8BCA8A2A5A8E}" type="slidenum">
              <a:rPr lang="en-IL" smtClean="0"/>
              <a:t>16</a:t>
            </a:fld>
            <a:endParaRPr lang="en-IL"/>
          </a:p>
        </p:txBody>
      </p:sp>
    </p:spTree>
    <p:extLst>
      <p:ext uri="{BB962C8B-B14F-4D97-AF65-F5344CB8AC3E}">
        <p14:creationId xmlns:p14="http://schemas.microsoft.com/office/powerpoint/2010/main" val="23446136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A0BC58-1B49-0B59-C86F-A49098E395A7}"/>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800E88EC-3D12-24DC-D7D6-5436E3ED6E74}"/>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25BABFDC-6428-0376-FD08-3715B28FB41F}"/>
              </a:ext>
            </a:extLst>
          </p:cNvPr>
          <p:cNvSpPr>
            <a:spLocks noGrp="1"/>
          </p:cNvSpPr>
          <p:nvPr>
            <p:ph type="body" idx="1"/>
          </p:nvPr>
        </p:nvSpPr>
        <p:spPr/>
        <p:txBody>
          <a:bodyPr/>
          <a:lstStyle/>
          <a:p>
            <a:pPr algn="l"/>
            <a:r>
              <a:rPr lang="en-US"/>
              <a:t>Summary of time complexity</a:t>
            </a:r>
            <a:endParaRPr lang="en-IL"/>
          </a:p>
        </p:txBody>
      </p:sp>
      <p:sp>
        <p:nvSpPr>
          <p:cNvPr id="4" name="מציין מיקום של מספר שקופית 3">
            <a:extLst>
              <a:ext uri="{FF2B5EF4-FFF2-40B4-BE49-F238E27FC236}">
                <a16:creationId xmlns:a16="http://schemas.microsoft.com/office/drawing/2014/main" id="{795444ED-5E9C-0CC7-68C5-420FFE4C2996}"/>
              </a:ext>
            </a:extLst>
          </p:cNvPr>
          <p:cNvSpPr>
            <a:spLocks noGrp="1"/>
          </p:cNvSpPr>
          <p:nvPr>
            <p:ph type="sldNum" sz="quarter" idx="5"/>
          </p:nvPr>
        </p:nvSpPr>
        <p:spPr/>
        <p:txBody>
          <a:bodyPr/>
          <a:lstStyle/>
          <a:p>
            <a:fld id="{B1EB5100-3F3F-4684-BF27-8BCA8A2A5A8E}" type="slidenum">
              <a:rPr lang="en-IL" smtClean="0"/>
              <a:t>17</a:t>
            </a:fld>
            <a:endParaRPr lang="en-IL"/>
          </a:p>
        </p:txBody>
      </p:sp>
    </p:spTree>
    <p:extLst>
      <p:ext uri="{BB962C8B-B14F-4D97-AF65-F5344CB8AC3E}">
        <p14:creationId xmlns:p14="http://schemas.microsoft.com/office/powerpoint/2010/main" val="3486050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r>
              <a:rPr lang="en-US"/>
              <a:t>This </a:t>
            </a:r>
            <a:r>
              <a:rPr lang="en-US" b="1"/>
              <a:t>Training System Diagram</a:t>
            </a:r>
            <a:r>
              <a:rPr lang="en-US"/>
              <a:t> outlines the </a:t>
            </a:r>
            <a:r>
              <a:rPr lang="en-US" b="1"/>
              <a:t>workflow of training our lip-reading model</a:t>
            </a:r>
            <a:r>
              <a:rPr lang="en-US"/>
              <a:t>. It illustrates how data moves through different components of the system.</a:t>
            </a:r>
          </a:p>
          <a:p>
            <a:pPr algn="l" rtl="0">
              <a:buFont typeface="+mj-lt"/>
              <a:buAutoNum type="arabicPeriod"/>
            </a:pPr>
            <a:r>
              <a:rPr lang="en-US" b="1"/>
              <a:t>Data Preparation:</a:t>
            </a:r>
            <a:endParaRPr lang="en-US"/>
          </a:p>
          <a:p>
            <a:pPr marL="742950" lvl="1" indent="-285750" algn="l" rtl="0">
              <a:buFont typeface="+mj-lt"/>
              <a:buAutoNum type="arabicPeriod"/>
            </a:pPr>
            <a:r>
              <a:rPr lang="en-US"/>
              <a:t>The process starts with </a:t>
            </a:r>
            <a:r>
              <a:rPr lang="en-US" b="1"/>
              <a:t>importing the dataset</a:t>
            </a:r>
            <a:r>
              <a:rPr lang="en-US"/>
              <a:t>, which includes </a:t>
            </a:r>
            <a:r>
              <a:rPr lang="en-US" b="1"/>
              <a:t>video files and viseme labels</a:t>
            </a:r>
            <a:r>
              <a:rPr lang="en-US"/>
              <a:t>.</a:t>
            </a:r>
          </a:p>
          <a:p>
            <a:pPr marL="742950" lvl="1" indent="-285750" algn="l" rtl="0">
              <a:buFont typeface="+mj-lt"/>
              <a:buAutoNum type="arabicPeriod"/>
            </a:pPr>
            <a:r>
              <a:rPr lang="en-US"/>
              <a:t>The frames are </a:t>
            </a:r>
            <a:r>
              <a:rPr lang="en-US" b="1"/>
              <a:t>normalized and resized</a:t>
            </a:r>
            <a:r>
              <a:rPr lang="en-US"/>
              <a:t>, and </a:t>
            </a:r>
            <a:r>
              <a:rPr lang="en-US" b="1"/>
              <a:t>face and landmark detection</a:t>
            </a:r>
            <a:r>
              <a:rPr lang="en-US"/>
              <a:t> is applied to focus on the lip region.</a:t>
            </a:r>
          </a:p>
          <a:p>
            <a:pPr marL="742950" lvl="1" indent="-285750" algn="l" rtl="0">
              <a:buFont typeface="+mj-lt"/>
              <a:buAutoNum type="arabicPeriod"/>
            </a:pPr>
            <a:r>
              <a:rPr lang="en-US" b="1"/>
              <a:t>Data augmentation</a:t>
            </a:r>
            <a:r>
              <a:rPr lang="en-US"/>
              <a:t> is then used to improve model generalization.</a:t>
            </a:r>
          </a:p>
          <a:p>
            <a:pPr algn="l" rtl="0">
              <a:buFont typeface="+mj-lt"/>
              <a:buAutoNum type="arabicPeriod"/>
            </a:pPr>
            <a:r>
              <a:rPr lang="en-US" b="1"/>
              <a:t>Feature Extraction:</a:t>
            </a:r>
            <a:endParaRPr lang="en-US"/>
          </a:p>
          <a:p>
            <a:pPr marL="742950" lvl="1" indent="-285750" algn="l" rtl="0">
              <a:buFont typeface="+mj-lt"/>
              <a:buAutoNum type="arabicPeriod"/>
            </a:pPr>
            <a:r>
              <a:rPr lang="en-US"/>
              <a:t>Preprocessed frames are passed through a </a:t>
            </a:r>
            <a:r>
              <a:rPr lang="en-US" b="1"/>
              <a:t>3D-CNN</a:t>
            </a:r>
            <a:r>
              <a:rPr lang="en-US"/>
              <a:t>, which extracts </a:t>
            </a:r>
            <a:r>
              <a:rPr lang="en-US" b="1"/>
              <a:t>spatial and temporal features</a:t>
            </a:r>
            <a:r>
              <a:rPr lang="en-US"/>
              <a:t> from the video.</a:t>
            </a:r>
          </a:p>
          <a:p>
            <a:pPr marL="742950" lvl="1" indent="-285750" algn="l" rtl="0">
              <a:buFont typeface="+mj-lt"/>
              <a:buAutoNum type="arabicPeriod"/>
            </a:pPr>
            <a:r>
              <a:rPr lang="en-US"/>
              <a:t>These extracted features are then converted into </a:t>
            </a:r>
            <a:r>
              <a:rPr lang="en-US" b="1"/>
              <a:t>feature vectors</a:t>
            </a:r>
            <a:r>
              <a:rPr lang="en-US"/>
              <a:t> and passed to the </a:t>
            </a:r>
            <a:r>
              <a:rPr lang="en-US" b="1"/>
              <a:t>Transformer</a:t>
            </a:r>
            <a:r>
              <a:rPr lang="en-US"/>
              <a:t> for further processing.</a:t>
            </a:r>
          </a:p>
          <a:p>
            <a:pPr algn="l" rtl="0">
              <a:buFont typeface="+mj-lt"/>
              <a:buAutoNum type="arabicPeriod"/>
            </a:pPr>
            <a:r>
              <a:rPr lang="en-US" b="1"/>
              <a:t>Viseme Classification &amp; Word Mapping:</a:t>
            </a:r>
            <a:endParaRPr lang="en-US"/>
          </a:p>
          <a:p>
            <a:pPr marL="742950" lvl="1" indent="-285750" algn="l" rtl="0">
              <a:buFont typeface="+mj-lt"/>
              <a:buAutoNum type="arabicPeriod"/>
            </a:pPr>
            <a:r>
              <a:rPr lang="en-US"/>
              <a:t>The </a:t>
            </a:r>
            <a:r>
              <a:rPr lang="en-US" b="1"/>
              <a:t>Transformer</a:t>
            </a:r>
            <a:r>
              <a:rPr lang="en-US"/>
              <a:t> classifies </a:t>
            </a:r>
            <a:r>
              <a:rPr lang="en-US" b="1"/>
              <a:t>viseme sequences</a:t>
            </a:r>
            <a:r>
              <a:rPr lang="en-US"/>
              <a:t> and maps them to </a:t>
            </a:r>
            <a:r>
              <a:rPr lang="en-US" b="1"/>
              <a:t>words</a:t>
            </a:r>
            <a:r>
              <a:rPr lang="en-US"/>
              <a:t>.</a:t>
            </a:r>
          </a:p>
          <a:p>
            <a:pPr marL="742950" lvl="1" indent="-285750" algn="l" rtl="0">
              <a:buFont typeface="+mj-lt"/>
              <a:buAutoNum type="arabicPeriod"/>
            </a:pPr>
            <a:r>
              <a:rPr lang="en-US" b="1"/>
              <a:t>Beam search</a:t>
            </a:r>
            <a:r>
              <a:rPr lang="en-US"/>
              <a:t> is applied to refine sentence prediction.</a:t>
            </a:r>
          </a:p>
          <a:p>
            <a:pPr algn="l" rtl="0">
              <a:buFont typeface="+mj-lt"/>
              <a:buAutoNum type="arabicPeriod"/>
            </a:pPr>
            <a:r>
              <a:rPr lang="en-US" b="1"/>
              <a:t>Training Optimization:</a:t>
            </a:r>
            <a:endParaRPr lang="en-US"/>
          </a:p>
          <a:p>
            <a:pPr marL="742950" lvl="1" indent="-285750" algn="l" rtl="0">
              <a:buFont typeface="+mj-lt"/>
              <a:buAutoNum type="arabicPeriod"/>
            </a:pPr>
            <a:r>
              <a:rPr lang="en-US"/>
              <a:t>The model undergoes </a:t>
            </a:r>
            <a:r>
              <a:rPr lang="en-US" b="1"/>
              <a:t>training with a dynamic learning rate</a:t>
            </a:r>
            <a:r>
              <a:rPr lang="en-US"/>
              <a:t>, improving adaptation to different datasets.</a:t>
            </a:r>
          </a:p>
          <a:p>
            <a:pPr marL="742950" lvl="1" indent="-285750" algn="l" rtl="0">
              <a:buFont typeface="+mj-lt"/>
              <a:buAutoNum type="arabicPeriod"/>
            </a:pPr>
            <a:r>
              <a:rPr lang="en-US" b="1"/>
              <a:t>Dropout and </a:t>
            </a:r>
            <a:r>
              <a:rPr lang="en-US" b="1" err="1"/>
              <a:t>Softmax</a:t>
            </a:r>
            <a:r>
              <a:rPr lang="en-US" b="1"/>
              <a:t> layers</a:t>
            </a:r>
            <a:r>
              <a:rPr lang="en-US"/>
              <a:t> are included to prevent overfitting and optimize classification.</a:t>
            </a:r>
          </a:p>
          <a:p>
            <a:pPr algn="l" rtl="0">
              <a:buFont typeface="+mj-lt"/>
              <a:buAutoNum type="arabicPeriod"/>
            </a:pPr>
            <a:r>
              <a:rPr lang="en-US" b="1"/>
              <a:t>Model Evaluation &amp; Saving:</a:t>
            </a:r>
            <a:endParaRPr lang="en-US"/>
          </a:p>
          <a:p>
            <a:pPr marL="742950" lvl="1" indent="-285750" algn="l" rtl="0">
              <a:buFont typeface="+mj-lt"/>
              <a:buAutoNum type="arabicPeriod"/>
            </a:pPr>
            <a:r>
              <a:rPr lang="en-US"/>
              <a:t>After training, the model is </a:t>
            </a:r>
            <a:r>
              <a:rPr lang="en-US" b="1"/>
              <a:t>optimized</a:t>
            </a:r>
            <a:r>
              <a:rPr lang="en-US"/>
              <a:t>, its performance is </a:t>
            </a:r>
            <a:r>
              <a:rPr lang="en-US" b="1"/>
              <a:t>evaluated</a:t>
            </a:r>
            <a:r>
              <a:rPr lang="en-US"/>
              <a:t>, and the trained model is </a:t>
            </a:r>
            <a:r>
              <a:rPr lang="en-US" b="1"/>
              <a:t>saved</a:t>
            </a:r>
            <a:r>
              <a:rPr lang="en-US"/>
              <a:t>.</a:t>
            </a:r>
          </a:p>
          <a:p>
            <a:pPr marL="742950" lvl="1" indent="-285750" algn="l" rtl="0">
              <a:buFont typeface="+mj-lt"/>
              <a:buAutoNum type="arabicPeriod"/>
            </a:pPr>
            <a:r>
              <a:rPr lang="en-US"/>
              <a:t>Training logs are exported for further analysis.</a:t>
            </a:r>
          </a:p>
          <a:p>
            <a:pPr algn="l" rtl="0"/>
            <a:r>
              <a:rPr lang="en-US"/>
              <a:t>This process ensures that our model is trained efficiently, making it more </a:t>
            </a:r>
            <a:r>
              <a:rPr lang="en-US" b="1"/>
              <a:t>accurate, adaptable, and effective</a:t>
            </a:r>
            <a:r>
              <a:rPr lang="en-US"/>
              <a:t> in real-world lip-reading applications</a:t>
            </a:r>
          </a:p>
          <a:p>
            <a:pPr algn="l" rtl="0"/>
            <a:endParaRPr lang="he-IL"/>
          </a:p>
        </p:txBody>
      </p:sp>
      <p:sp>
        <p:nvSpPr>
          <p:cNvPr id="4" name="Slide Number Placeholder 3"/>
          <p:cNvSpPr>
            <a:spLocks noGrp="1"/>
          </p:cNvSpPr>
          <p:nvPr>
            <p:ph type="sldNum" sz="quarter" idx="5"/>
          </p:nvPr>
        </p:nvSpPr>
        <p:spPr/>
        <p:txBody>
          <a:bodyPr/>
          <a:lstStyle/>
          <a:p>
            <a:fld id="{B1EB5100-3F3F-4684-BF27-8BCA8A2A5A8E}" type="slidenum">
              <a:rPr lang="en-IL" smtClean="0"/>
              <a:t>19</a:t>
            </a:fld>
            <a:endParaRPr lang="en-IL"/>
          </a:p>
        </p:txBody>
      </p:sp>
    </p:spTree>
    <p:extLst>
      <p:ext uri="{BB962C8B-B14F-4D97-AF65-F5344CB8AC3E}">
        <p14:creationId xmlns:p14="http://schemas.microsoft.com/office/powerpoint/2010/main" val="379064241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r>
              <a:rPr lang="en-US"/>
              <a:t>This </a:t>
            </a:r>
            <a:r>
              <a:rPr lang="en-US" b="1"/>
              <a:t>Use Case Diagram</a:t>
            </a:r>
            <a:r>
              <a:rPr lang="en-US"/>
              <a:t> represents the main interactions a user has with the </a:t>
            </a:r>
            <a:r>
              <a:rPr lang="en-US" b="1"/>
              <a:t>VisoSpeak system</a:t>
            </a:r>
            <a:r>
              <a:rPr lang="en-US"/>
              <a:t>.</a:t>
            </a:r>
          </a:p>
          <a:p>
            <a:pPr algn="l" rtl="0">
              <a:buFont typeface="Arial" panose="020B0604020202020204" pitchFamily="34" charset="0"/>
              <a:buChar char="•"/>
            </a:pPr>
            <a:r>
              <a:rPr lang="en-US"/>
              <a:t>The </a:t>
            </a:r>
            <a:r>
              <a:rPr lang="en-US" b="1"/>
              <a:t>user</a:t>
            </a:r>
            <a:r>
              <a:rPr lang="en-US"/>
              <a:t> can </a:t>
            </a:r>
            <a:r>
              <a:rPr lang="en-US" b="1"/>
              <a:t>upload a video</a:t>
            </a:r>
            <a:r>
              <a:rPr lang="en-US"/>
              <a:t> either by </a:t>
            </a:r>
            <a:r>
              <a:rPr lang="en-US" b="1"/>
              <a:t>pressing the upload button</a:t>
            </a:r>
            <a:r>
              <a:rPr lang="en-US"/>
              <a:t> or by </a:t>
            </a:r>
            <a:r>
              <a:rPr lang="en-US" b="1"/>
              <a:t>dragging and dropping a file</a:t>
            </a:r>
            <a:r>
              <a:rPr lang="en-US"/>
              <a:t> into the system.</a:t>
            </a:r>
          </a:p>
          <a:p>
            <a:pPr algn="l" rtl="0">
              <a:buFont typeface="Arial" panose="020B0604020202020204" pitchFamily="34" charset="0"/>
              <a:buChar char="•"/>
            </a:pPr>
            <a:r>
              <a:rPr lang="en-US"/>
              <a:t>Once the video is uploaded, the user can </a:t>
            </a:r>
            <a:r>
              <a:rPr lang="en-US" b="1"/>
              <a:t>press the analyze button</a:t>
            </a:r>
            <a:r>
              <a:rPr lang="en-US"/>
              <a:t>, which triggers the </a:t>
            </a:r>
            <a:r>
              <a:rPr lang="en-US" b="1"/>
              <a:t>analyze video</a:t>
            </a:r>
            <a:r>
              <a:rPr lang="en-US"/>
              <a:t> process.</a:t>
            </a:r>
          </a:p>
          <a:p>
            <a:pPr algn="l" rtl="0">
              <a:buFont typeface="Arial" panose="020B0604020202020204" pitchFamily="34" charset="0"/>
              <a:buChar char="•"/>
            </a:pPr>
            <a:r>
              <a:rPr lang="en-US"/>
              <a:t>After analysis, the system allows the user to </a:t>
            </a:r>
            <a:r>
              <a:rPr lang="en-US" b="1"/>
              <a:t>print the results</a:t>
            </a:r>
            <a:r>
              <a:rPr lang="en-US"/>
              <a:t> or </a:t>
            </a:r>
            <a:r>
              <a:rPr lang="en-US" b="1"/>
              <a:t>save them</a:t>
            </a:r>
            <a:r>
              <a:rPr lang="en-US"/>
              <a:t> for future reference.</a:t>
            </a:r>
          </a:p>
          <a:p>
            <a:pPr algn="l" rtl="0">
              <a:buFont typeface="Arial" panose="020B0604020202020204" pitchFamily="34" charset="0"/>
              <a:buChar char="•"/>
            </a:pPr>
            <a:r>
              <a:rPr lang="en-US"/>
              <a:t>There is also a </a:t>
            </a:r>
            <a:r>
              <a:rPr lang="en-US" b="1"/>
              <a:t>back button</a:t>
            </a:r>
            <a:r>
              <a:rPr lang="en-US"/>
              <a:t> that lets users navigate the interface smoothly.</a:t>
            </a:r>
          </a:p>
          <a:p>
            <a:pPr algn="l" rtl="0"/>
            <a:endParaRPr lang="he-IL"/>
          </a:p>
        </p:txBody>
      </p:sp>
      <p:sp>
        <p:nvSpPr>
          <p:cNvPr id="4" name="Slide Number Placeholder 3"/>
          <p:cNvSpPr>
            <a:spLocks noGrp="1"/>
          </p:cNvSpPr>
          <p:nvPr>
            <p:ph type="sldNum" sz="quarter" idx="5"/>
          </p:nvPr>
        </p:nvSpPr>
        <p:spPr/>
        <p:txBody>
          <a:bodyPr/>
          <a:lstStyle/>
          <a:p>
            <a:fld id="{B1EB5100-3F3F-4684-BF27-8BCA8A2A5A8E}" type="slidenum">
              <a:rPr lang="en-IL" smtClean="0"/>
              <a:t>20</a:t>
            </a:fld>
            <a:endParaRPr lang="en-IL"/>
          </a:p>
        </p:txBody>
      </p:sp>
    </p:spTree>
    <p:extLst>
      <p:ext uri="{BB962C8B-B14F-4D97-AF65-F5344CB8AC3E}">
        <p14:creationId xmlns:p14="http://schemas.microsoft.com/office/powerpoint/2010/main" val="10335904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accent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109980" y="882376"/>
            <a:ext cx="9966960" cy="2926080"/>
          </a:xfrm>
        </p:spPr>
        <p:txBody>
          <a:bodyPr anchor="b">
            <a:normAutofit/>
          </a:bodyPr>
          <a:lstStyle>
            <a:lvl1pPr algn="ctr">
              <a:lnSpc>
                <a:spcPct val="85000"/>
              </a:lnSpc>
              <a:defRPr sz="7200" b="1" cap="all" baseline="0">
                <a:solidFill>
                  <a:srgbClr val="FFFFFF"/>
                </a:solidFill>
              </a:defRPr>
            </a:lvl1pPr>
          </a:lstStyle>
          <a:p>
            <a:r>
              <a:rPr lang="en-US"/>
              <a:t>Click to edit Master title style</a:t>
            </a:r>
          </a:p>
        </p:txBody>
      </p:sp>
      <p:sp>
        <p:nvSpPr>
          <p:cNvPr id="3" name="Subtitle 2"/>
          <p:cNvSpPr>
            <a:spLocks noGrp="1"/>
          </p:cNvSpPr>
          <p:nvPr>
            <p:ph type="subTitle" idx="1"/>
          </p:nvPr>
        </p:nvSpPr>
        <p:spPr>
          <a:xfrm>
            <a:off x="1709530" y="3869634"/>
            <a:ext cx="8767860" cy="1388165"/>
          </a:xfrm>
        </p:spPr>
        <p:txBody>
          <a:bodyPr>
            <a:normAutofit/>
          </a:bodyPr>
          <a:lstStyle>
            <a:lvl1pPr marL="0" indent="0" algn="ctr">
              <a:buNone/>
              <a:defRPr sz="2200">
                <a:solidFill>
                  <a:srgbClr val="FFFFFF"/>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p>
        </p:txBody>
      </p:sp>
      <p:sp>
        <p:nvSpPr>
          <p:cNvPr id="4" name="Date Placeholder 3"/>
          <p:cNvSpPr>
            <a:spLocks noGrp="1"/>
          </p:cNvSpPr>
          <p:nvPr>
            <p:ph type="dt" sz="half" idx="10"/>
          </p:nvPr>
        </p:nvSpPr>
        <p:spPr/>
        <p:txBody>
          <a:bodyPr/>
          <a:lstStyle>
            <a:lvl1pPr>
              <a:defRPr>
                <a:solidFill>
                  <a:srgbClr val="FFFFFF"/>
                </a:solidFill>
              </a:defRPr>
            </a:lvl1pPr>
          </a:lstStyle>
          <a:p>
            <a:fld id="{C9A654E8-B27F-4FBC-8C13-FCE49D6C3970}" type="datetimeFigureOut">
              <a:rPr lang="en-IL" smtClean="0"/>
              <a:t>02/03/2025</a:t>
            </a:fld>
            <a:endParaRPr lang="en-IL"/>
          </a:p>
        </p:txBody>
      </p:sp>
      <p:sp>
        <p:nvSpPr>
          <p:cNvPr id="5" name="Footer Placeholder 4"/>
          <p:cNvSpPr>
            <a:spLocks noGrp="1"/>
          </p:cNvSpPr>
          <p:nvPr>
            <p:ph type="ftr" sz="quarter" idx="11"/>
          </p:nvPr>
        </p:nvSpPr>
        <p:spPr/>
        <p:txBody>
          <a:bodyPr/>
          <a:lstStyle>
            <a:lvl1pPr>
              <a:defRPr>
                <a:solidFill>
                  <a:srgbClr val="FFFFFF"/>
                </a:solidFill>
              </a:defRPr>
            </a:lvl1pPr>
          </a:lstStyle>
          <a:p>
            <a:endParaRPr lang="en-IL"/>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135B17FB-6829-41EE-A149-E4AC190BB076}" type="slidenum">
              <a:rPr lang="en-IL" smtClean="0"/>
              <a:t>‹#›</a:t>
            </a:fld>
            <a:endParaRPr lang="en-IL"/>
          </a:p>
        </p:txBody>
      </p:sp>
      <p:cxnSp>
        <p:nvCxnSpPr>
          <p:cNvPr id="8" name="Straight Connector 7"/>
          <p:cNvCxnSpPr/>
          <p:nvPr/>
        </p:nvCxnSpPr>
        <p:spPr>
          <a:xfrm>
            <a:off x="1978660" y="3733800"/>
            <a:ext cx="8229601"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21971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9A654E8-B27F-4FBC-8C13-FCE49D6C3970}" type="datetimeFigureOut">
              <a:rPr lang="en-IL" smtClean="0"/>
              <a:t>02/03/2025</a:t>
            </a:fld>
            <a:endParaRPr lang="en-IL"/>
          </a:p>
        </p:txBody>
      </p:sp>
      <p:sp>
        <p:nvSpPr>
          <p:cNvPr id="5" name="Footer Placeholder 4"/>
          <p:cNvSpPr>
            <a:spLocks noGrp="1"/>
          </p:cNvSpPr>
          <p:nvPr>
            <p:ph type="ftr" sz="quarter" idx="11"/>
          </p:nvPr>
        </p:nvSpPr>
        <p:spPr/>
        <p:txBody>
          <a:bodyPr/>
          <a:lstStyle/>
          <a:p>
            <a:endParaRPr lang="en-IL"/>
          </a:p>
        </p:txBody>
      </p:sp>
      <p:sp>
        <p:nvSpPr>
          <p:cNvPr id="6" name="Slide Number Placeholder 5"/>
          <p:cNvSpPr>
            <a:spLocks noGrp="1"/>
          </p:cNvSpPr>
          <p:nvPr>
            <p:ph type="sldNum" sz="quarter" idx="12"/>
          </p:nvPr>
        </p:nvSpPr>
        <p:spPr/>
        <p:txBody>
          <a:bodyPr/>
          <a:lstStyle/>
          <a:p>
            <a:fld id="{135B17FB-6829-41EE-A149-E4AC190BB076}" type="slidenum">
              <a:rPr lang="en-IL" smtClean="0"/>
              <a:t>‹#›</a:t>
            </a:fld>
            <a:endParaRPr lang="en-IL"/>
          </a:p>
        </p:txBody>
      </p:sp>
    </p:spTree>
    <p:extLst>
      <p:ext uri="{BB962C8B-B14F-4D97-AF65-F5344CB8AC3E}">
        <p14:creationId xmlns:p14="http://schemas.microsoft.com/office/powerpoint/2010/main" val="14939168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06424" y="1173575"/>
            <a:ext cx="9966960" cy="2926080"/>
          </a:xfrm>
        </p:spPr>
        <p:txBody>
          <a:bodyPr anchor="b">
            <a:noAutofit/>
          </a:bodyPr>
          <a:lstStyle>
            <a:lvl1pPr algn="ctr">
              <a:lnSpc>
                <a:spcPct val="85000"/>
              </a:lnSpc>
              <a:defRPr sz="7200" b="0" cap="all" baseline="0"/>
            </a:lvl1pPr>
          </a:lstStyle>
          <a:p>
            <a:r>
              <a:rPr lang="en-US"/>
              <a:t>Click to edit Master title style</a:t>
            </a:r>
          </a:p>
        </p:txBody>
      </p:sp>
      <p:sp>
        <p:nvSpPr>
          <p:cNvPr id="3" name="Text Placeholder 2"/>
          <p:cNvSpPr>
            <a:spLocks noGrp="1"/>
          </p:cNvSpPr>
          <p:nvPr>
            <p:ph type="body" idx="1"/>
          </p:nvPr>
        </p:nvSpPr>
        <p:spPr>
          <a:xfrm>
            <a:off x="1709928" y="4154520"/>
            <a:ext cx="8769096" cy="1363806"/>
          </a:xfrm>
        </p:spPr>
        <p:txBody>
          <a:bodyPr anchor="t">
            <a:normAutofit/>
          </a:bodyPr>
          <a:lstStyle>
            <a:lvl1pPr marL="0" indent="0" algn="ctr">
              <a:buNone/>
              <a:defRPr sz="2200">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9A654E8-B27F-4FBC-8C13-FCE49D6C3970}" type="datetimeFigureOut">
              <a:rPr lang="en-IL" smtClean="0"/>
              <a:t>02/03/2025</a:t>
            </a:fld>
            <a:endParaRPr lang="en-IL"/>
          </a:p>
        </p:txBody>
      </p:sp>
      <p:sp>
        <p:nvSpPr>
          <p:cNvPr id="5" name="Footer Placeholder 4"/>
          <p:cNvSpPr>
            <a:spLocks noGrp="1"/>
          </p:cNvSpPr>
          <p:nvPr>
            <p:ph type="ftr" sz="quarter" idx="11"/>
          </p:nvPr>
        </p:nvSpPr>
        <p:spPr/>
        <p:txBody>
          <a:bodyPr/>
          <a:lstStyle/>
          <a:p>
            <a:endParaRPr lang="en-IL"/>
          </a:p>
        </p:txBody>
      </p:sp>
      <p:sp>
        <p:nvSpPr>
          <p:cNvPr id="6" name="Slide Number Placeholder 5"/>
          <p:cNvSpPr>
            <a:spLocks noGrp="1"/>
          </p:cNvSpPr>
          <p:nvPr>
            <p:ph type="sldNum" sz="quarter" idx="12"/>
          </p:nvPr>
        </p:nvSpPr>
        <p:spPr/>
        <p:txBody>
          <a:bodyPr/>
          <a:lstStyle/>
          <a:p>
            <a:fld id="{135B17FB-6829-41EE-A149-E4AC190BB076}" type="slidenum">
              <a:rPr lang="en-IL" smtClean="0"/>
              <a:t>‹#›</a:t>
            </a:fld>
            <a:endParaRPr lang="en-IL"/>
          </a:p>
        </p:txBody>
      </p:sp>
      <p:cxnSp>
        <p:nvCxnSpPr>
          <p:cNvPr id="7" name="Straight Connector 6"/>
          <p:cNvCxnSpPr/>
          <p:nvPr/>
        </p:nvCxnSpPr>
        <p:spPr>
          <a:xfrm>
            <a:off x="1981200" y="4020408"/>
            <a:ext cx="822960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626669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43000" y="2057399"/>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67612" y="2057400"/>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9A654E8-B27F-4FBC-8C13-FCE49D6C3970}" type="datetimeFigureOut">
              <a:rPr lang="en-IL" smtClean="0"/>
              <a:t>02/03/2025</a:t>
            </a:fld>
            <a:endParaRPr lang="en-IL"/>
          </a:p>
        </p:txBody>
      </p:sp>
      <p:sp>
        <p:nvSpPr>
          <p:cNvPr id="6" name="Footer Placeholder 5"/>
          <p:cNvSpPr>
            <a:spLocks noGrp="1"/>
          </p:cNvSpPr>
          <p:nvPr>
            <p:ph type="ftr" sz="quarter" idx="11"/>
          </p:nvPr>
        </p:nvSpPr>
        <p:spPr/>
        <p:txBody>
          <a:bodyPr/>
          <a:lstStyle/>
          <a:p>
            <a:endParaRPr lang="en-IL"/>
          </a:p>
        </p:txBody>
      </p:sp>
      <p:sp>
        <p:nvSpPr>
          <p:cNvPr id="7" name="Slide Number Placeholder 6"/>
          <p:cNvSpPr>
            <a:spLocks noGrp="1"/>
          </p:cNvSpPr>
          <p:nvPr>
            <p:ph type="sldNum" sz="quarter" idx="12"/>
          </p:nvPr>
        </p:nvSpPr>
        <p:spPr/>
        <p:txBody>
          <a:bodyPr/>
          <a:lstStyle/>
          <a:p>
            <a:fld id="{135B17FB-6829-41EE-A149-E4AC190BB076}" type="slidenum">
              <a:rPr lang="en-IL" smtClean="0"/>
              <a:t>‹#›</a:t>
            </a:fld>
            <a:endParaRPr lang="en-IL"/>
          </a:p>
        </p:txBody>
      </p:sp>
    </p:spTree>
    <p:extLst>
      <p:ext uri="{BB962C8B-B14F-4D97-AF65-F5344CB8AC3E}">
        <p14:creationId xmlns:p14="http://schemas.microsoft.com/office/powerpoint/2010/main" val="9454514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1143000" y="2001511"/>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3000" y="2721483"/>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269173" y="1999032"/>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69173" y="2719322"/>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9A654E8-B27F-4FBC-8C13-FCE49D6C3970}" type="datetimeFigureOut">
              <a:rPr lang="en-IL" smtClean="0"/>
              <a:t>02/03/2025</a:t>
            </a:fld>
            <a:endParaRPr lang="en-IL"/>
          </a:p>
        </p:txBody>
      </p:sp>
      <p:sp>
        <p:nvSpPr>
          <p:cNvPr id="8" name="Footer Placeholder 7"/>
          <p:cNvSpPr>
            <a:spLocks noGrp="1"/>
          </p:cNvSpPr>
          <p:nvPr>
            <p:ph type="ftr" sz="quarter" idx="11"/>
          </p:nvPr>
        </p:nvSpPr>
        <p:spPr/>
        <p:txBody>
          <a:bodyPr/>
          <a:lstStyle/>
          <a:p>
            <a:endParaRPr lang="en-IL"/>
          </a:p>
        </p:txBody>
      </p:sp>
      <p:sp>
        <p:nvSpPr>
          <p:cNvPr id="9" name="Slide Number Placeholder 8"/>
          <p:cNvSpPr>
            <a:spLocks noGrp="1"/>
          </p:cNvSpPr>
          <p:nvPr>
            <p:ph type="sldNum" sz="quarter" idx="12"/>
          </p:nvPr>
        </p:nvSpPr>
        <p:spPr/>
        <p:txBody>
          <a:bodyPr/>
          <a:lstStyle/>
          <a:p>
            <a:fld id="{135B17FB-6829-41EE-A149-E4AC190BB076}" type="slidenum">
              <a:rPr lang="en-IL" smtClean="0"/>
              <a:t>‹#›</a:t>
            </a:fld>
            <a:endParaRPr lang="en-IL"/>
          </a:p>
        </p:txBody>
      </p:sp>
    </p:spTree>
    <p:extLst>
      <p:ext uri="{BB962C8B-B14F-4D97-AF65-F5344CB8AC3E}">
        <p14:creationId xmlns:p14="http://schemas.microsoft.com/office/powerpoint/2010/main" val="21155235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9A654E8-B27F-4FBC-8C13-FCE49D6C3970}" type="datetimeFigureOut">
              <a:rPr lang="en-IL" smtClean="0"/>
              <a:t>02/03/2025</a:t>
            </a:fld>
            <a:endParaRPr lang="en-IL"/>
          </a:p>
        </p:txBody>
      </p:sp>
      <p:sp>
        <p:nvSpPr>
          <p:cNvPr id="4" name="Footer Placeholder 3"/>
          <p:cNvSpPr>
            <a:spLocks noGrp="1"/>
          </p:cNvSpPr>
          <p:nvPr>
            <p:ph type="ftr" sz="quarter" idx="11"/>
          </p:nvPr>
        </p:nvSpPr>
        <p:spPr/>
        <p:txBody>
          <a:bodyPr/>
          <a:lstStyle/>
          <a:p>
            <a:endParaRPr lang="en-IL"/>
          </a:p>
        </p:txBody>
      </p:sp>
      <p:sp>
        <p:nvSpPr>
          <p:cNvPr id="5" name="Slide Number Placeholder 4"/>
          <p:cNvSpPr>
            <a:spLocks noGrp="1"/>
          </p:cNvSpPr>
          <p:nvPr>
            <p:ph type="sldNum" sz="quarter" idx="12"/>
          </p:nvPr>
        </p:nvSpPr>
        <p:spPr/>
        <p:txBody>
          <a:bodyPr/>
          <a:lstStyle/>
          <a:p>
            <a:fld id="{135B17FB-6829-41EE-A149-E4AC190BB076}" type="slidenum">
              <a:rPr lang="en-IL" smtClean="0"/>
              <a:t>‹#›</a:t>
            </a:fld>
            <a:endParaRPr lang="en-IL"/>
          </a:p>
        </p:txBody>
      </p:sp>
    </p:spTree>
    <p:extLst>
      <p:ext uri="{BB962C8B-B14F-4D97-AF65-F5344CB8AC3E}">
        <p14:creationId xmlns:p14="http://schemas.microsoft.com/office/powerpoint/2010/main" val="3378021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9A654E8-B27F-4FBC-8C13-FCE49D6C3970}" type="datetimeFigureOut">
              <a:rPr lang="en-IL" smtClean="0"/>
              <a:t>02/03/2025</a:t>
            </a:fld>
            <a:endParaRPr lang="en-IL"/>
          </a:p>
        </p:txBody>
      </p:sp>
      <p:sp>
        <p:nvSpPr>
          <p:cNvPr id="3" name="Footer Placeholder 2"/>
          <p:cNvSpPr>
            <a:spLocks noGrp="1"/>
          </p:cNvSpPr>
          <p:nvPr>
            <p:ph type="ftr" sz="quarter" idx="11"/>
          </p:nvPr>
        </p:nvSpPr>
        <p:spPr/>
        <p:txBody>
          <a:bodyPr/>
          <a:lstStyle/>
          <a:p>
            <a:endParaRPr lang="en-IL"/>
          </a:p>
        </p:txBody>
      </p:sp>
      <p:sp>
        <p:nvSpPr>
          <p:cNvPr id="4" name="Slide Number Placeholder 3"/>
          <p:cNvSpPr>
            <a:spLocks noGrp="1"/>
          </p:cNvSpPr>
          <p:nvPr>
            <p:ph type="sldNum" sz="quarter" idx="12"/>
          </p:nvPr>
        </p:nvSpPr>
        <p:spPr/>
        <p:txBody>
          <a:bodyPr/>
          <a:lstStyle/>
          <a:p>
            <a:fld id="{135B17FB-6829-41EE-A149-E4AC190BB076}" type="slidenum">
              <a:rPr lang="en-IL" smtClean="0"/>
              <a:t>‹#›</a:t>
            </a:fld>
            <a:endParaRPr lang="en-IL"/>
          </a:p>
        </p:txBody>
      </p:sp>
    </p:spTree>
    <p:extLst>
      <p:ext uri="{BB962C8B-B14F-4D97-AF65-F5344CB8AC3E}">
        <p14:creationId xmlns:p14="http://schemas.microsoft.com/office/powerpoint/2010/main" val="7926671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p>
        </p:txBody>
      </p:sp>
      <p:sp>
        <p:nvSpPr>
          <p:cNvPr id="3" name="Content Placeholder 2"/>
          <p:cNvSpPr>
            <a:spLocks noGrp="1"/>
          </p:cNvSpPr>
          <p:nvPr>
            <p:ph idx="1"/>
          </p:nvPr>
        </p:nvSpPr>
        <p:spPr>
          <a:xfrm>
            <a:off x="5852159" y="1097280"/>
            <a:ext cx="5212080" cy="46634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143000" y="2834640"/>
            <a:ext cx="3931920" cy="301752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9A654E8-B27F-4FBC-8C13-FCE49D6C3970}" type="datetimeFigureOut">
              <a:rPr lang="en-IL" smtClean="0"/>
              <a:t>02/03/2025</a:t>
            </a:fld>
            <a:endParaRPr lang="en-IL"/>
          </a:p>
        </p:txBody>
      </p:sp>
      <p:sp>
        <p:nvSpPr>
          <p:cNvPr id="6" name="Footer Placeholder 5"/>
          <p:cNvSpPr>
            <a:spLocks noGrp="1"/>
          </p:cNvSpPr>
          <p:nvPr>
            <p:ph type="ftr" sz="quarter" idx="11"/>
          </p:nvPr>
        </p:nvSpPr>
        <p:spPr/>
        <p:txBody>
          <a:bodyPr/>
          <a:lstStyle/>
          <a:p>
            <a:endParaRPr lang="en-IL"/>
          </a:p>
        </p:txBody>
      </p:sp>
      <p:sp>
        <p:nvSpPr>
          <p:cNvPr id="7" name="Slide Number Placeholder 6"/>
          <p:cNvSpPr>
            <a:spLocks noGrp="1"/>
          </p:cNvSpPr>
          <p:nvPr>
            <p:ph type="sldNum" sz="quarter" idx="12"/>
          </p:nvPr>
        </p:nvSpPr>
        <p:spPr/>
        <p:txBody>
          <a:bodyPr/>
          <a:lstStyle/>
          <a:p>
            <a:fld id="{135B17FB-6829-41EE-A149-E4AC190BB076}" type="slidenum">
              <a:rPr lang="en-IL" smtClean="0"/>
              <a:t>‹#›</a:t>
            </a:fld>
            <a:endParaRPr lang="en-IL"/>
          </a:p>
        </p:txBody>
      </p:sp>
    </p:spTree>
    <p:extLst>
      <p:ext uri="{BB962C8B-B14F-4D97-AF65-F5344CB8AC3E}">
        <p14:creationId xmlns:p14="http://schemas.microsoft.com/office/powerpoint/2010/main" val="41899393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p>
        </p:txBody>
      </p:sp>
      <p:sp>
        <p:nvSpPr>
          <p:cNvPr id="3" name="Picture Placeholder 2"/>
          <p:cNvSpPr>
            <a:spLocks noGrp="1" noChangeAspect="1"/>
          </p:cNvSpPr>
          <p:nvPr>
            <p:ph type="pic" idx="1"/>
          </p:nvPr>
        </p:nvSpPr>
        <p:spPr>
          <a:xfrm>
            <a:off x="5413248" y="1069847"/>
            <a:ext cx="6099048" cy="4800600"/>
          </a:xfrm>
        </p:spPr>
        <p:txBody>
          <a:bodyPr lIns="274320" tIns="182880" anchor="t">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143000" y="2834640"/>
            <a:ext cx="3931920" cy="288036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9A654E8-B27F-4FBC-8C13-FCE49D6C3970}" type="datetimeFigureOut">
              <a:rPr lang="en-IL" smtClean="0"/>
              <a:t>02/03/2025</a:t>
            </a:fld>
            <a:endParaRPr lang="en-IL"/>
          </a:p>
        </p:txBody>
      </p:sp>
      <p:sp>
        <p:nvSpPr>
          <p:cNvPr id="6" name="Footer Placeholder 5"/>
          <p:cNvSpPr>
            <a:spLocks noGrp="1"/>
          </p:cNvSpPr>
          <p:nvPr>
            <p:ph type="ftr" sz="quarter" idx="11"/>
          </p:nvPr>
        </p:nvSpPr>
        <p:spPr/>
        <p:txBody>
          <a:bodyPr/>
          <a:lstStyle/>
          <a:p>
            <a:endParaRPr lang="en-IL"/>
          </a:p>
        </p:txBody>
      </p:sp>
      <p:sp>
        <p:nvSpPr>
          <p:cNvPr id="7" name="Slide Number Placeholder 6"/>
          <p:cNvSpPr>
            <a:spLocks noGrp="1"/>
          </p:cNvSpPr>
          <p:nvPr>
            <p:ph type="sldNum" sz="quarter" idx="12"/>
          </p:nvPr>
        </p:nvSpPr>
        <p:spPr/>
        <p:txBody>
          <a:bodyPr/>
          <a:lstStyle/>
          <a:p>
            <a:fld id="{135B17FB-6829-41EE-A149-E4AC190BB076}" type="slidenum">
              <a:rPr lang="en-IL" smtClean="0"/>
              <a:t>‹#›</a:t>
            </a:fld>
            <a:endParaRPr lang="en-IL"/>
          </a:p>
        </p:txBody>
      </p:sp>
    </p:spTree>
    <p:extLst>
      <p:ext uri="{BB962C8B-B14F-4D97-AF65-F5344CB8AC3E}">
        <p14:creationId xmlns:p14="http://schemas.microsoft.com/office/powerpoint/2010/main" val="10467932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9A654E8-B27F-4FBC-8C13-FCE49D6C3970}" type="datetimeFigureOut">
              <a:rPr lang="en-IL" smtClean="0"/>
              <a:t>02/03/2025</a:t>
            </a:fld>
            <a:endParaRPr lang="en-IL"/>
          </a:p>
        </p:txBody>
      </p:sp>
      <p:sp>
        <p:nvSpPr>
          <p:cNvPr id="5" name="Footer Placeholder 4"/>
          <p:cNvSpPr>
            <a:spLocks noGrp="1"/>
          </p:cNvSpPr>
          <p:nvPr>
            <p:ph type="ftr" sz="quarter" idx="11"/>
          </p:nvPr>
        </p:nvSpPr>
        <p:spPr/>
        <p:txBody>
          <a:bodyPr/>
          <a:lstStyle/>
          <a:p>
            <a:endParaRPr lang="en-IL"/>
          </a:p>
        </p:txBody>
      </p:sp>
      <p:sp>
        <p:nvSpPr>
          <p:cNvPr id="6" name="Slide Number Placeholder 5"/>
          <p:cNvSpPr>
            <a:spLocks noGrp="1"/>
          </p:cNvSpPr>
          <p:nvPr>
            <p:ph type="sldNum" sz="quarter" idx="12"/>
          </p:nvPr>
        </p:nvSpPr>
        <p:spPr/>
        <p:txBody>
          <a:bodyPr/>
          <a:lstStyle/>
          <a:p>
            <a:fld id="{135B17FB-6829-41EE-A149-E4AC190BB076}" type="slidenum">
              <a:rPr lang="en-IL" smtClean="0"/>
              <a:t>‹#›</a:t>
            </a:fld>
            <a:endParaRPr lang="en-IL"/>
          </a:p>
        </p:txBody>
      </p:sp>
    </p:spTree>
    <p:extLst>
      <p:ext uri="{BB962C8B-B14F-4D97-AF65-F5344CB8AC3E}">
        <p14:creationId xmlns:p14="http://schemas.microsoft.com/office/powerpoint/2010/main" val="10604192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324100" cy="54102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143000" y="762000"/>
            <a:ext cx="74295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9A654E8-B27F-4FBC-8C13-FCE49D6C3970}" type="datetimeFigureOut">
              <a:rPr lang="en-IL" smtClean="0"/>
              <a:t>02/03/2025</a:t>
            </a:fld>
            <a:endParaRPr lang="en-IL"/>
          </a:p>
        </p:txBody>
      </p:sp>
      <p:sp>
        <p:nvSpPr>
          <p:cNvPr id="5" name="Footer Placeholder 4"/>
          <p:cNvSpPr>
            <a:spLocks noGrp="1"/>
          </p:cNvSpPr>
          <p:nvPr>
            <p:ph type="ftr" sz="quarter" idx="11"/>
          </p:nvPr>
        </p:nvSpPr>
        <p:spPr/>
        <p:txBody>
          <a:bodyPr/>
          <a:lstStyle/>
          <a:p>
            <a:endParaRPr lang="en-IL"/>
          </a:p>
        </p:txBody>
      </p:sp>
      <p:sp>
        <p:nvSpPr>
          <p:cNvPr id="6" name="Slide Number Placeholder 5"/>
          <p:cNvSpPr>
            <a:spLocks noGrp="1"/>
          </p:cNvSpPr>
          <p:nvPr>
            <p:ph type="sldNum" sz="quarter" idx="12"/>
          </p:nvPr>
        </p:nvSpPr>
        <p:spPr/>
        <p:txBody>
          <a:bodyPr/>
          <a:lstStyle/>
          <a:p>
            <a:fld id="{135B17FB-6829-41EE-A149-E4AC190BB076}" type="slidenum">
              <a:rPr lang="en-IL" smtClean="0"/>
              <a:t>‹#›</a:t>
            </a:fld>
            <a:endParaRPr lang="en-IL"/>
          </a:p>
        </p:txBody>
      </p:sp>
    </p:spTree>
    <p:extLst>
      <p:ext uri="{BB962C8B-B14F-4D97-AF65-F5344CB8AC3E}">
        <p14:creationId xmlns:p14="http://schemas.microsoft.com/office/powerpoint/2010/main" val="25675874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143000" y="609600"/>
            <a:ext cx="9875520" cy="135636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1143000" y="2057400"/>
            <a:ext cx="9872871" cy="4038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142996" y="6223828"/>
            <a:ext cx="2329074" cy="365125"/>
          </a:xfrm>
          <a:prstGeom prst="rect">
            <a:avLst/>
          </a:prstGeom>
        </p:spPr>
        <p:txBody>
          <a:bodyPr vert="horz" lIns="91440" tIns="45720" rIns="91440" bIns="45720" rtlCol="0" anchor="ctr"/>
          <a:lstStyle>
            <a:lvl1pPr algn="l">
              <a:defRPr sz="1200">
                <a:solidFill>
                  <a:schemeClr val="accent1"/>
                </a:solidFill>
              </a:defRPr>
            </a:lvl1pPr>
          </a:lstStyle>
          <a:p>
            <a:fld id="{C9A654E8-B27F-4FBC-8C13-FCE49D6C3970}" type="datetimeFigureOut">
              <a:rPr lang="en-IL" smtClean="0"/>
              <a:t>02/03/2025</a:t>
            </a:fld>
            <a:endParaRPr lang="en-IL"/>
          </a:p>
        </p:txBody>
      </p:sp>
      <p:sp>
        <p:nvSpPr>
          <p:cNvPr id="5" name="Footer Placeholder 4"/>
          <p:cNvSpPr>
            <a:spLocks noGrp="1"/>
          </p:cNvSpPr>
          <p:nvPr>
            <p:ph type="ftr" sz="quarter" idx="3"/>
          </p:nvPr>
        </p:nvSpPr>
        <p:spPr>
          <a:xfrm>
            <a:off x="3949148" y="6223828"/>
            <a:ext cx="4717774" cy="365125"/>
          </a:xfrm>
          <a:prstGeom prst="rect">
            <a:avLst/>
          </a:prstGeom>
        </p:spPr>
        <p:txBody>
          <a:bodyPr vert="horz" lIns="91440" tIns="45720" rIns="91440" bIns="45720" rtlCol="0" anchor="ctr"/>
          <a:lstStyle>
            <a:lvl1pPr algn="ctr">
              <a:defRPr sz="1200">
                <a:solidFill>
                  <a:schemeClr val="accent1"/>
                </a:solidFill>
              </a:defRPr>
            </a:lvl1pPr>
          </a:lstStyle>
          <a:p>
            <a:endParaRPr lang="en-IL"/>
          </a:p>
        </p:txBody>
      </p:sp>
      <p:sp>
        <p:nvSpPr>
          <p:cNvPr id="6" name="Slide Number Placeholder 5"/>
          <p:cNvSpPr>
            <a:spLocks noGrp="1"/>
          </p:cNvSpPr>
          <p:nvPr>
            <p:ph type="sldNum" sz="quarter" idx="4"/>
          </p:nvPr>
        </p:nvSpPr>
        <p:spPr>
          <a:xfrm>
            <a:off x="9329530" y="6223828"/>
            <a:ext cx="1706217" cy="365125"/>
          </a:xfrm>
          <a:prstGeom prst="rect">
            <a:avLst/>
          </a:prstGeom>
        </p:spPr>
        <p:txBody>
          <a:bodyPr vert="horz" lIns="91440" tIns="45720" rIns="91440" bIns="45720" rtlCol="0" anchor="ctr"/>
          <a:lstStyle>
            <a:lvl1pPr algn="r">
              <a:defRPr sz="1200">
                <a:solidFill>
                  <a:schemeClr val="accent1"/>
                </a:solidFill>
              </a:defRPr>
            </a:lvl1pPr>
          </a:lstStyle>
          <a:p>
            <a:fld id="{135B17FB-6829-41EE-A149-E4AC190BB076}" type="slidenum">
              <a:rPr lang="en-IL" smtClean="0"/>
              <a:t>‹#›</a:t>
            </a:fld>
            <a:endParaRPr lang="en-IL"/>
          </a:p>
        </p:txBody>
      </p:sp>
    </p:spTree>
    <p:extLst>
      <p:ext uri="{BB962C8B-B14F-4D97-AF65-F5344CB8AC3E}">
        <p14:creationId xmlns:p14="http://schemas.microsoft.com/office/powerpoint/2010/main" val="115656666"/>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1" eaLnBrk="1" latinLnBrk="0" hangingPunct="1">
        <a:lnSpc>
          <a:spcPct val="90000"/>
        </a:lnSpc>
        <a:spcBef>
          <a:spcPct val="0"/>
        </a:spcBef>
        <a:buNone/>
        <a:defRPr sz="4400" kern="1200">
          <a:solidFill>
            <a:schemeClr val="accent1"/>
          </a:solidFill>
          <a:latin typeface="+mj-lt"/>
          <a:ea typeface="+mj-ea"/>
          <a:cs typeface="+mj-cs"/>
        </a:defRPr>
      </a:lvl1pPr>
    </p:titleStyle>
    <p:bodyStyle>
      <a:lvl1pPr marL="228600" indent="-182880" algn="r" defTabSz="914400" rtl="1" eaLnBrk="1" latinLnBrk="0" hangingPunct="1">
        <a:lnSpc>
          <a:spcPct val="90000"/>
        </a:lnSpc>
        <a:spcBef>
          <a:spcPts val="1400"/>
        </a:spcBef>
        <a:buClr>
          <a:schemeClr val="accent1"/>
        </a:buClr>
        <a:buSzPct val="80000"/>
        <a:buFont typeface="Corbel" pitchFamily="34" charset="0"/>
        <a:buChar char="•"/>
        <a:defRPr sz="2200" kern="1200">
          <a:solidFill>
            <a:schemeClr val="accent1"/>
          </a:solidFill>
          <a:latin typeface="+mn-lt"/>
          <a:ea typeface="+mn-ea"/>
          <a:cs typeface="+mn-cs"/>
        </a:defRPr>
      </a:lvl1pPr>
      <a:lvl2pPr marL="457200" indent="-182880" algn="r" defTabSz="914400" rtl="1" eaLnBrk="1" latinLnBrk="0" hangingPunct="1">
        <a:lnSpc>
          <a:spcPct val="90000"/>
        </a:lnSpc>
        <a:spcBef>
          <a:spcPts val="200"/>
        </a:spcBef>
        <a:spcAft>
          <a:spcPts val="400"/>
        </a:spcAft>
        <a:buClr>
          <a:schemeClr val="accent1"/>
        </a:buClr>
        <a:buSzPct val="80000"/>
        <a:buFont typeface="Corbel" pitchFamily="34" charset="0"/>
        <a:buChar char="•"/>
        <a:defRPr sz="2000" kern="1200">
          <a:solidFill>
            <a:schemeClr val="accent1"/>
          </a:solidFill>
          <a:latin typeface="+mn-lt"/>
          <a:ea typeface="+mn-ea"/>
          <a:cs typeface="+mn-cs"/>
        </a:defRPr>
      </a:lvl2pPr>
      <a:lvl3pPr marL="731520" indent="-182880" algn="r" defTabSz="914400" rtl="1" eaLnBrk="1" latinLnBrk="0" hangingPunct="1">
        <a:lnSpc>
          <a:spcPct val="90000"/>
        </a:lnSpc>
        <a:spcBef>
          <a:spcPts val="200"/>
        </a:spcBef>
        <a:spcAft>
          <a:spcPts val="400"/>
        </a:spcAft>
        <a:buClr>
          <a:schemeClr val="accent1"/>
        </a:buClr>
        <a:buSzPct val="80000"/>
        <a:buFont typeface="Corbel" pitchFamily="34" charset="0"/>
        <a:buChar char="•"/>
        <a:defRPr sz="1800" kern="1200">
          <a:solidFill>
            <a:schemeClr val="accent1"/>
          </a:solidFill>
          <a:latin typeface="+mn-lt"/>
          <a:ea typeface="+mn-ea"/>
          <a:cs typeface="+mn-cs"/>
        </a:defRPr>
      </a:lvl3pPr>
      <a:lvl4pPr marL="1005840" indent="-182880" algn="r" defTabSz="914400" rtl="1"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4pPr>
      <a:lvl5pPr marL="1280160" indent="-182880" algn="r" defTabSz="914400" rtl="1"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5pPr>
      <a:lvl6pPr marL="1600000" indent="-228600" algn="r" defTabSz="914400" rtl="1"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6pPr>
      <a:lvl7pPr marL="1900000" indent="-228600" algn="r" defTabSz="914400" rtl="1"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7pPr>
      <a:lvl8pPr marL="2200000" indent="-228600" algn="r" defTabSz="914400" rtl="1"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8pPr>
      <a:lvl9pPr marL="2500000" indent="-228600" algn="r" defTabSz="914400" rtl="1"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1.svg"/></Relationships>
</file>

<file path=ppt/slides/_rels/slide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3.svg"/></Relationships>
</file>

<file path=ppt/slides/_rels/slide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5.sv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6.svg"/></Relationships>
</file>

<file path=ppt/slides/_rels/slide9.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4.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9.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62AEBD2D-6881-4F18-1E4B-3A7BABB969C6}"/>
            </a:ext>
          </a:extLst>
        </p:cNvPr>
        <p:cNvGrpSpPr/>
        <p:nvPr/>
      </p:nvGrpSpPr>
      <p:grpSpPr>
        <a:xfrm>
          <a:off x="0" y="0"/>
          <a:ext cx="0" cy="0"/>
          <a:chOff x="0" y="0"/>
          <a:chExt cx="0" cy="0"/>
        </a:xfrm>
      </p:grpSpPr>
      <p:sp>
        <p:nvSpPr>
          <p:cNvPr id="64" name="Rectangle 63">
            <a:extLst>
              <a:ext uri="{FF2B5EF4-FFF2-40B4-BE49-F238E27FC236}">
                <a16:creationId xmlns:a16="http://schemas.microsoft.com/office/drawing/2014/main" id="{8677094E-F0FE-4EC2-9511-5A411A2E11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2100" cy="6377939"/>
          </a:xfrm>
          <a:prstGeom prst="rect">
            <a:avLst/>
          </a:prstGeom>
          <a:solidFill>
            <a:schemeClr val="bg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e-IL"/>
          </a:p>
        </p:txBody>
      </p:sp>
      <p:sp useBgFill="1">
        <p:nvSpPr>
          <p:cNvPr id="66" name="Rectangle 65">
            <a:extLst>
              <a:ext uri="{FF2B5EF4-FFF2-40B4-BE49-F238E27FC236}">
                <a16:creationId xmlns:a16="http://schemas.microsoft.com/office/drawing/2014/main" id="{E0E1ADA3-256B-436F-BB84-15BF272B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89378" y="246887"/>
            <a:ext cx="5861321" cy="6377939"/>
          </a:xfrm>
          <a:prstGeom prst="rect">
            <a:avLst/>
          </a:prstGeom>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e-IL"/>
          </a:p>
        </p:txBody>
      </p:sp>
      <p:cxnSp>
        <p:nvCxnSpPr>
          <p:cNvPr id="68" name="Straight Connector 67">
            <a:extLst>
              <a:ext uri="{FF2B5EF4-FFF2-40B4-BE49-F238E27FC236}">
                <a16:creationId xmlns:a16="http://schemas.microsoft.com/office/drawing/2014/main" id="{7DDC7D3D-A4F6-4638-B02B-2DBB6C11F5D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36924" y="4220801"/>
            <a:ext cx="4215939"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
        <p:nvSpPr>
          <p:cNvPr id="70" name="Rectangle 69">
            <a:extLst>
              <a:ext uri="{FF2B5EF4-FFF2-40B4-BE49-F238E27FC236}">
                <a16:creationId xmlns:a16="http://schemas.microsoft.com/office/drawing/2014/main" id="{5C091E65-5627-4CC0-82AA-74A3C89D7C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00" y="246888"/>
            <a:ext cx="11724640" cy="6377939"/>
          </a:xfrm>
          <a:prstGeom prst="rect">
            <a:avLst/>
          </a:pr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e-IL"/>
          </a:p>
        </p:txBody>
      </p:sp>
      <p:sp>
        <p:nvSpPr>
          <p:cNvPr id="2" name="כותרת 1">
            <a:extLst>
              <a:ext uri="{FF2B5EF4-FFF2-40B4-BE49-F238E27FC236}">
                <a16:creationId xmlns:a16="http://schemas.microsoft.com/office/drawing/2014/main" id="{78D92404-8002-B210-B9B7-5DA995984FD6}"/>
              </a:ext>
            </a:extLst>
          </p:cNvPr>
          <p:cNvSpPr>
            <a:spLocks noGrp="1"/>
          </p:cNvSpPr>
          <p:nvPr>
            <p:ph type="ctrTitle"/>
          </p:nvPr>
        </p:nvSpPr>
        <p:spPr>
          <a:xfrm>
            <a:off x="6736924" y="857675"/>
            <a:ext cx="4566230" cy="3437782"/>
          </a:xfrm>
        </p:spPr>
        <p:txBody>
          <a:bodyPr>
            <a:normAutofit/>
          </a:bodyPr>
          <a:lstStyle/>
          <a:p>
            <a:r>
              <a:rPr lang="en-US"/>
              <a:t>Viso Speak </a:t>
            </a:r>
            <a:br>
              <a:rPr lang="en-US"/>
            </a:br>
            <a:endParaRPr lang="en-IL"/>
          </a:p>
        </p:txBody>
      </p:sp>
      <p:sp>
        <p:nvSpPr>
          <p:cNvPr id="3" name="כותרת משנה 2">
            <a:extLst>
              <a:ext uri="{FF2B5EF4-FFF2-40B4-BE49-F238E27FC236}">
                <a16:creationId xmlns:a16="http://schemas.microsoft.com/office/drawing/2014/main" id="{AC6D36CA-ABB5-ADC2-A854-088ECE5496EB}"/>
              </a:ext>
            </a:extLst>
          </p:cNvPr>
          <p:cNvSpPr>
            <a:spLocks noGrp="1"/>
          </p:cNvSpPr>
          <p:nvPr>
            <p:ph type="subTitle" idx="1"/>
          </p:nvPr>
        </p:nvSpPr>
        <p:spPr>
          <a:xfrm>
            <a:off x="6736924" y="4356635"/>
            <a:ext cx="4535850" cy="1543422"/>
          </a:xfrm>
        </p:spPr>
        <p:txBody>
          <a:bodyPr>
            <a:normAutofit/>
          </a:bodyPr>
          <a:lstStyle/>
          <a:p>
            <a:r>
              <a:rPr lang="en-US">
                <a:effectLst/>
                <a:latin typeface="Calibri" panose="020F0502020204030204" pitchFamily="34" charset="0"/>
                <a:ea typeface="Times New Roman" panose="02020603050405020304" pitchFamily="18" charset="0"/>
                <a:cs typeface="Arial" panose="020B0604020202020204" pitchFamily="34" charset="0"/>
              </a:rPr>
              <a:t>Students : Majd Salameh, Morad Asakli </a:t>
            </a:r>
          </a:p>
          <a:p>
            <a:r>
              <a:rPr lang="en-US">
                <a:latin typeface="Calibri" panose="020F0502020204030204" pitchFamily="34" charset="0"/>
                <a:cs typeface="Arial" panose="020B0604020202020204" pitchFamily="34" charset="0"/>
              </a:rPr>
              <a:t>Supervisor : Ilya Zeldner</a:t>
            </a:r>
            <a:endParaRPr lang="en-IL"/>
          </a:p>
        </p:txBody>
      </p:sp>
      <p:pic>
        <p:nvPicPr>
          <p:cNvPr id="4" name="תמונה 1" descr="A person with a face id&#10;&#10;Description automatically generated">
            <a:extLst>
              <a:ext uri="{FF2B5EF4-FFF2-40B4-BE49-F238E27FC236}">
                <a16:creationId xmlns:a16="http://schemas.microsoft.com/office/drawing/2014/main" id="{E5B3C009-88C5-5AE1-9A53-12E4CF25ED0C}"/>
              </a:ext>
            </a:extLst>
          </p:cNvPr>
          <p:cNvPicPr>
            <a:picLocks noChangeAspect="1"/>
          </p:cNvPicPr>
          <p:nvPr/>
        </p:nvPicPr>
        <p:blipFill>
          <a:blip r:embed="rId3"/>
          <a:srcRect l="5319" r="5323" b="3"/>
          <a:stretch/>
        </p:blipFill>
        <p:spPr>
          <a:xfrm>
            <a:off x="872064" y="857675"/>
            <a:ext cx="4593715" cy="5140669"/>
          </a:xfrm>
          <a:prstGeom prst="rect">
            <a:avLst/>
          </a:prstGeom>
        </p:spPr>
      </p:pic>
    </p:spTree>
    <p:extLst>
      <p:ext uri="{BB962C8B-B14F-4D97-AF65-F5344CB8AC3E}">
        <p14:creationId xmlns:p14="http://schemas.microsoft.com/office/powerpoint/2010/main" val="35175822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500"/>
                                        <p:tgtEl>
                                          <p:spTgt spid="3">
                                            <p:txEl>
                                              <p:pRg st="0" end="0"/>
                                            </p:txEl>
                                          </p:spTgt>
                                        </p:tgtEl>
                                      </p:cBhvr>
                                    </p:animEffect>
                                  </p:childTnLst>
                                </p:cTn>
                              </p:par>
                              <p:par>
                                <p:cTn id="11" presetID="10" presetClass="entr" presetSubtype="0" fill="hold" grpId="0" nodeType="withEffect">
                                  <p:stCondLst>
                                    <p:cond delay="2000"/>
                                  </p:stCondLst>
                                  <p:childTnLst>
                                    <p:set>
                                      <p:cBhvr>
                                        <p:cTn id="12" dur="1" fill="hold">
                                          <p:stCondLst>
                                            <p:cond delay="0"/>
                                          </p:stCondLst>
                                        </p:cTn>
                                        <p:tgtEl>
                                          <p:spTgt spid="3">
                                            <p:txEl>
                                              <p:pRg st="1" end="1"/>
                                            </p:txEl>
                                          </p:spTgt>
                                        </p:tgtEl>
                                        <p:attrNameLst>
                                          <p:attrName>style.visibility</p:attrName>
                                        </p:attrNameLst>
                                      </p:cBhvr>
                                      <p:to>
                                        <p:strVal val="visible"/>
                                      </p:to>
                                    </p:set>
                                    <p:animEffect transition="in" filter="fade">
                                      <p:cBhvr>
                                        <p:cTn id="13"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uiExpand="1"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939648-BC46-D84E-C526-E05AC532C2B2}"/>
              </a:ext>
            </a:extLst>
          </p:cNvPr>
          <p:cNvSpPr>
            <a:spLocks noGrp="1"/>
          </p:cNvSpPr>
          <p:nvPr>
            <p:ph type="title"/>
          </p:nvPr>
        </p:nvSpPr>
        <p:spPr>
          <a:xfrm>
            <a:off x="971550" y="701040"/>
            <a:ext cx="9875520" cy="1356360"/>
          </a:xfrm>
        </p:spPr>
        <p:txBody>
          <a:bodyPr>
            <a:normAutofit fontScale="90000"/>
          </a:bodyPr>
          <a:lstStyle/>
          <a:p>
            <a:r>
              <a:rPr lang="en-US" b="1"/>
              <a:t>The Idea Behind VisoSpeak</a:t>
            </a:r>
            <a:br>
              <a:rPr lang="en-US" b="1"/>
            </a:br>
            <a:br>
              <a:rPr lang="en-US" b="1"/>
            </a:br>
            <a:endParaRPr lang="he-IL"/>
          </a:p>
        </p:txBody>
      </p:sp>
      <p:graphicFrame>
        <p:nvGraphicFramePr>
          <p:cNvPr id="9" name="Content Placeholder 2">
            <a:extLst>
              <a:ext uri="{FF2B5EF4-FFF2-40B4-BE49-F238E27FC236}">
                <a16:creationId xmlns:a16="http://schemas.microsoft.com/office/drawing/2014/main" id="{5EB2FFBD-7A56-7B4B-D79B-53D9FEC5EC28}"/>
              </a:ext>
            </a:extLst>
          </p:cNvPr>
          <p:cNvGraphicFramePr>
            <a:graphicFrameLocks noGrp="1"/>
          </p:cNvGraphicFramePr>
          <p:nvPr>
            <p:ph idx="1"/>
          </p:nvPr>
        </p:nvGraphicFramePr>
        <p:xfrm>
          <a:off x="1143000" y="2057400"/>
          <a:ext cx="9872871" cy="4038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840769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140738-20C2-477B-92C0-38B32A4B32A4}"/>
              </a:ext>
            </a:extLst>
          </p:cNvPr>
          <p:cNvSpPr>
            <a:spLocks noGrp="1"/>
          </p:cNvSpPr>
          <p:nvPr>
            <p:ph type="title"/>
          </p:nvPr>
        </p:nvSpPr>
        <p:spPr/>
        <p:txBody>
          <a:bodyPr/>
          <a:lstStyle/>
          <a:p>
            <a:r>
              <a:rPr lang="en-US" b="1"/>
              <a:t>Exploring Existing Projects</a:t>
            </a:r>
            <a:br>
              <a:rPr lang="en-US" b="1"/>
            </a:br>
            <a:endParaRPr lang="he-IL"/>
          </a:p>
        </p:txBody>
      </p:sp>
      <p:graphicFrame>
        <p:nvGraphicFramePr>
          <p:cNvPr id="15" name="Content Placeholder 2">
            <a:extLst>
              <a:ext uri="{FF2B5EF4-FFF2-40B4-BE49-F238E27FC236}">
                <a16:creationId xmlns:a16="http://schemas.microsoft.com/office/drawing/2014/main" id="{C52387BA-D6D5-E83C-AFB7-4DFE24CE6C80}"/>
              </a:ext>
            </a:extLst>
          </p:cNvPr>
          <p:cNvGraphicFramePr>
            <a:graphicFrameLocks noGrp="1"/>
          </p:cNvGraphicFramePr>
          <p:nvPr>
            <p:ph idx="1"/>
          </p:nvPr>
        </p:nvGraphicFramePr>
        <p:xfrm>
          <a:off x="1143000" y="2057400"/>
          <a:ext cx="9872871" cy="4038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2436731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F3E0D3-50B4-200B-BC88-990268925DD2}"/>
              </a:ext>
            </a:extLst>
          </p:cNvPr>
          <p:cNvSpPr>
            <a:spLocks noGrp="1"/>
          </p:cNvSpPr>
          <p:nvPr>
            <p:ph type="title"/>
          </p:nvPr>
        </p:nvSpPr>
        <p:spPr/>
        <p:txBody>
          <a:bodyPr/>
          <a:lstStyle/>
          <a:p>
            <a:r>
              <a:rPr lang="en-US"/>
              <a:t>The Project We Chose</a:t>
            </a:r>
            <a:endParaRPr lang="he-IL"/>
          </a:p>
        </p:txBody>
      </p:sp>
      <p:graphicFrame>
        <p:nvGraphicFramePr>
          <p:cNvPr id="17" name="Content Placeholder 2">
            <a:extLst>
              <a:ext uri="{FF2B5EF4-FFF2-40B4-BE49-F238E27FC236}">
                <a16:creationId xmlns:a16="http://schemas.microsoft.com/office/drawing/2014/main" id="{BC497887-A598-AE41-EC89-9F397788A086}"/>
              </a:ext>
            </a:extLst>
          </p:cNvPr>
          <p:cNvGraphicFramePr>
            <a:graphicFrameLocks noGrp="1"/>
          </p:cNvGraphicFramePr>
          <p:nvPr>
            <p:ph idx="1"/>
          </p:nvPr>
        </p:nvGraphicFramePr>
        <p:xfrm>
          <a:off x="1143000" y="2057400"/>
          <a:ext cx="9872871" cy="4038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490969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E9271C28-7496-4447-8541-7B39F5E948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e-IL"/>
          </a:p>
        </p:txBody>
      </p:sp>
      <p:sp>
        <p:nvSpPr>
          <p:cNvPr id="2" name="Title 1">
            <a:extLst>
              <a:ext uri="{FF2B5EF4-FFF2-40B4-BE49-F238E27FC236}">
                <a16:creationId xmlns:a16="http://schemas.microsoft.com/office/drawing/2014/main" id="{3DB9ADEB-80DC-C4D1-23F9-0A3721B76613}"/>
              </a:ext>
            </a:extLst>
          </p:cNvPr>
          <p:cNvSpPr>
            <a:spLocks noGrp="1"/>
          </p:cNvSpPr>
          <p:nvPr>
            <p:ph type="title"/>
          </p:nvPr>
        </p:nvSpPr>
        <p:spPr>
          <a:xfrm>
            <a:off x="2606040" y="609600"/>
            <a:ext cx="8865108" cy="1356360"/>
          </a:xfrm>
        </p:spPr>
        <p:txBody>
          <a:bodyPr>
            <a:normAutofit/>
          </a:bodyPr>
          <a:lstStyle/>
          <a:p>
            <a:r>
              <a:rPr lang="en-US"/>
              <a:t>Limitations of the Previous Approach</a:t>
            </a:r>
            <a:endParaRPr lang="he-IL"/>
          </a:p>
        </p:txBody>
      </p:sp>
      <p:pic>
        <p:nvPicPr>
          <p:cNvPr id="7" name="Graphic 6" descr="Security Camera">
            <a:extLst>
              <a:ext uri="{FF2B5EF4-FFF2-40B4-BE49-F238E27FC236}">
                <a16:creationId xmlns:a16="http://schemas.microsoft.com/office/drawing/2014/main" id="{2D9B0285-D47C-FCD2-8601-63ABD6DFA5F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72064" y="1131152"/>
            <a:ext cx="4593715" cy="4593715"/>
          </a:xfrm>
          <a:prstGeom prst="rect">
            <a:avLst/>
          </a:prstGeom>
        </p:spPr>
      </p:pic>
      <p:sp>
        <p:nvSpPr>
          <p:cNvPr id="8" name="Content Placeholder 2">
            <a:extLst>
              <a:ext uri="{FF2B5EF4-FFF2-40B4-BE49-F238E27FC236}">
                <a16:creationId xmlns:a16="http://schemas.microsoft.com/office/drawing/2014/main" id="{6DA79CF5-83CF-42D7-509F-811924294CE8}"/>
              </a:ext>
            </a:extLst>
          </p:cNvPr>
          <p:cNvSpPr>
            <a:spLocks noGrp="1"/>
          </p:cNvSpPr>
          <p:nvPr>
            <p:ph idx="1"/>
          </p:nvPr>
        </p:nvSpPr>
        <p:spPr>
          <a:xfrm>
            <a:off x="6093460" y="2593047"/>
            <a:ext cx="5364444" cy="3131820"/>
          </a:xfrm>
        </p:spPr>
        <p:txBody>
          <a:bodyPr>
            <a:normAutofit/>
          </a:bodyPr>
          <a:lstStyle/>
          <a:p>
            <a:pPr algn="l" rtl="0"/>
            <a:r>
              <a:rPr lang="en-US"/>
              <a:t>Uses </a:t>
            </a:r>
            <a:r>
              <a:rPr lang="en-US" b="1"/>
              <a:t>fixed timestamps </a:t>
            </a:r>
            <a:r>
              <a:rPr lang="en-US"/>
              <a:t>for detecting word boundaries.</a:t>
            </a:r>
          </a:p>
          <a:p>
            <a:pPr algn="l" rtl="0"/>
            <a:r>
              <a:rPr lang="en-US"/>
              <a:t>Relies on a </a:t>
            </a:r>
            <a:r>
              <a:rPr lang="en-US" b="1"/>
              <a:t>predefined time</a:t>
            </a:r>
            <a:r>
              <a:rPr lang="en-US"/>
              <a:t> structure.</a:t>
            </a:r>
          </a:p>
          <a:p>
            <a:pPr algn="l" rtl="0"/>
            <a:r>
              <a:rPr lang="en-US" b="1"/>
              <a:t>Struggles</a:t>
            </a:r>
            <a:r>
              <a:rPr lang="en-US"/>
              <a:t> with different speaking speeds.</a:t>
            </a:r>
          </a:p>
          <a:p>
            <a:pPr algn="l" rtl="0"/>
            <a:r>
              <a:rPr lang="en-US" b="1"/>
              <a:t>Weakness:</a:t>
            </a:r>
            <a:r>
              <a:rPr lang="en-US"/>
              <a:t> Static timestamps limit adaptability to different speaking speeds.</a:t>
            </a:r>
            <a:endParaRPr lang="he-IL"/>
          </a:p>
        </p:txBody>
      </p:sp>
    </p:spTree>
    <p:extLst>
      <p:ext uri="{BB962C8B-B14F-4D97-AF65-F5344CB8AC3E}">
        <p14:creationId xmlns:p14="http://schemas.microsoft.com/office/powerpoint/2010/main" val="20317703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A2EA6A6-CD0C-4CFD-8EC2-AA44F98703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e-IL"/>
          </a:p>
        </p:txBody>
      </p:sp>
      <p:sp>
        <p:nvSpPr>
          <p:cNvPr id="2" name="Title 1">
            <a:extLst>
              <a:ext uri="{FF2B5EF4-FFF2-40B4-BE49-F238E27FC236}">
                <a16:creationId xmlns:a16="http://schemas.microsoft.com/office/drawing/2014/main" id="{8666CD0E-230C-E03A-227A-20FC12FF30CF}"/>
              </a:ext>
            </a:extLst>
          </p:cNvPr>
          <p:cNvSpPr>
            <a:spLocks noGrp="1"/>
          </p:cNvSpPr>
          <p:nvPr>
            <p:ph type="title"/>
          </p:nvPr>
        </p:nvSpPr>
        <p:spPr>
          <a:xfrm>
            <a:off x="7558564" y="609600"/>
            <a:ext cx="3912583" cy="1356360"/>
          </a:xfrm>
        </p:spPr>
        <p:txBody>
          <a:bodyPr>
            <a:normAutofit/>
          </a:bodyPr>
          <a:lstStyle/>
          <a:p>
            <a:pPr rtl="0"/>
            <a:r>
              <a:rPr lang="en-US" sz="3200"/>
              <a:t>How We Improved the Approach</a:t>
            </a:r>
            <a:endParaRPr lang="he-IL" sz="3200"/>
          </a:p>
        </p:txBody>
      </p:sp>
      <p:pic>
        <p:nvPicPr>
          <p:cNvPr id="7" name="Graphic 6" descr="Stopwatch">
            <a:extLst>
              <a:ext uri="{FF2B5EF4-FFF2-40B4-BE49-F238E27FC236}">
                <a16:creationId xmlns:a16="http://schemas.microsoft.com/office/drawing/2014/main" id="{D3625E3D-3F2C-9889-6DF3-1A85BA4539C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24517" y="857675"/>
            <a:ext cx="5140669" cy="5140669"/>
          </a:xfrm>
          <a:prstGeom prst="rect">
            <a:avLst/>
          </a:prstGeom>
        </p:spPr>
      </p:pic>
      <p:sp>
        <p:nvSpPr>
          <p:cNvPr id="3" name="Content Placeholder 2">
            <a:extLst>
              <a:ext uri="{FF2B5EF4-FFF2-40B4-BE49-F238E27FC236}">
                <a16:creationId xmlns:a16="http://schemas.microsoft.com/office/drawing/2014/main" id="{4D8FF872-828B-E5DE-8807-9969DDE3749A}"/>
              </a:ext>
            </a:extLst>
          </p:cNvPr>
          <p:cNvSpPr>
            <a:spLocks noGrp="1"/>
          </p:cNvSpPr>
          <p:nvPr>
            <p:ph idx="1"/>
          </p:nvPr>
        </p:nvSpPr>
        <p:spPr>
          <a:xfrm>
            <a:off x="7558564" y="2057400"/>
            <a:ext cx="3912583" cy="4038600"/>
          </a:xfrm>
        </p:spPr>
        <p:txBody>
          <a:bodyPr>
            <a:normAutofit/>
          </a:bodyPr>
          <a:lstStyle/>
          <a:p>
            <a:pPr algn="l" rtl="0"/>
            <a:r>
              <a:rPr lang="en-US" sz="1600"/>
              <a:t>Replaced fixed timestamps with dynamic timestamps.</a:t>
            </a:r>
          </a:p>
          <a:p>
            <a:pPr algn="l" rtl="0"/>
            <a:r>
              <a:rPr lang="en-US" sz="1600"/>
              <a:t>Added 8 variables to calculate average time between words and letters.</a:t>
            </a:r>
          </a:p>
          <a:p>
            <a:pPr algn="l" rtl="0"/>
            <a:r>
              <a:rPr lang="en-US" sz="1600"/>
              <a:t>Achieves better accuracy in detecting word boundaries.</a:t>
            </a:r>
          </a:p>
          <a:p>
            <a:pPr algn="l" rtl="0"/>
            <a:r>
              <a:rPr lang="en-US" sz="1600"/>
              <a:t>Adapts to different speaking speeds.</a:t>
            </a:r>
            <a:endParaRPr lang="he-IL" sz="1600"/>
          </a:p>
        </p:txBody>
      </p:sp>
    </p:spTree>
    <p:extLst>
      <p:ext uri="{BB962C8B-B14F-4D97-AF65-F5344CB8AC3E}">
        <p14:creationId xmlns:p14="http://schemas.microsoft.com/office/powerpoint/2010/main" val="39405896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E9271C28-7496-4447-8541-7B39F5E948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e-IL"/>
          </a:p>
        </p:txBody>
      </p:sp>
      <p:sp>
        <p:nvSpPr>
          <p:cNvPr id="2" name="Title 1">
            <a:extLst>
              <a:ext uri="{FF2B5EF4-FFF2-40B4-BE49-F238E27FC236}">
                <a16:creationId xmlns:a16="http://schemas.microsoft.com/office/drawing/2014/main" id="{74A5138E-9BF6-4F51-316C-1DB5BB2DCA61}"/>
              </a:ext>
            </a:extLst>
          </p:cNvPr>
          <p:cNvSpPr>
            <a:spLocks noGrp="1"/>
          </p:cNvSpPr>
          <p:nvPr>
            <p:ph type="title"/>
          </p:nvPr>
        </p:nvSpPr>
        <p:spPr>
          <a:xfrm>
            <a:off x="6106704" y="609600"/>
            <a:ext cx="5364444" cy="1356360"/>
          </a:xfrm>
        </p:spPr>
        <p:txBody>
          <a:bodyPr>
            <a:normAutofit/>
          </a:bodyPr>
          <a:lstStyle/>
          <a:p>
            <a:r>
              <a:rPr lang="en-US"/>
              <a:t>The 8 Key Variables</a:t>
            </a:r>
            <a:endParaRPr lang="he-IL"/>
          </a:p>
        </p:txBody>
      </p:sp>
      <p:pic>
        <p:nvPicPr>
          <p:cNvPr id="7" name="Graphic 6" descr="Mathematics">
            <a:extLst>
              <a:ext uri="{FF2B5EF4-FFF2-40B4-BE49-F238E27FC236}">
                <a16:creationId xmlns:a16="http://schemas.microsoft.com/office/drawing/2014/main" id="{FB0F5DE0-8BDF-EAFA-EF20-7A2F301E27A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72064" y="1131152"/>
            <a:ext cx="4593715" cy="4593715"/>
          </a:xfrm>
          <a:prstGeom prst="rect">
            <a:avLst/>
          </a:prstGeom>
        </p:spPr>
      </p:pic>
      <p:sp>
        <p:nvSpPr>
          <p:cNvPr id="3" name="Content Placeholder 2">
            <a:extLst>
              <a:ext uri="{FF2B5EF4-FFF2-40B4-BE49-F238E27FC236}">
                <a16:creationId xmlns:a16="http://schemas.microsoft.com/office/drawing/2014/main" id="{AE0CC567-F309-F3B5-B3C0-1D7BBEF986FF}"/>
              </a:ext>
            </a:extLst>
          </p:cNvPr>
          <p:cNvSpPr>
            <a:spLocks noGrp="1"/>
          </p:cNvSpPr>
          <p:nvPr>
            <p:ph idx="1"/>
          </p:nvPr>
        </p:nvSpPr>
        <p:spPr>
          <a:xfrm>
            <a:off x="6106703" y="2057400"/>
            <a:ext cx="5364444" cy="4038600"/>
          </a:xfrm>
        </p:spPr>
        <p:txBody>
          <a:bodyPr>
            <a:normAutofit/>
          </a:bodyPr>
          <a:lstStyle/>
          <a:p>
            <a:pPr algn="l" rtl="0">
              <a:buFont typeface="Arial" panose="020B0604020202020204" pitchFamily="34" charset="0"/>
              <a:buChar char="•"/>
            </a:pPr>
            <a:r>
              <a:rPr lang="en-US" b="1"/>
              <a:t>8 variables help calculate the average time between words and letters:</a:t>
            </a:r>
            <a:endParaRPr lang="en-US"/>
          </a:p>
          <a:p>
            <a:pPr marL="742950" lvl="1" indent="-285750" algn="l" rtl="0">
              <a:buFont typeface="Arial" panose="020B0604020202020204" pitchFamily="34" charset="0"/>
              <a:buChar char="•"/>
            </a:pPr>
            <a:r>
              <a:rPr lang="en-US" b="1"/>
              <a:t>SBL</a:t>
            </a:r>
            <a:r>
              <a:rPr lang="en-US"/>
              <a:t> - Space Between Letters</a:t>
            </a:r>
          </a:p>
          <a:p>
            <a:pPr marL="742950" lvl="1" indent="-285750" algn="l" rtl="0">
              <a:buFont typeface="Arial" panose="020B0604020202020204" pitchFamily="34" charset="0"/>
              <a:buChar char="•"/>
            </a:pPr>
            <a:r>
              <a:rPr lang="en-US" b="1"/>
              <a:t>SBW</a:t>
            </a:r>
            <a:r>
              <a:rPr lang="en-US"/>
              <a:t> - Space Between Words</a:t>
            </a:r>
          </a:p>
          <a:p>
            <a:pPr marL="742950" lvl="1" indent="-285750" algn="l" rtl="0">
              <a:buFont typeface="Arial" panose="020B0604020202020204" pitchFamily="34" charset="0"/>
              <a:buChar char="•"/>
            </a:pPr>
            <a:r>
              <a:rPr lang="en-US" b="1"/>
              <a:t>NOL</a:t>
            </a:r>
            <a:r>
              <a:rPr lang="en-US"/>
              <a:t> - Number of Letters</a:t>
            </a:r>
          </a:p>
          <a:p>
            <a:pPr marL="742950" lvl="1" indent="-285750" algn="l" rtl="0">
              <a:buFont typeface="Arial" panose="020B0604020202020204" pitchFamily="34" charset="0"/>
              <a:buChar char="•"/>
            </a:pPr>
            <a:r>
              <a:rPr lang="en-US" b="1"/>
              <a:t>NOW</a:t>
            </a:r>
            <a:r>
              <a:rPr lang="en-US"/>
              <a:t> - Number of Words</a:t>
            </a:r>
          </a:p>
          <a:p>
            <a:pPr marL="742950" lvl="1" indent="-285750" algn="l" rtl="0">
              <a:buFont typeface="Arial" panose="020B0604020202020204" pitchFamily="34" charset="0"/>
              <a:buChar char="•"/>
            </a:pPr>
            <a:r>
              <a:rPr lang="en-US" b="1"/>
              <a:t>SOTTL</a:t>
            </a:r>
            <a:r>
              <a:rPr lang="en-US"/>
              <a:t> - Sum of Time for Letters</a:t>
            </a:r>
          </a:p>
          <a:p>
            <a:pPr marL="742950" lvl="1" indent="-285750" algn="l" rtl="0">
              <a:buFont typeface="Arial" panose="020B0604020202020204" pitchFamily="34" charset="0"/>
              <a:buChar char="•"/>
            </a:pPr>
            <a:r>
              <a:rPr lang="en-US" b="1"/>
              <a:t>SOTTW</a:t>
            </a:r>
            <a:r>
              <a:rPr lang="en-US"/>
              <a:t> - Sum of Time for Words</a:t>
            </a:r>
          </a:p>
          <a:p>
            <a:pPr marL="742950" lvl="1" indent="-285750" algn="l" rtl="0">
              <a:buFont typeface="Arial" panose="020B0604020202020204" pitchFamily="34" charset="0"/>
              <a:buChar char="•"/>
            </a:pPr>
            <a:r>
              <a:rPr lang="en-US" b="1" err="1"/>
              <a:t>avg_time_letter</a:t>
            </a:r>
            <a:r>
              <a:rPr lang="en-US"/>
              <a:t> - Average Letter Time</a:t>
            </a:r>
          </a:p>
          <a:p>
            <a:pPr marL="742950" lvl="1" indent="-285750" algn="l" rtl="0">
              <a:buFont typeface="Arial" panose="020B0604020202020204" pitchFamily="34" charset="0"/>
              <a:buChar char="•"/>
            </a:pPr>
            <a:r>
              <a:rPr lang="en-US" b="1" err="1"/>
              <a:t>avg_time_word</a:t>
            </a:r>
            <a:r>
              <a:rPr lang="en-US"/>
              <a:t> - Average Word Time</a:t>
            </a:r>
          </a:p>
          <a:p>
            <a:pPr marL="45720" indent="0" algn="l" rtl="0">
              <a:buNone/>
            </a:pPr>
            <a:endParaRPr lang="he-IL"/>
          </a:p>
        </p:txBody>
      </p:sp>
    </p:spTree>
    <p:extLst>
      <p:ext uri="{BB962C8B-B14F-4D97-AF65-F5344CB8AC3E}">
        <p14:creationId xmlns:p14="http://schemas.microsoft.com/office/powerpoint/2010/main" val="40214091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007E606-BF14-4D30-A51F-0442F7656A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e-IL"/>
          </a:p>
        </p:txBody>
      </p:sp>
      <p:sp>
        <p:nvSpPr>
          <p:cNvPr id="2" name="Title 1">
            <a:extLst>
              <a:ext uri="{FF2B5EF4-FFF2-40B4-BE49-F238E27FC236}">
                <a16:creationId xmlns:a16="http://schemas.microsoft.com/office/drawing/2014/main" id="{C239C0B5-2127-8714-BCFD-E122D22E8604}"/>
              </a:ext>
            </a:extLst>
          </p:cNvPr>
          <p:cNvSpPr>
            <a:spLocks noGrp="1"/>
          </p:cNvSpPr>
          <p:nvPr>
            <p:ph type="title"/>
          </p:nvPr>
        </p:nvSpPr>
        <p:spPr>
          <a:xfrm>
            <a:off x="4648404" y="609600"/>
            <a:ext cx="6822744" cy="1356360"/>
          </a:xfrm>
        </p:spPr>
        <p:txBody>
          <a:bodyPr>
            <a:normAutofit/>
          </a:bodyPr>
          <a:lstStyle/>
          <a:p>
            <a:r>
              <a:rPr lang="en-US" sz="4100" b="1"/>
              <a:t>Impact of Our Improvements</a:t>
            </a:r>
            <a:br>
              <a:rPr lang="en-US" sz="4100" b="1"/>
            </a:br>
            <a:endParaRPr lang="he-IL" sz="4100"/>
          </a:p>
        </p:txBody>
      </p:sp>
      <p:pic>
        <p:nvPicPr>
          <p:cNvPr id="7" name="Graphic 6" descr="Bullseye">
            <a:extLst>
              <a:ext uri="{FF2B5EF4-FFF2-40B4-BE49-F238E27FC236}">
                <a16:creationId xmlns:a16="http://schemas.microsoft.com/office/drawing/2014/main" id="{8CDC7094-4E6A-E491-A226-46A99AD33CE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72065" y="1860302"/>
            <a:ext cx="3135414" cy="3135414"/>
          </a:xfrm>
          <a:prstGeom prst="rect">
            <a:avLst/>
          </a:prstGeom>
        </p:spPr>
      </p:pic>
      <p:sp>
        <p:nvSpPr>
          <p:cNvPr id="3" name="Content Placeholder 2">
            <a:extLst>
              <a:ext uri="{FF2B5EF4-FFF2-40B4-BE49-F238E27FC236}">
                <a16:creationId xmlns:a16="http://schemas.microsoft.com/office/drawing/2014/main" id="{317CF558-88BB-F073-8A36-58E2E814BD3D}"/>
              </a:ext>
            </a:extLst>
          </p:cNvPr>
          <p:cNvSpPr>
            <a:spLocks noGrp="1"/>
          </p:cNvSpPr>
          <p:nvPr>
            <p:ph idx="1"/>
          </p:nvPr>
        </p:nvSpPr>
        <p:spPr>
          <a:xfrm>
            <a:off x="4648404" y="2057400"/>
            <a:ext cx="6822744" cy="4038600"/>
          </a:xfrm>
        </p:spPr>
        <p:txBody>
          <a:bodyPr>
            <a:normAutofit/>
          </a:bodyPr>
          <a:lstStyle/>
          <a:p>
            <a:pPr algn="l" rtl="0"/>
            <a:r>
              <a:rPr lang="en-US"/>
              <a:t>More accurate lip reading.</a:t>
            </a:r>
          </a:p>
          <a:p>
            <a:pPr algn="l" rtl="0"/>
            <a:r>
              <a:rPr lang="en-US"/>
              <a:t>Works better in real situations.</a:t>
            </a:r>
          </a:p>
          <a:p>
            <a:pPr algn="l" rtl="0"/>
            <a:r>
              <a:rPr lang="en-US"/>
              <a:t>Adapts to different speaking styles.</a:t>
            </a:r>
          </a:p>
          <a:p>
            <a:pPr algn="l" rtl="0"/>
            <a:endParaRPr lang="he-IL"/>
          </a:p>
        </p:txBody>
      </p:sp>
    </p:spTree>
    <p:extLst>
      <p:ext uri="{BB962C8B-B14F-4D97-AF65-F5344CB8AC3E}">
        <p14:creationId xmlns:p14="http://schemas.microsoft.com/office/powerpoint/2010/main" val="4308164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79CBD3C9-4E66-426D-948E-7CF4778107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e-IL"/>
          </a:p>
        </p:txBody>
      </p:sp>
      <p:sp>
        <p:nvSpPr>
          <p:cNvPr id="22" name="Rectangle 21">
            <a:extLst>
              <a:ext uri="{FF2B5EF4-FFF2-40B4-BE49-F238E27FC236}">
                <a16:creationId xmlns:a16="http://schemas.microsoft.com/office/drawing/2014/main" id="{DDB95FCF-AD96-482F-9FB8-CD95725E6E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solidFill>
            <a:schemeClr val="accent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e-IL"/>
          </a:p>
        </p:txBody>
      </p:sp>
      <p:cxnSp>
        <p:nvCxnSpPr>
          <p:cNvPr id="23" name="Straight Connector 22">
            <a:extLst>
              <a:ext uri="{FF2B5EF4-FFF2-40B4-BE49-F238E27FC236}">
                <a16:creationId xmlns:a16="http://schemas.microsoft.com/office/drawing/2014/main" id="{64EEEC00-AD80-4734-BEE6-04CBDEC830C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978660" y="3733800"/>
            <a:ext cx="8229601"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2ED84DD6-8A68-4994-8094-8DDBE89BF3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2100" cy="6377939"/>
          </a:xfrm>
          <a:prstGeom prst="rect">
            <a:avLst/>
          </a:prstGeom>
          <a:solidFill>
            <a:schemeClr val="bg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e-IL"/>
          </a:p>
        </p:txBody>
      </p:sp>
      <p:sp>
        <p:nvSpPr>
          <p:cNvPr id="25" name="Rectangle 24">
            <a:extLst>
              <a:ext uri="{FF2B5EF4-FFF2-40B4-BE49-F238E27FC236}">
                <a16:creationId xmlns:a16="http://schemas.microsoft.com/office/drawing/2014/main" id="{176049D7-366E-4AC9-B689-460CC28F8E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52944" y="246887"/>
            <a:ext cx="4397755" cy="6377939"/>
          </a:xfrm>
          <a:prstGeom prst="rect">
            <a:avLst/>
          </a:prstGeom>
          <a:solidFill>
            <a:srgbClr val="A6B727"/>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e-IL"/>
          </a:p>
        </p:txBody>
      </p:sp>
      <p:cxnSp>
        <p:nvCxnSpPr>
          <p:cNvPr id="19" name="Straight Connector 18">
            <a:extLst>
              <a:ext uri="{FF2B5EF4-FFF2-40B4-BE49-F238E27FC236}">
                <a16:creationId xmlns:a16="http://schemas.microsoft.com/office/drawing/2014/main" id="{BC9E91F8-C4AE-4EB0-8B76-FF3F3FC7183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370284" y="4405863"/>
            <a:ext cx="2763075"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4AD45A04-4150-4943-BB06-EEEDDD73BF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00" y="246888"/>
            <a:ext cx="11724640" cy="6377939"/>
          </a:xfrm>
          <a:prstGeom prst="rect">
            <a:avLst/>
          </a:pr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EBD0A5F6-D90F-B7AC-4846-F038FBBB5E3F}"/>
              </a:ext>
            </a:extLst>
          </p:cNvPr>
          <p:cNvSpPr>
            <a:spLocks noGrp="1"/>
          </p:cNvSpPr>
          <p:nvPr>
            <p:ph type="title"/>
          </p:nvPr>
        </p:nvSpPr>
        <p:spPr>
          <a:xfrm>
            <a:off x="8195138" y="857675"/>
            <a:ext cx="3113366" cy="3622844"/>
          </a:xfrm>
        </p:spPr>
        <p:txBody>
          <a:bodyPr vert="horz" lIns="91440" tIns="45720" rIns="91440" bIns="45720" rtlCol="0" anchor="b">
            <a:normAutofit/>
          </a:bodyPr>
          <a:lstStyle/>
          <a:p>
            <a:pPr algn="ctr" rtl="0">
              <a:lnSpc>
                <a:spcPct val="85000"/>
              </a:lnSpc>
            </a:pPr>
            <a:r>
              <a:rPr lang="en-US" sz="3800" b="1" cap="all">
                <a:solidFill>
                  <a:srgbClr val="FFFFFF"/>
                </a:solidFill>
              </a:rPr>
              <a:t>Algorithm &amp; Process Workflow</a:t>
            </a:r>
          </a:p>
        </p:txBody>
      </p:sp>
      <p:pic>
        <p:nvPicPr>
          <p:cNvPr id="26" name="Graphic 25" descr="Workflow">
            <a:extLst>
              <a:ext uri="{FF2B5EF4-FFF2-40B4-BE49-F238E27FC236}">
                <a16:creationId xmlns:a16="http://schemas.microsoft.com/office/drawing/2014/main" id="{53638FC6-05C1-63D4-022E-CEF1E1679BF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324517" y="857675"/>
            <a:ext cx="5140669" cy="5140669"/>
          </a:xfrm>
          <a:prstGeom prst="rect">
            <a:avLst/>
          </a:prstGeom>
        </p:spPr>
      </p:pic>
    </p:spTree>
    <p:extLst>
      <p:ext uri="{BB962C8B-B14F-4D97-AF65-F5344CB8AC3E}">
        <p14:creationId xmlns:p14="http://schemas.microsoft.com/office/powerpoint/2010/main" val="245942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nodeType="withEffect">
                                  <p:stCondLst>
                                    <p:cond delay="500"/>
                                  </p:stCondLst>
                                  <p:iterate>
                                    <p:tmPct val="10000"/>
                                  </p:iterate>
                                  <p:childTnLst>
                                    <p:set>
                                      <p:cBhvr>
                                        <p:cTn id="9" dur="1" fill="hold">
                                          <p:stCondLst>
                                            <p:cond delay="0"/>
                                          </p:stCondLst>
                                        </p:cTn>
                                        <p:tgtEl>
                                          <p:spTgt spid="26"/>
                                        </p:tgtEl>
                                        <p:attrNameLst>
                                          <p:attrName>style.visibility</p:attrName>
                                        </p:attrNameLst>
                                      </p:cBhvr>
                                      <p:to>
                                        <p:strVal val="visible"/>
                                      </p:to>
                                    </p:set>
                                    <p:animEffect transition="in" filter="fade">
                                      <p:cBhvr>
                                        <p:cTn id="10" dur="7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520D8D5-53A0-D74F-E0DF-CF14C608BA9E}"/>
              </a:ext>
            </a:extLst>
          </p:cNvPr>
          <p:cNvSpPr>
            <a:spLocks noGrp="1"/>
          </p:cNvSpPr>
          <p:nvPr>
            <p:ph type="title"/>
          </p:nvPr>
        </p:nvSpPr>
        <p:spPr>
          <a:xfrm>
            <a:off x="1158240" y="267281"/>
            <a:ext cx="9875520" cy="1427873"/>
          </a:xfrm>
        </p:spPr>
        <p:txBody>
          <a:bodyPr/>
          <a:lstStyle/>
          <a:p>
            <a:pPr algn="ctr"/>
            <a:r>
              <a:rPr lang="en-US"/>
              <a:t>Full Process Flow Overview</a:t>
            </a:r>
            <a:br>
              <a:rPr lang="en-US"/>
            </a:br>
            <a:r>
              <a:rPr lang="en-US"/>
              <a:t>Video Upload</a:t>
            </a:r>
            <a:endParaRPr lang="en-IL"/>
          </a:p>
        </p:txBody>
      </p:sp>
      <p:sp>
        <p:nvSpPr>
          <p:cNvPr id="4" name="מלבן 3">
            <a:extLst>
              <a:ext uri="{FF2B5EF4-FFF2-40B4-BE49-F238E27FC236}">
                <a16:creationId xmlns:a16="http://schemas.microsoft.com/office/drawing/2014/main" id="{BB4DEC8D-5A2E-A51B-FE82-660A1D3E29B3}"/>
              </a:ext>
            </a:extLst>
          </p:cNvPr>
          <p:cNvSpPr/>
          <p:nvPr/>
        </p:nvSpPr>
        <p:spPr>
          <a:xfrm>
            <a:off x="317696" y="1778387"/>
            <a:ext cx="1519311"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Video</a:t>
            </a:r>
            <a:br>
              <a:rPr lang="en-US"/>
            </a:br>
            <a:r>
              <a:rPr lang="en-US"/>
              <a:t>Upload</a:t>
            </a:r>
            <a:endParaRPr lang="en-IL"/>
          </a:p>
        </p:txBody>
      </p:sp>
      <p:sp>
        <p:nvSpPr>
          <p:cNvPr id="5" name="מלבן 4">
            <a:extLst>
              <a:ext uri="{FF2B5EF4-FFF2-40B4-BE49-F238E27FC236}">
                <a16:creationId xmlns:a16="http://schemas.microsoft.com/office/drawing/2014/main" id="{9A34F6C7-C15F-9167-4197-5280B7CFBBE5}"/>
              </a:ext>
            </a:extLst>
          </p:cNvPr>
          <p:cNvSpPr/>
          <p:nvPr/>
        </p:nvSpPr>
        <p:spPr>
          <a:xfrm>
            <a:off x="2460674" y="1793629"/>
            <a:ext cx="1519311" cy="9144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Face</a:t>
            </a:r>
            <a:br>
              <a:rPr lang="en-US"/>
            </a:br>
            <a:r>
              <a:rPr lang="en-US"/>
              <a:t>Detection</a:t>
            </a:r>
            <a:endParaRPr lang="en-IL"/>
          </a:p>
        </p:txBody>
      </p:sp>
      <p:sp>
        <p:nvSpPr>
          <p:cNvPr id="6" name="מלבן 5">
            <a:extLst>
              <a:ext uri="{FF2B5EF4-FFF2-40B4-BE49-F238E27FC236}">
                <a16:creationId xmlns:a16="http://schemas.microsoft.com/office/drawing/2014/main" id="{4ADE1B0D-B046-FE4D-6424-7F9BBE8819CF}"/>
              </a:ext>
            </a:extLst>
          </p:cNvPr>
          <p:cNvSpPr/>
          <p:nvPr/>
        </p:nvSpPr>
        <p:spPr>
          <a:xfrm>
            <a:off x="5113606" y="1793629"/>
            <a:ext cx="1519311" cy="9144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Lip</a:t>
            </a:r>
            <a:br>
              <a:rPr lang="en-US"/>
            </a:br>
            <a:r>
              <a:rPr lang="en-US"/>
              <a:t>Detection</a:t>
            </a:r>
            <a:endParaRPr lang="en-IL"/>
          </a:p>
        </p:txBody>
      </p:sp>
      <p:sp>
        <p:nvSpPr>
          <p:cNvPr id="7" name="מלבן 6">
            <a:extLst>
              <a:ext uri="{FF2B5EF4-FFF2-40B4-BE49-F238E27FC236}">
                <a16:creationId xmlns:a16="http://schemas.microsoft.com/office/drawing/2014/main" id="{E1CDE79B-91C9-71E8-6125-00F207E86972}"/>
              </a:ext>
            </a:extLst>
          </p:cNvPr>
          <p:cNvSpPr/>
          <p:nvPr/>
        </p:nvSpPr>
        <p:spPr>
          <a:xfrm>
            <a:off x="7696200" y="1793630"/>
            <a:ext cx="1595510" cy="9144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Preprocessing</a:t>
            </a:r>
            <a:endParaRPr lang="en-IL"/>
          </a:p>
        </p:txBody>
      </p:sp>
      <p:sp>
        <p:nvSpPr>
          <p:cNvPr id="8" name="מלבן 7">
            <a:extLst>
              <a:ext uri="{FF2B5EF4-FFF2-40B4-BE49-F238E27FC236}">
                <a16:creationId xmlns:a16="http://schemas.microsoft.com/office/drawing/2014/main" id="{D83A89FE-0530-7D4F-1218-7A3CF13BAEA3}"/>
              </a:ext>
            </a:extLst>
          </p:cNvPr>
          <p:cNvSpPr/>
          <p:nvPr/>
        </p:nvSpPr>
        <p:spPr>
          <a:xfrm>
            <a:off x="10354993" y="1793630"/>
            <a:ext cx="1519311" cy="9144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Feature</a:t>
            </a:r>
          </a:p>
          <a:p>
            <a:pPr algn="ctr"/>
            <a:r>
              <a:rPr lang="en-US"/>
              <a:t>Extraction</a:t>
            </a:r>
            <a:endParaRPr lang="en-IL"/>
          </a:p>
        </p:txBody>
      </p:sp>
      <p:sp>
        <p:nvSpPr>
          <p:cNvPr id="10" name="מלבן 9">
            <a:extLst>
              <a:ext uri="{FF2B5EF4-FFF2-40B4-BE49-F238E27FC236}">
                <a16:creationId xmlns:a16="http://schemas.microsoft.com/office/drawing/2014/main" id="{2A3D6C11-EFB8-3D96-CCCD-FD3A52369500}"/>
              </a:ext>
            </a:extLst>
          </p:cNvPr>
          <p:cNvSpPr/>
          <p:nvPr/>
        </p:nvSpPr>
        <p:spPr>
          <a:xfrm>
            <a:off x="10316893" y="3312355"/>
            <a:ext cx="1595510" cy="9144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Viseme Classification</a:t>
            </a:r>
          </a:p>
        </p:txBody>
      </p:sp>
      <p:sp>
        <p:nvSpPr>
          <p:cNvPr id="12" name="מלבן 11">
            <a:extLst>
              <a:ext uri="{FF2B5EF4-FFF2-40B4-BE49-F238E27FC236}">
                <a16:creationId xmlns:a16="http://schemas.microsoft.com/office/drawing/2014/main" id="{7568AD3B-0A0E-CEB4-CDA9-2733CECBEF04}"/>
              </a:ext>
            </a:extLst>
          </p:cNvPr>
          <p:cNvSpPr/>
          <p:nvPr/>
        </p:nvSpPr>
        <p:spPr>
          <a:xfrm>
            <a:off x="7693268" y="3312356"/>
            <a:ext cx="1712156" cy="9144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Sentence</a:t>
            </a:r>
          </a:p>
          <a:p>
            <a:pPr algn="ctr"/>
            <a:r>
              <a:rPr lang="en-US"/>
              <a:t>Reconstruction</a:t>
            </a:r>
            <a:endParaRPr lang="en-IL"/>
          </a:p>
        </p:txBody>
      </p:sp>
      <p:sp>
        <p:nvSpPr>
          <p:cNvPr id="13" name="מלבן 12">
            <a:extLst>
              <a:ext uri="{FF2B5EF4-FFF2-40B4-BE49-F238E27FC236}">
                <a16:creationId xmlns:a16="http://schemas.microsoft.com/office/drawing/2014/main" id="{B42969E0-80DF-A1BD-A427-87A90CB88CFB}"/>
              </a:ext>
            </a:extLst>
          </p:cNvPr>
          <p:cNvSpPr/>
          <p:nvPr/>
        </p:nvSpPr>
        <p:spPr>
          <a:xfrm>
            <a:off x="5212666" y="3319977"/>
            <a:ext cx="1519311" cy="9144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Output</a:t>
            </a:r>
            <a:endParaRPr lang="en-IL"/>
          </a:p>
        </p:txBody>
      </p:sp>
      <p:cxnSp>
        <p:nvCxnSpPr>
          <p:cNvPr id="15" name="מחבר חץ ישר 14">
            <a:extLst>
              <a:ext uri="{FF2B5EF4-FFF2-40B4-BE49-F238E27FC236}">
                <a16:creationId xmlns:a16="http://schemas.microsoft.com/office/drawing/2014/main" id="{D28215C7-B873-0870-F517-9E284D35580C}"/>
              </a:ext>
            </a:extLst>
          </p:cNvPr>
          <p:cNvCxnSpPr>
            <a:stCxn id="4" idx="3"/>
            <a:endCxn id="5" idx="1"/>
          </p:cNvCxnSpPr>
          <p:nvPr/>
        </p:nvCxnSpPr>
        <p:spPr>
          <a:xfrm>
            <a:off x="1837007" y="2235587"/>
            <a:ext cx="623667" cy="1524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7" name="מחבר חץ ישר 16">
            <a:extLst>
              <a:ext uri="{FF2B5EF4-FFF2-40B4-BE49-F238E27FC236}">
                <a16:creationId xmlns:a16="http://schemas.microsoft.com/office/drawing/2014/main" id="{E4547399-A080-C912-581A-22E6F9B99000}"/>
              </a:ext>
            </a:extLst>
          </p:cNvPr>
          <p:cNvCxnSpPr>
            <a:cxnSpLocks/>
            <a:stCxn id="5" idx="3"/>
            <a:endCxn id="6" idx="1"/>
          </p:cNvCxnSpPr>
          <p:nvPr/>
        </p:nvCxnSpPr>
        <p:spPr>
          <a:xfrm>
            <a:off x="3979985" y="2250829"/>
            <a:ext cx="1133621"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9" name="מחבר חץ ישר 18">
            <a:extLst>
              <a:ext uri="{FF2B5EF4-FFF2-40B4-BE49-F238E27FC236}">
                <a16:creationId xmlns:a16="http://schemas.microsoft.com/office/drawing/2014/main" id="{7E6E428B-F981-A2B8-01CD-4865E28A1DFA}"/>
              </a:ext>
            </a:extLst>
          </p:cNvPr>
          <p:cNvCxnSpPr>
            <a:cxnSpLocks/>
            <a:stCxn id="6" idx="3"/>
            <a:endCxn id="7" idx="1"/>
          </p:cNvCxnSpPr>
          <p:nvPr/>
        </p:nvCxnSpPr>
        <p:spPr>
          <a:xfrm>
            <a:off x="6632917" y="2250829"/>
            <a:ext cx="1063283" cy="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2" name="מחבר חץ ישר 21">
            <a:extLst>
              <a:ext uri="{FF2B5EF4-FFF2-40B4-BE49-F238E27FC236}">
                <a16:creationId xmlns:a16="http://schemas.microsoft.com/office/drawing/2014/main" id="{57713B37-F941-19E3-5E3F-8E9708F04CE3}"/>
              </a:ext>
            </a:extLst>
          </p:cNvPr>
          <p:cNvCxnSpPr>
            <a:cxnSpLocks/>
            <a:stCxn id="7" idx="3"/>
            <a:endCxn id="8" idx="1"/>
          </p:cNvCxnSpPr>
          <p:nvPr/>
        </p:nvCxnSpPr>
        <p:spPr>
          <a:xfrm>
            <a:off x="9291710" y="2250830"/>
            <a:ext cx="1063283"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5" name="מחבר חץ ישר 24">
            <a:extLst>
              <a:ext uri="{FF2B5EF4-FFF2-40B4-BE49-F238E27FC236}">
                <a16:creationId xmlns:a16="http://schemas.microsoft.com/office/drawing/2014/main" id="{7E56ED4D-1175-AA54-15CF-83F249A0255C}"/>
              </a:ext>
            </a:extLst>
          </p:cNvPr>
          <p:cNvCxnSpPr>
            <a:cxnSpLocks/>
            <a:stCxn id="8" idx="2"/>
          </p:cNvCxnSpPr>
          <p:nvPr/>
        </p:nvCxnSpPr>
        <p:spPr>
          <a:xfrm>
            <a:off x="11114649" y="2708030"/>
            <a:ext cx="0" cy="61194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2" name="מחבר חץ ישר 31">
            <a:extLst>
              <a:ext uri="{FF2B5EF4-FFF2-40B4-BE49-F238E27FC236}">
                <a16:creationId xmlns:a16="http://schemas.microsoft.com/office/drawing/2014/main" id="{576F3C54-4841-9BCA-BADF-F03613A77ADE}"/>
              </a:ext>
            </a:extLst>
          </p:cNvPr>
          <p:cNvCxnSpPr>
            <a:cxnSpLocks/>
            <a:stCxn id="10" idx="1"/>
            <a:endCxn id="12" idx="3"/>
          </p:cNvCxnSpPr>
          <p:nvPr/>
        </p:nvCxnSpPr>
        <p:spPr>
          <a:xfrm flipH="1">
            <a:off x="9405424" y="3769555"/>
            <a:ext cx="911469" cy="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5" name="מחבר חץ ישר 34">
            <a:extLst>
              <a:ext uri="{FF2B5EF4-FFF2-40B4-BE49-F238E27FC236}">
                <a16:creationId xmlns:a16="http://schemas.microsoft.com/office/drawing/2014/main" id="{D9B130BC-6B15-7797-998B-4793B002A4A7}"/>
              </a:ext>
            </a:extLst>
          </p:cNvPr>
          <p:cNvCxnSpPr>
            <a:cxnSpLocks/>
            <a:stCxn id="12" idx="1"/>
            <a:endCxn id="13" idx="3"/>
          </p:cNvCxnSpPr>
          <p:nvPr/>
        </p:nvCxnSpPr>
        <p:spPr>
          <a:xfrm flipH="1">
            <a:off x="6731977" y="3769556"/>
            <a:ext cx="961291" cy="762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8" name="תיבת טקסט 37">
            <a:extLst>
              <a:ext uri="{FF2B5EF4-FFF2-40B4-BE49-F238E27FC236}">
                <a16:creationId xmlns:a16="http://schemas.microsoft.com/office/drawing/2014/main" id="{AD222A21-AE72-C5F9-6365-ECA18CE70D13}"/>
              </a:ext>
            </a:extLst>
          </p:cNvPr>
          <p:cNvSpPr txBox="1"/>
          <p:nvPr/>
        </p:nvSpPr>
        <p:spPr>
          <a:xfrm>
            <a:off x="669388" y="4846323"/>
            <a:ext cx="10605868" cy="369332"/>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pPr algn="l"/>
            <a:r>
              <a:rPr lang="en-US" b="1"/>
              <a:t>Simple I/O operation</a:t>
            </a:r>
            <a:endParaRPr lang="en-IL" b="1"/>
          </a:p>
        </p:txBody>
      </p:sp>
      <p:sp>
        <p:nvSpPr>
          <p:cNvPr id="41" name="תיבת טקסט 40">
            <a:extLst>
              <a:ext uri="{FF2B5EF4-FFF2-40B4-BE49-F238E27FC236}">
                <a16:creationId xmlns:a16="http://schemas.microsoft.com/office/drawing/2014/main" id="{2F24B1C1-03B5-1D08-78E6-29B63C984B27}"/>
              </a:ext>
            </a:extLst>
          </p:cNvPr>
          <p:cNvSpPr txBox="1"/>
          <p:nvPr/>
        </p:nvSpPr>
        <p:spPr>
          <a:xfrm>
            <a:off x="779832" y="2692787"/>
            <a:ext cx="595035" cy="369332"/>
          </a:xfrm>
          <a:prstGeom prst="rect">
            <a:avLst/>
          </a:prstGeom>
          <a:noFill/>
        </p:spPr>
        <p:txBody>
          <a:bodyPr wrap="none" rtlCol="0">
            <a:spAutoFit/>
          </a:bodyPr>
          <a:lstStyle/>
          <a:p>
            <a:r>
              <a:rPr lang="en-US"/>
              <a:t>O(1)</a:t>
            </a:r>
            <a:endParaRPr lang="en-IL"/>
          </a:p>
        </p:txBody>
      </p:sp>
    </p:spTree>
    <p:extLst>
      <p:ext uri="{BB962C8B-B14F-4D97-AF65-F5344CB8AC3E}">
        <p14:creationId xmlns:p14="http://schemas.microsoft.com/office/powerpoint/2010/main" val="15222571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CD9A8E-5889-8DE7-4BFA-4E0C294F658B}"/>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35C8A22B-5ABF-C6D0-37B3-986A67AA6448}"/>
              </a:ext>
            </a:extLst>
          </p:cNvPr>
          <p:cNvSpPr>
            <a:spLocks noGrp="1"/>
          </p:cNvSpPr>
          <p:nvPr>
            <p:ph type="title"/>
          </p:nvPr>
        </p:nvSpPr>
        <p:spPr>
          <a:xfrm>
            <a:off x="1158240" y="267281"/>
            <a:ext cx="9875520" cy="1427873"/>
          </a:xfrm>
        </p:spPr>
        <p:txBody>
          <a:bodyPr/>
          <a:lstStyle/>
          <a:p>
            <a:pPr algn="ctr"/>
            <a:r>
              <a:rPr lang="en-US"/>
              <a:t>Full Process Flow Overview</a:t>
            </a:r>
            <a:br>
              <a:rPr lang="en-US"/>
            </a:br>
            <a:r>
              <a:rPr lang="en-US"/>
              <a:t>Face Detection</a:t>
            </a:r>
            <a:endParaRPr lang="en-IL"/>
          </a:p>
        </p:txBody>
      </p:sp>
      <p:sp>
        <p:nvSpPr>
          <p:cNvPr id="4" name="מלבן 3">
            <a:extLst>
              <a:ext uri="{FF2B5EF4-FFF2-40B4-BE49-F238E27FC236}">
                <a16:creationId xmlns:a16="http://schemas.microsoft.com/office/drawing/2014/main" id="{F6292DFF-CEB8-29BA-3B3B-8837103731CA}"/>
              </a:ext>
            </a:extLst>
          </p:cNvPr>
          <p:cNvSpPr/>
          <p:nvPr/>
        </p:nvSpPr>
        <p:spPr>
          <a:xfrm>
            <a:off x="317696" y="1778387"/>
            <a:ext cx="1519311" cy="91440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a:t>Video</a:t>
            </a:r>
            <a:br>
              <a:rPr lang="en-US"/>
            </a:br>
            <a:r>
              <a:rPr lang="en-US"/>
              <a:t>Upload</a:t>
            </a:r>
            <a:endParaRPr lang="en-IL"/>
          </a:p>
        </p:txBody>
      </p:sp>
      <p:sp>
        <p:nvSpPr>
          <p:cNvPr id="5" name="מלבן 4">
            <a:extLst>
              <a:ext uri="{FF2B5EF4-FFF2-40B4-BE49-F238E27FC236}">
                <a16:creationId xmlns:a16="http://schemas.microsoft.com/office/drawing/2014/main" id="{87A0D606-1285-6DB0-2F89-BD2025D0C33B}"/>
              </a:ext>
            </a:extLst>
          </p:cNvPr>
          <p:cNvSpPr/>
          <p:nvPr/>
        </p:nvSpPr>
        <p:spPr>
          <a:xfrm>
            <a:off x="2460674" y="1793629"/>
            <a:ext cx="1519311"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Face</a:t>
            </a:r>
            <a:br>
              <a:rPr lang="en-US"/>
            </a:br>
            <a:r>
              <a:rPr lang="en-US"/>
              <a:t>Detection</a:t>
            </a:r>
            <a:endParaRPr lang="en-IL"/>
          </a:p>
        </p:txBody>
      </p:sp>
      <p:sp>
        <p:nvSpPr>
          <p:cNvPr id="6" name="מלבן 5">
            <a:extLst>
              <a:ext uri="{FF2B5EF4-FFF2-40B4-BE49-F238E27FC236}">
                <a16:creationId xmlns:a16="http://schemas.microsoft.com/office/drawing/2014/main" id="{584DA354-4E41-13E5-8886-0E4948260138}"/>
              </a:ext>
            </a:extLst>
          </p:cNvPr>
          <p:cNvSpPr/>
          <p:nvPr/>
        </p:nvSpPr>
        <p:spPr>
          <a:xfrm>
            <a:off x="5113606" y="1793629"/>
            <a:ext cx="1519311" cy="9144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Lip</a:t>
            </a:r>
            <a:br>
              <a:rPr lang="en-US"/>
            </a:br>
            <a:r>
              <a:rPr lang="en-US"/>
              <a:t>Detection</a:t>
            </a:r>
            <a:endParaRPr lang="en-IL"/>
          </a:p>
        </p:txBody>
      </p:sp>
      <p:sp>
        <p:nvSpPr>
          <p:cNvPr id="7" name="מלבן 6">
            <a:extLst>
              <a:ext uri="{FF2B5EF4-FFF2-40B4-BE49-F238E27FC236}">
                <a16:creationId xmlns:a16="http://schemas.microsoft.com/office/drawing/2014/main" id="{FE5A6A23-D411-0FF8-E3FE-CA3AC58C8556}"/>
              </a:ext>
            </a:extLst>
          </p:cNvPr>
          <p:cNvSpPr/>
          <p:nvPr/>
        </p:nvSpPr>
        <p:spPr>
          <a:xfrm>
            <a:off x="7696200" y="1793630"/>
            <a:ext cx="1595510" cy="9144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Preprocessing</a:t>
            </a:r>
            <a:endParaRPr lang="en-IL"/>
          </a:p>
        </p:txBody>
      </p:sp>
      <p:sp>
        <p:nvSpPr>
          <p:cNvPr id="8" name="מלבן 7">
            <a:extLst>
              <a:ext uri="{FF2B5EF4-FFF2-40B4-BE49-F238E27FC236}">
                <a16:creationId xmlns:a16="http://schemas.microsoft.com/office/drawing/2014/main" id="{634772D7-3B3A-EB02-F16B-83E3CEE13BCB}"/>
              </a:ext>
            </a:extLst>
          </p:cNvPr>
          <p:cNvSpPr/>
          <p:nvPr/>
        </p:nvSpPr>
        <p:spPr>
          <a:xfrm>
            <a:off x="10354993" y="1793630"/>
            <a:ext cx="1519311" cy="9144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Feature</a:t>
            </a:r>
          </a:p>
          <a:p>
            <a:pPr algn="ctr"/>
            <a:r>
              <a:rPr lang="en-US"/>
              <a:t>Extraction</a:t>
            </a:r>
            <a:endParaRPr lang="en-IL"/>
          </a:p>
        </p:txBody>
      </p:sp>
      <p:sp>
        <p:nvSpPr>
          <p:cNvPr id="10" name="מלבן 9">
            <a:extLst>
              <a:ext uri="{FF2B5EF4-FFF2-40B4-BE49-F238E27FC236}">
                <a16:creationId xmlns:a16="http://schemas.microsoft.com/office/drawing/2014/main" id="{FD313290-054F-A3B0-7D8F-B3B507888C63}"/>
              </a:ext>
            </a:extLst>
          </p:cNvPr>
          <p:cNvSpPr/>
          <p:nvPr/>
        </p:nvSpPr>
        <p:spPr>
          <a:xfrm>
            <a:off x="10316893" y="3312355"/>
            <a:ext cx="1595510" cy="9144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Viseme Classification</a:t>
            </a:r>
          </a:p>
        </p:txBody>
      </p:sp>
      <p:sp>
        <p:nvSpPr>
          <p:cNvPr id="12" name="מלבן 11">
            <a:extLst>
              <a:ext uri="{FF2B5EF4-FFF2-40B4-BE49-F238E27FC236}">
                <a16:creationId xmlns:a16="http://schemas.microsoft.com/office/drawing/2014/main" id="{4C9C9888-6F9F-47CA-5E90-C8B638898248}"/>
              </a:ext>
            </a:extLst>
          </p:cNvPr>
          <p:cNvSpPr/>
          <p:nvPr/>
        </p:nvSpPr>
        <p:spPr>
          <a:xfrm>
            <a:off x="7693268" y="3312356"/>
            <a:ext cx="1712156" cy="9144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Sentence</a:t>
            </a:r>
          </a:p>
          <a:p>
            <a:pPr algn="ctr"/>
            <a:r>
              <a:rPr lang="en-US"/>
              <a:t>Reconstruction</a:t>
            </a:r>
            <a:endParaRPr lang="en-IL"/>
          </a:p>
        </p:txBody>
      </p:sp>
      <p:sp>
        <p:nvSpPr>
          <p:cNvPr id="13" name="מלבן 12">
            <a:extLst>
              <a:ext uri="{FF2B5EF4-FFF2-40B4-BE49-F238E27FC236}">
                <a16:creationId xmlns:a16="http://schemas.microsoft.com/office/drawing/2014/main" id="{C72DB38B-8E7C-382F-C6A3-A711B765E890}"/>
              </a:ext>
            </a:extLst>
          </p:cNvPr>
          <p:cNvSpPr/>
          <p:nvPr/>
        </p:nvSpPr>
        <p:spPr>
          <a:xfrm>
            <a:off x="5212666" y="3319977"/>
            <a:ext cx="1519311" cy="9144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Output</a:t>
            </a:r>
            <a:endParaRPr lang="en-IL"/>
          </a:p>
        </p:txBody>
      </p:sp>
      <p:cxnSp>
        <p:nvCxnSpPr>
          <p:cNvPr id="15" name="מחבר חץ ישר 14">
            <a:extLst>
              <a:ext uri="{FF2B5EF4-FFF2-40B4-BE49-F238E27FC236}">
                <a16:creationId xmlns:a16="http://schemas.microsoft.com/office/drawing/2014/main" id="{206E001C-43D9-869D-7895-D5ED8B430255}"/>
              </a:ext>
            </a:extLst>
          </p:cNvPr>
          <p:cNvCxnSpPr>
            <a:stCxn id="4" idx="3"/>
            <a:endCxn id="5" idx="1"/>
          </p:cNvCxnSpPr>
          <p:nvPr/>
        </p:nvCxnSpPr>
        <p:spPr>
          <a:xfrm>
            <a:off x="1837007" y="2235587"/>
            <a:ext cx="623667" cy="1524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7" name="מחבר חץ ישר 16">
            <a:extLst>
              <a:ext uri="{FF2B5EF4-FFF2-40B4-BE49-F238E27FC236}">
                <a16:creationId xmlns:a16="http://schemas.microsoft.com/office/drawing/2014/main" id="{09538557-2D26-992D-1C9C-6C7BE1E530D4}"/>
              </a:ext>
            </a:extLst>
          </p:cNvPr>
          <p:cNvCxnSpPr>
            <a:cxnSpLocks/>
            <a:stCxn id="5" idx="3"/>
            <a:endCxn id="6" idx="1"/>
          </p:cNvCxnSpPr>
          <p:nvPr/>
        </p:nvCxnSpPr>
        <p:spPr>
          <a:xfrm>
            <a:off x="3979985" y="2250829"/>
            <a:ext cx="1133621"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9" name="מחבר חץ ישר 18">
            <a:extLst>
              <a:ext uri="{FF2B5EF4-FFF2-40B4-BE49-F238E27FC236}">
                <a16:creationId xmlns:a16="http://schemas.microsoft.com/office/drawing/2014/main" id="{C5B40C1C-26F9-3C5A-5512-EC01D86B1EF6}"/>
              </a:ext>
            </a:extLst>
          </p:cNvPr>
          <p:cNvCxnSpPr>
            <a:cxnSpLocks/>
            <a:stCxn id="6" idx="3"/>
            <a:endCxn id="7" idx="1"/>
          </p:cNvCxnSpPr>
          <p:nvPr/>
        </p:nvCxnSpPr>
        <p:spPr>
          <a:xfrm>
            <a:off x="6632917" y="2250829"/>
            <a:ext cx="1063283" cy="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2" name="מחבר חץ ישר 21">
            <a:extLst>
              <a:ext uri="{FF2B5EF4-FFF2-40B4-BE49-F238E27FC236}">
                <a16:creationId xmlns:a16="http://schemas.microsoft.com/office/drawing/2014/main" id="{D4A895AC-5877-44CB-442D-4DC81352F548}"/>
              </a:ext>
            </a:extLst>
          </p:cNvPr>
          <p:cNvCxnSpPr>
            <a:cxnSpLocks/>
            <a:stCxn id="7" idx="3"/>
            <a:endCxn id="8" idx="1"/>
          </p:cNvCxnSpPr>
          <p:nvPr/>
        </p:nvCxnSpPr>
        <p:spPr>
          <a:xfrm>
            <a:off x="9291710" y="2250830"/>
            <a:ext cx="1063283"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5" name="מחבר חץ ישר 24">
            <a:extLst>
              <a:ext uri="{FF2B5EF4-FFF2-40B4-BE49-F238E27FC236}">
                <a16:creationId xmlns:a16="http://schemas.microsoft.com/office/drawing/2014/main" id="{52886A4C-DBFB-AE72-8E93-F123F7F15D8D}"/>
              </a:ext>
            </a:extLst>
          </p:cNvPr>
          <p:cNvCxnSpPr>
            <a:cxnSpLocks/>
            <a:stCxn id="8" idx="2"/>
          </p:cNvCxnSpPr>
          <p:nvPr/>
        </p:nvCxnSpPr>
        <p:spPr>
          <a:xfrm>
            <a:off x="11114649" y="2708030"/>
            <a:ext cx="0" cy="61194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2" name="מחבר חץ ישר 31">
            <a:extLst>
              <a:ext uri="{FF2B5EF4-FFF2-40B4-BE49-F238E27FC236}">
                <a16:creationId xmlns:a16="http://schemas.microsoft.com/office/drawing/2014/main" id="{5F2E87AE-F23E-6724-5F32-55C91CAD23C4}"/>
              </a:ext>
            </a:extLst>
          </p:cNvPr>
          <p:cNvCxnSpPr>
            <a:cxnSpLocks/>
            <a:stCxn id="10" idx="1"/>
            <a:endCxn id="12" idx="3"/>
          </p:cNvCxnSpPr>
          <p:nvPr/>
        </p:nvCxnSpPr>
        <p:spPr>
          <a:xfrm flipH="1">
            <a:off x="9405424" y="3769555"/>
            <a:ext cx="911469" cy="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5" name="מחבר חץ ישר 34">
            <a:extLst>
              <a:ext uri="{FF2B5EF4-FFF2-40B4-BE49-F238E27FC236}">
                <a16:creationId xmlns:a16="http://schemas.microsoft.com/office/drawing/2014/main" id="{BA06BEB0-C8AE-3CC6-D19E-27DCA541E071}"/>
              </a:ext>
            </a:extLst>
          </p:cNvPr>
          <p:cNvCxnSpPr>
            <a:cxnSpLocks/>
            <a:stCxn id="12" idx="1"/>
            <a:endCxn id="13" idx="3"/>
          </p:cNvCxnSpPr>
          <p:nvPr/>
        </p:nvCxnSpPr>
        <p:spPr>
          <a:xfrm flipH="1">
            <a:off x="6731977" y="3769556"/>
            <a:ext cx="961291" cy="762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8" name="תיבת טקסט 37">
            <a:extLst>
              <a:ext uri="{FF2B5EF4-FFF2-40B4-BE49-F238E27FC236}">
                <a16:creationId xmlns:a16="http://schemas.microsoft.com/office/drawing/2014/main" id="{38C20E96-ACB4-A893-4127-B283A97B9FE7}"/>
              </a:ext>
            </a:extLst>
          </p:cNvPr>
          <p:cNvSpPr txBox="1"/>
          <p:nvPr/>
        </p:nvSpPr>
        <p:spPr>
          <a:xfrm>
            <a:off x="669388" y="4846323"/>
            <a:ext cx="10605868" cy="369332"/>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pPr algn="l"/>
            <a:r>
              <a:rPr lang="en-GB" b="1"/>
              <a:t>Algorithm</a:t>
            </a:r>
            <a:r>
              <a:rPr lang="en-GB"/>
              <a:t>: </a:t>
            </a:r>
            <a:r>
              <a:rPr lang="en-GB" b="1"/>
              <a:t>SSD (Single Shot </a:t>
            </a:r>
            <a:r>
              <a:rPr lang="en-GB" b="1" err="1"/>
              <a:t>MultiBox</a:t>
            </a:r>
            <a:r>
              <a:rPr lang="en-GB" b="1"/>
              <a:t> Detector)</a:t>
            </a:r>
            <a:endParaRPr lang="en-IL"/>
          </a:p>
        </p:txBody>
      </p:sp>
      <p:sp>
        <p:nvSpPr>
          <p:cNvPr id="41" name="תיבת טקסט 40">
            <a:extLst>
              <a:ext uri="{FF2B5EF4-FFF2-40B4-BE49-F238E27FC236}">
                <a16:creationId xmlns:a16="http://schemas.microsoft.com/office/drawing/2014/main" id="{C48DA3E9-DDE4-368D-385B-1D8756A75323}"/>
              </a:ext>
            </a:extLst>
          </p:cNvPr>
          <p:cNvSpPr txBox="1"/>
          <p:nvPr/>
        </p:nvSpPr>
        <p:spPr>
          <a:xfrm>
            <a:off x="779832" y="2692787"/>
            <a:ext cx="595035" cy="369332"/>
          </a:xfrm>
          <a:prstGeom prst="rect">
            <a:avLst/>
          </a:prstGeom>
          <a:noFill/>
        </p:spPr>
        <p:txBody>
          <a:bodyPr wrap="none" rtlCol="0">
            <a:spAutoFit/>
          </a:bodyPr>
          <a:lstStyle/>
          <a:p>
            <a:r>
              <a:rPr lang="en-US"/>
              <a:t>O(1)</a:t>
            </a:r>
            <a:endParaRPr lang="en-IL"/>
          </a:p>
        </p:txBody>
      </p:sp>
      <p:sp>
        <p:nvSpPr>
          <p:cNvPr id="11" name="תיבת טקסט 10">
            <a:extLst>
              <a:ext uri="{FF2B5EF4-FFF2-40B4-BE49-F238E27FC236}">
                <a16:creationId xmlns:a16="http://schemas.microsoft.com/office/drawing/2014/main" id="{985E85A9-5897-44B1-20DC-50EB5AE7D9A2}"/>
              </a:ext>
            </a:extLst>
          </p:cNvPr>
          <p:cNvSpPr txBox="1"/>
          <p:nvPr/>
        </p:nvSpPr>
        <p:spPr>
          <a:xfrm>
            <a:off x="2737744" y="2708029"/>
            <a:ext cx="920124" cy="369332"/>
          </a:xfrm>
          <a:prstGeom prst="rect">
            <a:avLst/>
          </a:prstGeom>
          <a:noFill/>
        </p:spPr>
        <p:txBody>
          <a:bodyPr wrap="none" rtlCol="0">
            <a:spAutoFit/>
          </a:bodyPr>
          <a:lstStyle/>
          <a:p>
            <a:r>
              <a:rPr lang="en-US"/>
              <a:t>O(n*m)</a:t>
            </a:r>
            <a:endParaRPr lang="en-IL"/>
          </a:p>
        </p:txBody>
      </p:sp>
    </p:spTree>
    <p:extLst>
      <p:ext uri="{BB962C8B-B14F-4D97-AF65-F5344CB8AC3E}">
        <p14:creationId xmlns:p14="http://schemas.microsoft.com/office/powerpoint/2010/main" val="18767762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3FF8F4-6197-D47F-86DF-E432A9E8C89B}"/>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79FC55B3-7E9C-6A78-9F0F-5B4B24A77FBB}"/>
              </a:ext>
            </a:extLst>
          </p:cNvPr>
          <p:cNvSpPr>
            <a:spLocks noGrp="1"/>
          </p:cNvSpPr>
          <p:nvPr>
            <p:ph type="title"/>
          </p:nvPr>
        </p:nvSpPr>
        <p:spPr>
          <a:xfrm>
            <a:off x="1158240" y="267281"/>
            <a:ext cx="9875520" cy="1427873"/>
          </a:xfrm>
        </p:spPr>
        <p:txBody>
          <a:bodyPr/>
          <a:lstStyle/>
          <a:p>
            <a:pPr algn="ctr"/>
            <a:r>
              <a:rPr lang="en-US"/>
              <a:t>Full Process Flow Overview</a:t>
            </a:r>
            <a:br>
              <a:rPr lang="en-US"/>
            </a:br>
            <a:r>
              <a:rPr lang="en-US"/>
              <a:t>Lip Detection</a:t>
            </a:r>
            <a:endParaRPr lang="en-IL"/>
          </a:p>
        </p:txBody>
      </p:sp>
      <p:sp>
        <p:nvSpPr>
          <p:cNvPr id="4" name="מלבן 3">
            <a:extLst>
              <a:ext uri="{FF2B5EF4-FFF2-40B4-BE49-F238E27FC236}">
                <a16:creationId xmlns:a16="http://schemas.microsoft.com/office/drawing/2014/main" id="{2D48EE44-7A2B-3274-7A23-4DB09661D723}"/>
              </a:ext>
            </a:extLst>
          </p:cNvPr>
          <p:cNvSpPr/>
          <p:nvPr/>
        </p:nvSpPr>
        <p:spPr>
          <a:xfrm>
            <a:off x="317696" y="1778387"/>
            <a:ext cx="1519311" cy="91440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a:t>Video</a:t>
            </a:r>
            <a:br>
              <a:rPr lang="en-US"/>
            </a:br>
            <a:r>
              <a:rPr lang="en-US"/>
              <a:t>Upload</a:t>
            </a:r>
            <a:endParaRPr lang="en-IL"/>
          </a:p>
        </p:txBody>
      </p:sp>
      <p:sp>
        <p:nvSpPr>
          <p:cNvPr id="5" name="מלבן 4">
            <a:extLst>
              <a:ext uri="{FF2B5EF4-FFF2-40B4-BE49-F238E27FC236}">
                <a16:creationId xmlns:a16="http://schemas.microsoft.com/office/drawing/2014/main" id="{23B3D34C-5BCE-AAB6-0680-FC4AEA962973}"/>
              </a:ext>
            </a:extLst>
          </p:cNvPr>
          <p:cNvSpPr/>
          <p:nvPr/>
        </p:nvSpPr>
        <p:spPr>
          <a:xfrm>
            <a:off x="2460674" y="1793629"/>
            <a:ext cx="1519311" cy="91440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a:t>Face</a:t>
            </a:r>
            <a:br>
              <a:rPr lang="en-US"/>
            </a:br>
            <a:r>
              <a:rPr lang="en-US"/>
              <a:t>Detection</a:t>
            </a:r>
            <a:endParaRPr lang="en-IL"/>
          </a:p>
        </p:txBody>
      </p:sp>
      <p:sp>
        <p:nvSpPr>
          <p:cNvPr id="6" name="מלבן 5">
            <a:extLst>
              <a:ext uri="{FF2B5EF4-FFF2-40B4-BE49-F238E27FC236}">
                <a16:creationId xmlns:a16="http://schemas.microsoft.com/office/drawing/2014/main" id="{A785E870-C900-3C17-06EF-46A8A2AD3621}"/>
              </a:ext>
            </a:extLst>
          </p:cNvPr>
          <p:cNvSpPr/>
          <p:nvPr/>
        </p:nvSpPr>
        <p:spPr>
          <a:xfrm>
            <a:off x="5113606" y="1793629"/>
            <a:ext cx="1519311"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Lip</a:t>
            </a:r>
            <a:br>
              <a:rPr lang="en-US"/>
            </a:br>
            <a:r>
              <a:rPr lang="en-US"/>
              <a:t>Detection</a:t>
            </a:r>
            <a:endParaRPr lang="en-IL"/>
          </a:p>
        </p:txBody>
      </p:sp>
      <p:sp>
        <p:nvSpPr>
          <p:cNvPr id="7" name="מלבן 6">
            <a:extLst>
              <a:ext uri="{FF2B5EF4-FFF2-40B4-BE49-F238E27FC236}">
                <a16:creationId xmlns:a16="http://schemas.microsoft.com/office/drawing/2014/main" id="{0E856BBE-1974-353B-1D90-31C5BD5607EC}"/>
              </a:ext>
            </a:extLst>
          </p:cNvPr>
          <p:cNvSpPr/>
          <p:nvPr/>
        </p:nvSpPr>
        <p:spPr>
          <a:xfrm>
            <a:off x="7696200" y="1793630"/>
            <a:ext cx="1595510" cy="9144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Preprocessing</a:t>
            </a:r>
            <a:endParaRPr lang="en-IL"/>
          </a:p>
        </p:txBody>
      </p:sp>
      <p:sp>
        <p:nvSpPr>
          <p:cNvPr id="8" name="מלבן 7">
            <a:extLst>
              <a:ext uri="{FF2B5EF4-FFF2-40B4-BE49-F238E27FC236}">
                <a16:creationId xmlns:a16="http://schemas.microsoft.com/office/drawing/2014/main" id="{B3084D02-D077-0D5A-E062-7F6426F8AA2C}"/>
              </a:ext>
            </a:extLst>
          </p:cNvPr>
          <p:cNvSpPr/>
          <p:nvPr/>
        </p:nvSpPr>
        <p:spPr>
          <a:xfrm>
            <a:off x="10354993" y="1793630"/>
            <a:ext cx="1519311" cy="9144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Feature</a:t>
            </a:r>
          </a:p>
          <a:p>
            <a:pPr algn="ctr"/>
            <a:r>
              <a:rPr lang="en-US"/>
              <a:t>Extraction</a:t>
            </a:r>
            <a:endParaRPr lang="en-IL"/>
          </a:p>
        </p:txBody>
      </p:sp>
      <p:sp>
        <p:nvSpPr>
          <p:cNvPr id="10" name="מלבן 9">
            <a:extLst>
              <a:ext uri="{FF2B5EF4-FFF2-40B4-BE49-F238E27FC236}">
                <a16:creationId xmlns:a16="http://schemas.microsoft.com/office/drawing/2014/main" id="{6F8380AC-D545-A973-2E4F-CE1033491BE1}"/>
              </a:ext>
            </a:extLst>
          </p:cNvPr>
          <p:cNvSpPr/>
          <p:nvPr/>
        </p:nvSpPr>
        <p:spPr>
          <a:xfrm>
            <a:off x="10316893" y="3312355"/>
            <a:ext cx="1595510" cy="9144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Viseme Classification</a:t>
            </a:r>
          </a:p>
        </p:txBody>
      </p:sp>
      <p:sp>
        <p:nvSpPr>
          <p:cNvPr id="12" name="מלבן 11">
            <a:extLst>
              <a:ext uri="{FF2B5EF4-FFF2-40B4-BE49-F238E27FC236}">
                <a16:creationId xmlns:a16="http://schemas.microsoft.com/office/drawing/2014/main" id="{7C3A89D4-F8BC-52F0-BDE7-D9D54349C82E}"/>
              </a:ext>
            </a:extLst>
          </p:cNvPr>
          <p:cNvSpPr/>
          <p:nvPr/>
        </p:nvSpPr>
        <p:spPr>
          <a:xfrm>
            <a:off x="7693268" y="3312356"/>
            <a:ext cx="1712156" cy="9144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Sentence</a:t>
            </a:r>
          </a:p>
          <a:p>
            <a:pPr algn="ctr"/>
            <a:r>
              <a:rPr lang="en-US"/>
              <a:t>Reconstruction</a:t>
            </a:r>
            <a:endParaRPr lang="en-IL"/>
          </a:p>
        </p:txBody>
      </p:sp>
      <p:sp>
        <p:nvSpPr>
          <p:cNvPr id="13" name="מלבן 12">
            <a:extLst>
              <a:ext uri="{FF2B5EF4-FFF2-40B4-BE49-F238E27FC236}">
                <a16:creationId xmlns:a16="http://schemas.microsoft.com/office/drawing/2014/main" id="{DF07724A-F701-DEAA-F070-972C4F37659F}"/>
              </a:ext>
            </a:extLst>
          </p:cNvPr>
          <p:cNvSpPr/>
          <p:nvPr/>
        </p:nvSpPr>
        <p:spPr>
          <a:xfrm>
            <a:off x="5212666" y="3319977"/>
            <a:ext cx="1519311" cy="9144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Output</a:t>
            </a:r>
            <a:endParaRPr lang="en-IL"/>
          </a:p>
        </p:txBody>
      </p:sp>
      <p:cxnSp>
        <p:nvCxnSpPr>
          <p:cNvPr id="15" name="מחבר חץ ישר 14">
            <a:extLst>
              <a:ext uri="{FF2B5EF4-FFF2-40B4-BE49-F238E27FC236}">
                <a16:creationId xmlns:a16="http://schemas.microsoft.com/office/drawing/2014/main" id="{6EE683B6-3FA5-A206-3B66-893EA290527E}"/>
              </a:ext>
            </a:extLst>
          </p:cNvPr>
          <p:cNvCxnSpPr>
            <a:stCxn id="4" idx="3"/>
            <a:endCxn id="5" idx="1"/>
          </p:cNvCxnSpPr>
          <p:nvPr/>
        </p:nvCxnSpPr>
        <p:spPr>
          <a:xfrm>
            <a:off x="1837007" y="2235587"/>
            <a:ext cx="623667" cy="1524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7" name="מחבר חץ ישר 16">
            <a:extLst>
              <a:ext uri="{FF2B5EF4-FFF2-40B4-BE49-F238E27FC236}">
                <a16:creationId xmlns:a16="http://schemas.microsoft.com/office/drawing/2014/main" id="{D4338A13-76C8-EF4E-06CA-3FCA75276AFC}"/>
              </a:ext>
            </a:extLst>
          </p:cNvPr>
          <p:cNvCxnSpPr>
            <a:cxnSpLocks/>
            <a:stCxn id="5" idx="3"/>
            <a:endCxn id="6" idx="1"/>
          </p:cNvCxnSpPr>
          <p:nvPr/>
        </p:nvCxnSpPr>
        <p:spPr>
          <a:xfrm>
            <a:off x="3979985" y="2250829"/>
            <a:ext cx="1133621"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9" name="מחבר חץ ישר 18">
            <a:extLst>
              <a:ext uri="{FF2B5EF4-FFF2-40B4-BE49-F238E27FC236}">
                <a16:creationId xmlns:a16="http://schemas.microsoft.com/office/drawing/2014/main" id="{E8A3021B-187B-AAB4-6C1A-CDA9BA1325B9}"/>
              </a:ext>
            </a:extLst>
          </p:cNvPr>
          <p:cNvCxnSpPr>
            <a:cxnSpLocks/>
            <a:stCxn id="6" idx="3"/>
            <a:endCxn id="7" idx="1"/>
          </p:cNvCxnSpPr>
          <p:nvPr/>
        </p:nvCxnSpPr>
        <p:spPr>
          <a:xfrm>
            <a:off x="6632917" y="2250829"/>
            <a:ext cx="1063283" cy="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2" name="מחבר חץ ישר 21">
            <a:extLst>
              <a:ext uri="{FF2B5EF4-FFF2-40B4-BE49-F238E27FC236}">
                <a16:creationId xmlns:a16="http://schemas.microsoft.com/office/drawing/2014/main" id="{1666B4B5-F266-161E-BF9E-C84F0A4C74CF}"/>
              </a:ext>
            </a:extLst>
          </p:cNvPr>
          <p:cNvCxnSpPr>
            <a:cxnSpLocks/>
            <a:stCxn id="7" idx="3"/>
            <a:endCxn id="8" idx="1"/>
          </p:cNvCxnSpPr>
          <p:nvPr/>
        </p:nvCxnSpPr>
        <p:spPr>
          <a:xfrm>
            <a:off x="9291710" y="2250830"/>
            <a:ext cx="1063283"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5" name="מחבר חץ ישר 24">
            <a:extLst>
              <a:ext uri="{FF2B5EF4-FFF2-40B4-BE49-F238E27FC236}">
                <a16:creationId xmlns:a16="http://schemas.microsoft.com/office/drawing/2014/main" id="{81191459-44B6-9798-B81A-F270811C0DC6}"/>
              </a:ext>
            </a:extLst>
          </p:cNvPr>
          <p:cNvCxnSpPr>
            <a:cxnSpLocks/>
            <a:stCxn id="8" idx="2"/>
          </p:cNvCxnSpPr>
          <p:nvPr/>
        </p:nvCxnSpPr>
        <p:spPr>
          <a:xfrm>
            <a:off x="11114649" y="2708030"/>
            <a:ext cx="0" cy="61194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2" name="מחבר חץ ישר 31">
            <a:extLst>
              <a:ext uri="{FF2B5EF4-FFF2-40B4-BE49-F238E27FC236}">
                <a16:creationId xmlns:a16="http://schemas.microsoft.com/office/drawing/2014/main" id="{4EDF261A-9B1D-A762-5966-177F31EC72AC}"/>
              </a:ext>
            </a:extLst>
          </p:cNvPr>
          <p:cNvCxnSpPr>
            <a:cxnSpLocks/>
            <a:stCxn id="10" idx="1"/>
            <a:endCxn id="12" idx="3"/>
          </p:cNvCxnSpPr>
          <p:nvPr/>
        </p:nvCxnSpPr>
        <p:spPr>
          <a:xfrm flipH="1">
            <a:off x="9405424" y="3769555"/>
            <a:ext cx="911469" cy="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5" name="מחבר חץ ישר 34">
            <a:extLst>
              <a:ext uri="{FF2B5EF4-FFF2-40B4-BE49-F238E27FC236}">
                <a16:creationId xmlns:a16="http://schemas.microsoft.com/office/drawing/2014/main" id="{25FA38F3-B46C-3161-B698-9B09CD47461E}"/>
              </a:ext>
            </a:extLst>
          </p:cNvPr>
          <p:cNvCxnSpPr>
            <a:cxnSpLocks/>
            <a:stCxn id="12" idx="1"/>
            <a:endCxn id="13" idx="3"/>
          </p:cNvCxnSpPr>
          <p:nvPr/>
        </p:nvCxnSpPr>
        <p:spPr>
          <a:xfrm flipH="1">
            <a:off x="6731977" y="3769556"/>
            <a:ext cx="961291" cy="762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8" name="תיבת טקסט 37">
            <a:extLst>
              <a:ext uri="{FF2B5EF4-FFF2-40B4-BE49-F238E27FC236}">
                <a16:creationId xmlns:a16="http://schemas.microsoft.com/office/drawing/2014/main" id="{645D35F6-3647-4EBD-46D9-2F83F6BEBDAB}"/>
              </a:ext>
            </a:extLst>
          </p:cNvPr>
          <p:cNvSpPr txBox="1"/>
          <p:nvPr/>
        </p:nvSpPr>
        <p:spPr>
          <a:xfrm>
            <a:off x="669388" y="4846323"/>
            <a:ext cx="10605868" cy="369332"/>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pPr algn="l"/>
            <a:r>
              <a:rPr lang="en-US" b="1"/>
              <a:t>Algorithm</a:t>
            </a:r>
            <a:r>
              <a:rPr lang="en-US"/>
              <a:t>: </a:t>
            </a:r>
            <a:r>
              <a:rPr lang="en-US" b="1"/>
              <a:t>CNN (Convolutional Neural Network)</a:t>
            </a:r>
            <a:endParaRPr lang="en-IL"/>
          </a:p>
        </p:txBody>
      </p:sp>
      <p:sp>
        <p:nvSpPr>
          <p:cNvPr id="41" name="תיבת טקסט 40">
            <a:extLst>
              <a:ext uri="{FF2B5EF4-FFF2-40B4-BE49-F238E27FC236}">
                <a16:creationId xmlns:a16="http://schemas.microsoft.com/office/drawing/2014/main" id="{974C93D4-5397-F423-2E48-219085A63F0B}"/>
              </a:ext>
            </a:extLst>
          </p:cNvPr>
          <p:cNvSpPr txBox="1"/>
          <p:nvPr/>
        </p:nvSpPr>
        <p:spPr>
          <a:xfrm>
            <a:off x="779832" y="2692787"/>
            <a:ext cx="595035" cy="369332"/>
          </a:xfrm>
          <a:prstGeom prst="rect">
            <a:avLst/>
          </a:prstGeom>
          <a:noFill/>
        </p:spPr>
        <p:txBody>
          <a:bodyPr wrap="none" rtlCol="0">
            <a:spAutoFit/>
          </a:bodyPr>
          <a:lstStyle/>
          <a:p>
            <a:r>
              <a:rPr lang="en-US"/>
              <a:t>O(1)</a:t>
            </a:r>
            <a:endParaRPr lang="en-IL"/>
          </a:p>
        </p:txBody>
      </p:sp>
      <p:sp>
        <p:nvSpPr>
          <p:cNvPr id="11" name="תיבת טקסט 10">
            <a:extLst>
              <a:ext uri="{FF2B5EF4-FFF2-40B4-BE49-F238E27FC236}">
                <a16:creationId xmlns:a16="http://schemas.microsoft.com/office/drawing/2014/main" id="{4F7D8DC3-BC54-A097-BFDE-9C8E751FF495}"/>
              </a:ext>
            </a:extLst>
          </p:cNvPr>
          <p:cNvSpPr txBox="1"/>
          <p:nvPr/>
        </p:nvSpPr>
        <p:spPr>
          <a:xfrm>
            <a:off x="2737744" y="2708029"/>
            <a:ext cx="920124" cy="369332"/>
          </a:xfrm>
          <a:prstGeom prst="rect">
            <a:avLst/>
          </a:prstGeom>
          <a:noFill/>
        </p:spPr>
        <p:txBody>
          <a:bodyPr wrap="none" rtlCol="0">
            <a:spAutoFit/>
          </a:bodyPr>
          <a:lstStyle/>
          <a:p>
            <a:r>
              <a:rPr lang="en-US"/>
              <a:t>O(n*m)</a:t>
            </a:r>
            <a:endParaRPr lang="en-IL"/>
          </a:p>
        </p:txBody>
      </p:sp>
      <p:sp>
        <p:nvSpPr>
          <p:cNvPr id="3" name="תיבת טקסט 2">
            <a:extLst>
              <a:ext uri="{FF2B5EF4-FFF2-40B4-BE49-F238E27FC236}">
                <a16:creationId xmlns:a16="http://schemas.microsoft.com/office/drawing/2014/main" id="{FD59BDD6-A09F-52FE-7CF9-FFF5EAF8F757}"/>
              </a:ext>
            </a:extLst>
          </p:cNvPr>
          <p:cNvSpPr txBox="1"/>
          <p:nvPr/>
        </p:nvSpPr>
        <p:spPr>
          <a:xfrm>
            <a:off x="5342862" y="2668222"/>
            <a:ext cx="1171475" cy="369332"/>
          </a:xfrm>
          <a:prstGeom prst="rect">
            <a:avLst/>
          </a:prstGeom>
          <a:noFill/>
        </p:spPr>
        <p:txBody>
          <a:bodyPr wrap="none" rtlCol="0">
            <a:spAutoFit/>
          </a:bodyPr>
          <a:lstStyle/>
          <a:p>
            <a:r>
              <a:rPr lang="en-US"/>
              <a:t>O(n*m*d)</a:t>
            </a:r>
            <a:endParaRPr lang="en-IL"/>
          </a:p>
        </p:txBody>
      </p:sp>
    </p:spTree>
    <p:extLst>
      <p:ext uri="{BB962C8B-B14F-4D97-AF65-F5344CB8AC3E}">
        <p14:creationId xmlns:p14="http://schemas.microsoft.com/office/powerpoint/2010/main" val="39689188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2FFEE-AC2D-7695-289E-0F7942BD3522}"/>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BABB034E-F384-5F5D-9CB3-78614465EF32}"/>
              </a:ext>
            </a:extLst>
          </p:cNvPr>
          <p:cNvSpPr>
            <a:spLocks noGrp="1"/>
          </p:cNvSpPr>
          <p:nvPr>
            <p:ph type="title"/>
          </p:nvPr>
        </p:nvSpPr>
        <p:spPr>
          <a:xfrm>
            <a:off x="1158240" y="267281"/>
            <a:ext cx="9875520" cy="1427873"/>
          </a:xfrm>
        </p:spPr>
        <p:txBody>
          <a:bodyPr/>
          <a:lstStyle/>
          <a:p>
            <a:pPr algn="ctr"/>
            <a:r>
              <a:rPr lang="en-US"/>
              <a:t>Full Process Flow Overview</a:t>
            </a:r>
            <a:br>
              <a:rPr lang="en-US"/>
            </a:br>
            <a:r>
              <a:rPr lang="en-US"/>
              <a:t>Preprocessing Frames</a:t>
            </a:r>
            <a:endParaRPr lang="en-IL"/>
          </a:p>
        </p:txBody>
      </p:sp>
      <p:sp>
        <p:nvSpPr>
          <p:cNvPr id="4" name="מלבן 3">
            <a:extLst>
              <a:ext uri="{FF2B5EF4-FFF2-40B4-BE49-F238E27FC236}">
                <a16:creationId xmlns:a16="http://schemas.microsoft.com/office/drawing/2014/main" id="{DA9CAD8D-A5E1-FFC6-736E-93F970573B7E}"/>
              </a:ext>
            </a:extLst>
          </p:cNvPr>
          <p:cNvSpPr/>
          <p:nvPr/>
        </p:nvSpPr>
        <p:spPr>
          <a:xfrm>
            <a:off x="317696" y="1778387"/>
            <a:ext cx="1519311" cy="91440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a:t>Video</a:t>
            </a:r>
            <a:br>
              <a:rPr lang="en-US"/>
            </a:br>
            <a:r>
              <a:rPr lang="en-US"/>
              <a:t>Upload</a:t>
            </a:r>
            <a:endParaRPr lang="en-IL"/>
          </a:p>
        </p:txBody>
      </p:sp>
      <p:sp>
        <p:nvSpPr>
          <p:cNvPr id="5" name="מלבן 4">
            <a:extLst>
              <a:ext uri="{FF2B5EF4-FFF2-40B4-BE49-F238E27FC236}">
                <a16:creationId xmlns:a16="http://schemas.microsoft.com/office/drawing/2014/main" id="{DC5CA4B8-9805-30D3-583F-9CA92322AF54}"/>
              </a:ext>
            </a:extLst>
          </p:cNvPr>
          <p:cNvSpPr/>
          <p:nvPr/>
        </p:nvSpPr>
        <p:spPr>
          <a:xfrm>
            <a:off x="2460674" y="1793629"/>
            <a:ext cx="1519311" cy="91440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a:t>Face</a:t>
            </a:r>
            <a:br>
              <a:rPr lang="en-US"/>
            </a:br>
            <a:r>
              <a:rPr lang="en-US"/>
              <a:t>Detection</a:t>
            </a:r>
            <a:endParaRPr lang="en-IL"/>
          </a:p>
        </p:txBody>
      </p:sp>
      <p:sp>
        <p:nvSpPr>
          <p:cNvPr id="6" name="מלבן 5">
            <a:extLst>
              <a:ext uri="{FF2B5EF4-FFF2-40B4-BE49-F238E27FC236}">
                <a16:creationId xmlns:a16="http://schemas.microsoft.com/office/drawing/2014/main" id="{CB8AB91F-B30B-E631-0874-BF64BE21AFEB}"/>
              </a:ext>
            </a:extLst>
          </p:cNvPr>
          <p:cNvSpPr/>
          <p:nvPr/>
        </p:nvSpPr>
        <p:spPr>
          <a:xfrm>
            <a:off x="5113606" y="1793629"/>
            <a:ext cx="1519311" cy="91440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a:t>Lip</a:t>
            </a:r>
            <a:br>
              <a:rPr lang="en-US"/>
            </a:br>
            <a:r>
              <a:rPr lang="en-US"/>
              <a:t>Detection</a:t>
            </a:r>
            <a:endParaRPr lang="en-IL"/>
          </a:p>
        </p:txBody>
      </p:sp>
      <p:sp>
        <p:nvSpPr>
          <p:cNvPr id="7" name="מלבן 6">
            <a:extLst>
              <a:ext uri="{FF2B5EF4-FFF2-40B4-BE49-F238E27FC236}">
                <a16:creationId xmlns:a16="http://schemas.microsoft.com/office/drawing/2014/main" id="{475D23A2-0B6D-F45E-FF38-FA8EE36AB32F}"/>
              </a:ext>
            </a:extLst>
          </p:cNvPr>
          <p:cNvSpPr/>
          <p:nvPr/>
        </p:nvSpPr>
        <p:spPr>
          <a:xfrm>
            <a:off x="7696200" y="1793630"/>
            <a:ext cx="1595510"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Preprocessing</a:t>
            </a:r>
            <a:endParaRPr lang="en-IL"/>
          </a:p>
        </p:txBody>
      </p:sp>
      <p:sp>
        <p:nvSpPr>
          <p:cNvPr id="8" name="מלבן 7">
            <a:extLst>
              <a:ext uri="{FF2B5EF4-FFF2-40B4-BE49-F238E27FC236}">
                <a16:creationId xmlns:a16="http://schemas.microsoft.com/office/drawing/2014/main" id="{6631405B-2D4D-1073-9033-740C976380FC}"/>
              </a:ext>
            </a:extLst>
          </p:cNvPr>
          <p:cNvSpPr/>
          <p:nvPr/>
        </p:nvSpPr>
        <p:spPr>
          <a:xfrm>
            <a:off x="10354993" y="1793630"/>
            <a:ext cx="1519311" cy="9144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Feature</a:t>
            </a:r>
          </a:p>
          <a:p>
            <a:pPr algn="ctr"/>
            <a:r>
              <a:rPr lang="en-US"/>
              <a:t>Extraction</a:t>
            </a:r>
            <a:endParaRPr lang="en-IL"/>
          </a:p>
        </p:txBody>
      </p:sp>
      <p:sp>
        <p:nvSpPr>
          <p:cNvPr id="10" name="מלבן 9">
            <a:extLst>
              <a:ext uri="{FF2B5EF4-FFF2-40B4-BE49-F238E27FC236}">
                <a16:creationId xmlns:a16="http://schemas.microsoft.com/office/drawing/2014/main" id="{DE4CD640-072D-444E-187A-39F60F26DF8D}"/>
              </a:ext>
            </a:extLst>
          </p:cNvPr>
          <p:cNvSpPr/>
          <p:nvPr/>
        </p:nvSpPr>
        <p:spPr>
          <a:xfrm>
            <a:off x="10316893" y="3312355"/>
            <a:ext cx="1595510" cy="9144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Viseme Classification</a:t>
            </a:r>
          </a:p>
        </p:txBody>
      </p:sp>
      <p:sp>
        <p:nvSpPr>
          <p:cNvPr id="12" name="מלבן 11">
            <a:extLst>
              <a:ext uri="{FF2B5EF4-FFF2-40B4-BE49-F238E27FC236}">
                <a16:creationId xmlns:a16="http://schemas.microsoft.com/office/drawing/2014/main" id="{24328BA8-CE46-36D9-5CAD-69E59493E9FC}"/>
              </a:ext>
            </a:extLst>
          </p:cNvPr>
          <p:cNvSpPr/>
          <p:nvPr/>
        </p:nvSpPr>
        <p:spPr>
          <a:xfrm>
            <a:off x="7693268" y="3312356"/>
            <a:ext cx="1712156" cy="9144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Sentence</a:t>
            </a:r>
          </a:p>
          <a:p>
            <a:pPr algn="ctr"/>
            <a:r>
              <a:rPr lang="en-US"/>
              <a:t>Reconstruction</a:t>
            </a:r>
            <a:endParaRPr lang="en-IL"/>
          </a:p>
        </p:txBody>
      </p:sp>
      <p:sp>
        <p:nvSpPr>
          <p:cNvPr id="13" name="מלבן 12">
            <a:extLst>
              <a:ext uri="{FF2B5EF4-FFF2-40B4-BE49-F238E27FC236}">
                <a16:creationId xmlns:a16="http://schemas.microsoft.com/office/drawing/2014/main" id="{ED9C64E7-577F-6A92-F711-128B8D2D50DF}"/>
              </a:ext>
            </a:extLst>
          </p:cNvPr>
          <p:cNvSpPr/>
          <p:nvPr/>
        </p:nvSpPr>
        <p:spPr>
          <a:xfrm>
            <a:off x="5212666" y="3319977"/>
            <a:ext cx="1519311" cy="9144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Output</a:t>
            </a:r>
            <a:endParaRPr lang="en-IL"/>
          </a:p>
        </p:txBody>
      </p:sp>
      <p:cxnSp>
        <p:nvCxnSpPr>
          <p:cNvPr id="15" name="מחבר חץ ישר 14">
            <a:extLst>
              <a:ext uri="{FF2B5EF4-FFF2-40B4-BE49-F238E27FC236}">
                <a16:creationId xmlns:a16="http://schemas.microsoft.com/office/drawing/2014/main" id="{E1CF9F1E-D737-3784-500A-5A3BEB91F9FC}"/>
              </a:ext>
            </a:extLst>
          </p:cNvPr>
          <p:cNvCxnSpPr>
            <a:stCxn id="4" idx="3"/>
            <a:endCxn id="5" idx="1"/>
          </p:cNvCxnSpPr>
          <p:nvPr/>
        </p:nvCxnSpPr>
        <p:spPr>
          <a:xfrm>
            <a:off x="1837007" y="2235587"/>
            <a:ext cx="623667" cy="1524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7" name="מחבר חץ ישר 16">
            <a:extLst>
              <a:ext uri="{FF2B5EF4-FFF2-40B4-BE49-F238E27FC236}">
                <a16:creationId xmlns:a16="http://schemas.microsoft.com/office/drawing/2014/main" id="{9E6E149A-7E05-5AA4-E31D-112541C180D7}"/>
              </a:ext>
            </a:extLst>
          </p:cNvPr>
          <p:cNvCxnSpPr>
            <a:cxnSpLocks/>
            <a:stCxn id="5" idx="3"/>
            <a:endCxn id="6" idx="1"/>
          </p:cNvCxnSpPr>
          <p:nvPr/>
        </p:nvCxnSpPr>
        <p:spPr>
          <a:xfrm>
            <a:off x="3979985" y="2250829"/>
            <a:ext cx="1133621"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9" name="מחבר חץ ישר 18">
            <a:extLst>
              <a:ext uri="{FF2B5EF4-FFF2-40B4-BE49-F238E27FC236}">
                <a16:creationId xmlns:a16="http://schemas.microsoft.com/office/drawing/2014/main" id="{5895738E-6A4C-9D37-8058-0F41C134856B}"/>
              </a:ext>
            </a:extLst>
          </p:cNvPr>
          <p:cNvCxnSpPr>
            <a:cxnSpLocks/>
            <a:stCxn id="6" idx="3"/>
            <a:endCxn id="7" idx="1"/>
          </p:cNvCxnSpPr>
          <p:nvPr/>
        </p:nvCxnSpPr>
        <p:spPr>
          <a:xfrm>
            <a:off x="6632917" y="2250829"/>
            <a:ext cx="1063283" cy="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2" name="מחבר חץ ישר 21">
            <a:extLst>
              <a:ext uri="{FF2B5EF4-FFF2-40B4-BE49-F238E27FC236}">
                <a16:creationId xmlns:a16="http://schemas.microsoft.com/office/drawing/2014/main" id="{57B5ED8D-2DDC-8890-A319-E05CD520A5B0}"/>
              </a:ext>
            </a:extLst>
          </p:cNvPr>
          <p:cNvCxnSpPr>
            <a:cxnSpLocks/>
            <a:stCxn id="7" idx="3"/>
            <a:endCxn id="8" idx="1"/>
          </p:cNvCxnSpPr>
          <p:nvPr/>
        </p:nvCxnSpPr>
        <p:spPr>
          <a:xfrm>
            <a:off x="9291710" y="2250830"/>
            <a:ext cx="1063283"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5" name="מחבר חץ ישר 24">
            <a:extLst>
              <a:ext uri="{FF2B5EF4-FFF2-40B4-BE49-F238E27FC236}">
                <a16:creationId xmlns:a16="http://schemas.microsoft.com/office/drawing/2014/main" id="{DB2D9701-9429-684A-EE38-B42A7988A454}"/>
              </a:ext>
            </a:extLst>
          </p:cNvPr>
          <p:cNvCxnSpPr>
            <a:cxnSpLocks/>
            <a:stCxn id="8" idx="2"/>
          </p:cNvCxnSpPr>
          <p:nvPr/>
        </p:nvCxnSpPr>
        <p:spPr>
          <a:xfrm>
            <a:off x="11114649" y="2708030"/>
            <a:ext cx="0" cy="61194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2" name="מחבר חץ ישר 31">
            <a:extLst>
              <a:ext uri="{FF2B5EF4-FFF2-40B4-BE49-F238E27FC236}">
                <a16:creationId xmlns:a16="http://schemas.microsoft.com/office/drawing/2014/main" id="{6D33A1BB-9CB1-B54F-637E-7AC1E6C10B74}"/>
              </a:ext>
            </a:extLst>
          </p:cNvPr>
          <p:cNvCxnSpPr>
            <a:cxnSpLocks/>
            <a:stCxn id="10" idx="1"/>
            <a:endCxn id="12" idx="3"/>
          </p:cNvCxnSpPr>
          <p:nvPr/>
        </p:nvCxnSpPr>
        <p:spPr>
          <a:xfrm flipH="1">
            <a:off x="9405424" y="3769555"/>
            <a:ext cx="911469" cy="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5" name="מחבר חץ ישר 34">
            <a:extLst>
              <a:ext uri="{FF2B5EF4-FFF2-40B4-BE49-F238E27FC236}">
                <a16:creationId xmlns:a16="http://schemas.microsoft.com/office/drawing/2014/main" id="{C8167553-9386-743C-92F0-05E109ACE4E9}"/>
              </a:ext>
            </a:extLst>
          </p:cNvPr>
          <p:cNvCxnSpPr>
            <a:cxnSpLocks/>
            <a:stCxn id="12" idx="1"/>
            <a:endCxn id="13" idx="3"/>
          </p:cNvCxnSpPr>
          <p:nvPr/>
        </p:nvCxnSpPr>
        <p:spPr>
          <a:xfrm flipH="1">
            <a:off x="6731977" y="3769556"/>
            <a:ext cx="961291" cy="762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8" name="תיבת טקסט 37">
            <a:extLst>
              <a:ext uri="{FF2B5EF4-FFF2-40B4-BE49-F238E27FC236}">
                <a16:creationId xmlns:a16="http://schemas.microsoft.com/office/drawing/2014/main" id="{12BCAEFD-30F6-DA17-5736-8B7C5CC27121}"/>
              </a:ext>
            </a:extLst>
          </p:cNvPr>
          <p:cNvSpPr txBox="1"/>
          <p:nvPr/>
        </p:nvSpPr>
        <p:spPr>
          <a:xfrm>
            <a:off x="669388" y="4846323"/>
            <a:ext cx="10605868" cy="369332"/>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pPr algn="l"/>
            <a:r>
              <a:rPr lang="en-US" b="1"/>
              <a:t>Convert, Normalize &amp; Crop</a:t>
            </a:r>
            <a:endParaRPr lang="en-IL"/>
          </a:p>
        </p:txBody>
      </p:sp>
      <p:sp>
        <p:nvSpPr>
          <p:cNvPr id="41" name="תיבת טקסט 40">
            <a:extLst>
              <a:ext uri="{FF2B5EF4-FFF2-40B4-BE49-F238E27FC236}">
                <a16:creationId xmlns:a16="http://schemas.microsoft.com/office/drawing/2014/main" id="{010B6346-640A-B387-BBD0-C9B373CCFFCF}"/>
              </a:ext>
            </a:extLst>
          </p:cNvPr>
          <p:cNvSpPr txBox="1"/>
          <p:nvPr/>
        </p:nvSpPr>
        <p:spPr>
          <a:xfrm>
            <a:off x="779832" y="2692787"/>
            <a:ext cx="595035" cy="369332"/>
          </a:xfrm>
          <a:prstGeom prst="rect">
            <a:avLst/>
          </a:prstGeom>
          <a:noFill/>
        </p:spPr>
        <p:txBody>
          <a:bodyPr wrap="none" rtlCol="0">
            <a:spAutoFit/>
          </a:bodyPr>
          <a:lstStyle/>
          <a:p>
            <a:r>
              <a:rPr lang="en-US"/>
              <a:t>O(1)</a:t>
            </a:r>
            <a:endParaRPr lang="en-IL"/>
          </a:p>
        </p:txBody>
      </p:sp>
      <p:sp>
        <p:nvSpPr>
          <p:cNvPr id="11" name="תיבת טקסט 10">
            <a:extLst>
              <a:ext uri="{FF2B5EF4-FFF2-40B4-BE49-F238E27FC236}">
                <a16:creationId xmlns:a16="http://schemas.microsoft.com/office/drawing/2014/main" id="{F4BA8023-C5E9-E39C-0162-DBD86864D4CA}"/>
              </a:ext>
            </a:extLst>
          </p:cNvPr>
          <p:cNvSpPr txBox="1"/>
          <p:nvPr/>
        </p:nvSpPr>
        <p:spPr>
          <a:xfrm>
            <a:off x="2737744" y="2708029"/>
            <a:ext cx="920124" cy="369332"/>
          </a:xfrm>
          <a:prstGeom prst="rect">
            <a:avLst/>
          </a:prstGeom>
          <a:noFill/>
        </p:spPr>
        <p:txBody>
          <a:bodyPr wrap="none" rtlCol="0">
            <a:spAutoFit/>
          </a:bodyPr>
          <a:lstStyle/>
          <a:p>
            <a:r>
              <a:rPr lang="en-US"/>
              <a:t>O(n*m)</a:t>
            </a:r>
            <a:endParaRPr lang="en-IL"/>
          </a:p>
        </p:txBody>
      </p:sp>
      <p:sp>
        <p:nvSpPr>
          <p:cNvPr id="3" name="תיבת טקסט 2">
            <a:extLst>
              <a:ext uri="{FF2B5EF4-FFF2-40B4-BE49-F238E27FC236}">
                <a16:creationId xmlns:a16="http://schemas.microsoft.com/office/drawing/2014/main" id="{D3F6C517-7102-086B-8E47-0D8D81B066A7}"/>
              </a:ext>
            </a:extLst>
          </p:cNvPr>
          <p:cNvSpPr txBox="1"/>
          <p:nvPr/>
        </p:nvSpPr>
        <p:spPr>
          <a:xfrm>
            <a:off x="5342862" y="2668222"/>
            <a:ext cx="1171475" cy="369332"/>
          </a:xfrm>
          <a:prstGeom prst="rect">
            <a:avLst/>
          </a:prstGeom>
          <a:noFill/>
        </p:spPr>
        <p:txBody>
          <a:bodyPr wrap="none" rtlCol="0">
            <a:spAutoFit/>
          </a:bodyPr>
          <a:lstStyle/>
          <a:p>
            <a:r>
              <a:rPr lang="en-US"/>
              <a:t>O(n*m*d)</a:t>
            </a:r>
            <a:endParaRPr lang="en-IL"/>
          </a:p>
        </p:txBody>
      </p:sp>
      <p:sp>
        <p:nvSpPr>
          <p:cNvPr id="9" name="תיבת טקסט 8">
            <a:extLst>
              <a:ext uri="{FF2B5EF4-FFF2-40B4-BE49-F238E27FC236}">
                <a16:creationId xmlns:a16="http://schemas.microsoft.com/office/drawing/2014/main" id="{5DB41C37-5D00-3CF7-8DAC-D2217CECAC19}"/>
              </a:ext>
            </a:extLst>
          </p:cNvPr>
          <p:cNvSpPr txBox="1"/>
          <p:nvPr/>
        </p:nvSpPr>
        <p:spPr>
          <a:xfrm>
            <a:off x="8012949" y="2708029"/>
            <a:ext cx="920124" cy="369332"/>
          </a:xfrm>
          <a:prstGeom prst="rect">
            <a:avLst/>
          </a:prstGeom>
          <a:noFill/>
        </p:spPr>
        <p:txBody>
          <a:bodyPr wrap="none" rtlCol="0">
            <a:spAutoFit/>
          </a:bodyPr>
          <a:lstStyle/>
          <a:p>
            <a:r>
              <a:rPr lang="en-US"/>
              <a:t>O(n*m)</a:t>
            </a:r>
            <a:endParaRPr lang="en-IL"/>
          </a:p>
        </p:txBody>
      </p:sp>
    </p:spTree>
    <p:extLst>
      <p:ext uri="{BB962C8B-B14F-4D97-AF65-F5344CB8AC3E}">
        <p14:creationId xmlns:p14="http://schemas.microsoft.com/office/powerpoint/2010/main" val="25988658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C679E8-E276-B28D-9947-BFF9E203D293}"/>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FF3D8D33-DA97-CE84-0F31-B8581B5E3CD9}"/>
              </a:ext>
            </a:extLst>
          </p:cNvPr>
          <p:cNvSpPr>
            <a:spLocks noGrp="1"/>
          </p:cNvSpPr>
          <p:nvPr>
            <p:ph type="title"/>
          </p:nvPr>
        </p:nvSpPr>
        <p:spPr>
          <a:xfrm>
            <a:off x="1158240" y="267281"/>
            <a:ext cx="9875520" cy="1427873"/>
          </a:xfrm>
        </p:spPr>
        <p:txBody>
          <a:bodyPr/>
          <a:lstStyle/>
          <a:p>
            <a:pPr algn="ctr"/>
            <a:r>
              <a:rPr lang="en-US"/>
              <a:t>Full Process Flow Overview</a:t>
            </a:r>
            <a:br>
              <a:rPr lang="en-US"/>
            </a:br>
            <a:r>
              <a:rPr lang="en-US"/>
              <a:t>Feature Extraction</a:t>
            </a:r>
            <a:endParaRPr lang="en-IL"/>
          </a:p>
        </p:txBody>
      </p:sp>
      <p:sp>
        <p:nvSpPr>
          <p:cNvPr id="4" name="מלבן 3">
            <a:extLst>
              <a:ext uri="{FF2B5EF4-FFF2-40B4-BE49-F238E27FC236}">
                <a16:creationId xmlns:a16="http://schemas.microsoft.com/office/drawing/2014/main" id="{499078E8-DE87-26EB-3B9F-B80822A265F3}"/>
              </a:ext>
            </a:extLst>
          </p:cNvPr>
          <p:cNvSpPr/>
          <p:nvPr/>
        </p:nvSpPr>
        <p:spPr>
          <a:xfrm>
            <a:off x="317696" y="1778387"/>
            <a:ext cx="1519311" cy="91440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a:t>Video</a:t>
            </a:r>
            <a:br>
              <a:rPr lang="en-US"/>
            </a:br>
            <a:r>
              <a:rPr lang="en-US"/>
              <a:t>Upload</a:t>
            </a:r>
            <a:endParaRPr lang="en-IL"/>
          </a:p>
        </p:txBody>
      </p:sp>
      <p:sp>
        <p:nvSpPr>
          <p:cNvPr id="5" name="מלבן 4">
            <a:extLst>
              <a:ext uri="{FF2B5EF4-FFF2-40B4-BE49-F238E27FC236}">
                <a16:creationId xmlns:a16="http://schemas.microsoft.com/office/drawing/2014/main" id="{DB4DF3EB-56A8-983D-AE24-01C4720F44C2}"/>
              </a:ext>
            </a:extLst>
          </p:cNvPr>
          <p:cNvSpPr/>
          <p:nvPr/>
        </p:nvSpPr>
        <p:spPr>
          <a:xfrm>
            <a:off x="2460674" y="1793629"/>
            <a:ext cx="1519311" cy="91440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a:t>Face</a:t>
            </a:r>
            <a:br>
              <a:rPr lang="en-US"/>
            </a:br>
            <a:r>
              <a:rPr lang="en-US"/>
              <a:t>Detection</a:t>
            </a:r>
            <a:endParaRPr lang="en-IL"/>
          </a:p>
        </p:txBody>
      </p:sp>
      <p:sp>
        <p:nvSpPr>
          <p:cNvPr id="6" name="מלבן 5">
            <a:extLst>
              <a:ext uri="{FF2B5EF4-FFF2-40B4-BE49-F238E27FC236}">
                <a16:creationId xmlns:a16="http://schemas.microsoft.com/office/drawing/2014/main" id="{A27F5209-4EFF-63F5-A8E1-DEF6716F37B2}"/>
              </a:ext>
            </a:extLst>
          </p:cNvPr>
          <p:cNvSpPr/>
          <p:nvPr/>
        </p:nvSpPr>
        <p:spPr>
          <a:xfrm>
            <a:off x="5113606" y="1793629"/>
            <a:ext cx="1519311" cy="91440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a:t>Lip</a:t>
            </a:r>
            <a:br>
              <a:rPr lang="en-US"/>
            </a:br>
            <a:r>
              <a:rPr lang="en-US"/>
              <a:t>Detection</a:t>
            </a:r>
            <a:endParaRPr lang="en-IL"/>
          </a:p>
        </p:txBody>
      </p:sp>
      <p:sp>
        <p:nvSpPr>
          <p:cNvPr id="7" name="מלבן 6">
            <a:extLst>
              <a:ext uri="{FF2B5EF4-FFF2-40B4-BE49-F238E27FC236}">
                <a16:creationId xmlns:a16="http://schemas.microsoft.com/office/drawing/2014/main" id="{7CA1B89D-5D54-981C-7727-2B5203C6C8B9}"/>
              </a:ext>
            </a:extLst>
          </p:cNvPr>
          <p:cNvSpPr/>
          <p:nvPr/>
        </p:nvSpPr>
        <p:spPr>
          <a:xfrm>
            <a:off x="7696200" y="1793630"/>
            <a:ext cx="1595510" cy="91440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a:t>Preprocessing</a:t>
            </a:r>
            <a:endParaRPr lang="en-IL"/>
          </a:p>
        </p:txBody>
      </p:sp>
      <p:sp>
        <p:nvSpPr>
          <p:cNvPr id="8" name="מלבן 7">
            <a:extLst>
              <a:ext uri="{FF2B5EF4-FFF2-40B4-BE49-F238E27FC236}">
                <a16:creationId xmlns:a16="http://schemas.microsoft.com/office/drawing/2014/main" id="{C7CDD51C-269A-BBC7-9DEC-DC214EA9F8B3}"/>
              </a:ext>
            </a:extLst>
          </p:cNvPr>
          <p:cNvSpPr/>
          <p:nvPr/>
        </p:nvSpPr>
        <p:spPr>
          <a:xfrm>
            <a:off x="10354993" y="1793630"/>
            <a:ext cx="1519311"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Feature</a:t>
            </a:r>
          </a:p>
          <a:p>
            <a:pPr algn="ctr"/>
            <a:r>
              <a:rPr lang="en-US"/>
              <a:t>Extraction</a:t>
            </a:r>
            <a:endParaRPr lang="en-IL"/>
          </a:p>
        </p:txBody>
      </p:sp>
      <p:sp>
        <p:nvSpPr>
          <p:cNvPr id="10" name="מלבן 9">
            <a:extLst>
              <a:ext uri="{FF2B5EF4-FFF2-40B4-BE49-F238E27FC236}">
                <a16:creationId xmlns:a16="http://schemas.microsoft.com/office/drawing/2014/main" id="{57FF45E2-B1D7-6CB9-7DDB-EEDD30F31336}"/>
              </a:ext>
            </a:extLst>
          </p:cNvPr>
          <p:cNvSpPr/>
          <p:nvPr/>
        </p:nvSpPr>
        <p:spPr>
          <a:xfrm>
            <a:off x="10316893" y="3312355"/>
            <a:ext cx="1595510" cy="9144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Viseme Classification</a:t>
            </a:r>
          </a:p>
        </p:txBody>
      </p:sp>
      <p:sp>
        <p:nvSpPr>
          <p:cNvPr id="12" name="מלבן 11">
            <a:extLst>
              <a:ext uri="{FF2B5EF4-FFF2-40B4-BE49-F238E27FC236}">
                <a16:creationId xmlns:a16="http://schemas.microsoft.com/office/drawing/2014/main" id="{6B983A15-19FB-6695-C88E-2708974B43FD}"/>
              </a:ext>
            </a:extLst>
          </p:cNvPr>
          <p:cNvSpPr/>
          <p:nvPr/>
        </p:nvSpPr>
        <p:spPr>
          <a:xfrm>
            <a:off x="7693268" y="3312356"/>
            <a:ext cx="1712156" cy="9144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Sentence</a:t>
            </a:r>
          </a:p>
          <a:p>
            <a:pPr algn="ctr"/>
            <a:r>
              <a:rPr lang="en-US"/>
              <a:t>Reconstruction</a:t>
            </a:r>
            <a:endParaRPr lang="en-IL"/>
          </a:p>
        </p:txBody>
      </p:sp>
      <p:sp>
        <p:nvSpPr>
          <p:cNvPr id="13" name="מלבן 12">
            <a:extLst>
              <a:ext uri="{FF2B5EF4-FFF2-40B4-BE49-F238E27FC236}">
                <a16:creationId xmlns:a16="http://schemas.microsoft.com/office/drawing/2014/main" id="{388D70FD-3FC0-57FC-686C-D7E267078F87}"/>
              </a:ext>
            </a:extLst>
          </p:cNvPr>
          <p:cNvSpPr/>
          <p:nvPr/>
        </p:nvSpPr>
        <p:spPr>
          <a:xfrm>
            <a:off x="5212666" y="3319977"/>
            <a:ext cx="1519311" cy="9144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Output</a:t>
            </a:r>
            <a:endParaRPr lang="en-IL"/>
          </a:p>
        </p:txBody>
      </p:sp>
      <p:cxnSp>
        <p:nvCxnSpPr>
          <p:cNvPr id="15" name="מחבר חץ ישר 14">
            <a:extLst>
              <a:ext uri="{FF2B5EF4-FFF2-40B4-BE49-F238E27FC236}">
                <a16:creationId xmlns:a16="http://schemas.microsoft.com/office/drawing/2014/main" id="{D11D9509-C7C0-8CAB-D7C2-ED45D96E0ADC}"/>
              </a:ext>
            </a:extLst>
          </p:cNvPr>
          <p:cNvCxnSpPr>
            <a:stCxn id="4" idx="3"/>
            <a:endCxn id="5" idx="1"/>
          </p:cNvCxnSpPr>
          <p:nvPr/>
        </p:nvCxnSpPr>
        <p:spPr>
          <a:xfrm>
            <a:off x="1837007" y="2235587"/>
            <a:ext cx="623667" cy="1524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7" name="מחבר חץ ישר 16">
            <a:extLst>
              <a:ext uri="{FF2B5EF4-FFF2-40B4-BE49-F238E27FC236}">
                <a16:creationId xmlns:a16="http://schemas.microsoft.com/office/drawing/2014/main" id="{85405D78-A5CF-7569-9F48-4492B218B2F6}"/>
              </a:ext>
            </a:extLst>
          </p:cNvPr>
          <p:cNvCxnSpPr>
            <a:cxnSpLocks/>
            <a:stCxn id="5" idx="3"/>
            <a:endCxn id="6" idx="1"/>
          </p:cNvCxnSpPr>
          <p:nvPr/>
        </p:nvCxnSpPr>
        <p:spPr>
          <a:xfrm>
            <a:off x="3979985" y="2250829"/>
            <a:ext cx="1133621"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9" name="מחבר חץ ישר 18">
            <a:extLst>
              <a:ext uri="{FF2B5EF4-FFF2-40B4-BE49-F238E27FC236}">
                <a16:creationId xmlns:a16="http://schemas.microsoft.com/office/drawing/2014/main" id="{B9A04FF0-282F-CD6B-6A15-5EC154DA8FA5}"/>
              </a:ext>
            </a:extLst>
          </p:cNvPr>
          <p:cNvCxnSpPr>
            <a:cxnSpLocks/>
            <a:stCxn id="6" idx="3"/>
            <a:endCxn id="7" idx="1"/>
          </p:cNvCxnSpPr>
          <p:nvPr/>
        </p:nvCxnSpPr>
        <p:spPr>
          <a:xfrm>
            <a:off x="6632917" y="2250829"/>
            <a:ext cx="1063283" cy="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2" name="מחבר חץ ישר 21">
            <a:extLst>
              <a:ext uri="{FF2B5EF4-FFF2-40B4-BE49-F238E27FC236}">
                <a16:creationId xmlns:a16="http://schemas.microsoft.com/office/drawing/2014/main" id="{5DA56611-7EBF-B2F4-C5CC-D6EF7A8DD2DA}"/>
              </a:ext>
            </a:extLst>
          </p:cNvPr>
          <p:cNvCxnSpPr>
            <a:cxnSpLocks/>
            <a:stCxn id="7" idx="3"/>
            <a:endCxn id="8" idx="1"/>
          </p:cNvCxnSpPr>
          <p:nvPr/>
        </p:nvCxnSpPr>
        <p:spPr>
          <a:xfrm>
            <a:off x="9291710" y="2250830"/>
            <a:ext cx="1063283"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5" name="מחבר חץ ישר 24">
            <a:extLst>
              <a:ext uri="{FF2B5EF4-FFF2-40B4-BE49-F238E27FC236}">
                <a16:creationId xmlns:a16="http://schemas.microsoft.com/office/drawing/2014/main" id="{E753DEA5-28C8-6792-3391-2B3623A9E19A}"/>
              </a:ext>
            </a:extLst>
          </p:cNvPr>
          <p:cNvCxnSpPr>
            <a:cxnSpLocks/>
            <a:stCxn id="8" idx="2"/>
          </p:cNvCxnSpPr>
          <p:nvPr/>
        </p:nvCxnSpPr>
        <p:spPr>
          <a:xfrm>
            <a:off x="11114649" y="2708030"/>
            <a:ext cx="0" cy="61194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2" name="מחבר חץ ישר 31">
            <a:extLst>
              <a:ext uri="{FF2B5EF4-FFF2-40B4-BE49-F238E27FC236}">
                <a16:creationId xmlns:a16="http://schemas.microsoft.com/office/drawing/2014/main" id="{FAFB827F-2DEC-BC77-E16C-0540D6716414}"/>
              </a:ext>
            </a:extLst>
          </p:cNvPr>
          <p:cNvCxnSpPr>
            <a:cxnSpLocks/>
            <a:stCxn id="10" idx="1"/>
            <a:endCxn id="12" idx="3"/>
          </p:cNvCxnSpPr>
          <p:nvPr/>
        </p:nvCxnSpPr>
        <p:spPr>
          <a:xfrm flipH="1">
            <a:off x="9405424" y="3769555"/>
            <a:ext cx="911469" cy="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5" name="מחבר חץ ישר 34">
            <a:extLst>
              <a:ext uri="{FF2B5EF4-FFF2-40B4-BE49-F238E27FC236}">
                <a16:creationId xmlns:a16="http://schemas.microsoft.com/office/drawing/2014/main" id="{604FE864-A030-84AD-2BFC-F33E72A51EBD}"/>
              </a:ext>
            </a:extLst>
          </p:cNvPr>
          <p:cNvCxnSpPr>
            <a:cxnSpLocks/>
            <a:stCxn id="12" idx="1"/>
            <a:endCxn id="13" idx="3"/>
          </p:cNvCxnSpPr>
          <p:nvPr/>
        </p:nvCxnSpPr>
        <p:spPr>
          <a:xfrm flipH="1">
            <a:off x="6731977" y="3769556"/>
            <a:ext cx="961291" cy="762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8" name="תיבת טקסט 37">
            <a:extLst>
              <a:ext uri="{FF2B5EF4-FFF2-40B4-BE49-F238E27FC236}">
                <a16:creationId xmlns:a16="http://schemas.microsoft.com/office/drawing/2014/main" id="{52E4E612-5031-4ECC-4926-902E4580491C}"/>
              </a:ext>
            </a:extLst>
          </p:cNvPr>
          <p:cNvSpPr txBox="1"/>
          <p:nvPr/>
        </p:nvSpPr>
        <p:spPr>
          <a:xfrm>
            <a:off x="669388" y="4846323"/>
            <a:ext cx="10605868" cy="369332"/>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pPr algn="l"/>
            <a:r>
              <a:rPr lang="en-US" b="1"/>
              <a:t>Algorithm</a:t>
            </a:r>
            <a:r>
              <a:rPr lang="en-US"/>
              <a:t>: </a:t>
            </a:r>
            <a:r>
              <a:rPr lang="en-US" b="1"/>
              <a:t>3D-CNN</a:t>
            </a:r>
            <a:r>
              <a:rPr lang="en-US"/>
              <a:t> + </a:t>
            </a:r>
            <a:r>
              <a:rPr lang="en-US" b="1"/>
              <a:t>2D-ResNet</a:t>
            </a:r>
            <a:endParaRPr lang="en-IL"/>
          </a:p>
        </p:txBody>
      </p:sp>
      <p:sp>
        <p:nvSpPr>
          <p:cNvPr id="41" name="תיבת טקסט 40">
            <a:extLst>
              <a:ext uri="{FF2B5EF4-FFF2-40B4-BE49-F238E27FC236}">
                <a16:creationId xmlns:a16="http://schemas.microsoft.com/office/drawing/2014/main" id="{348A0B41-9101-D434-1A23-0127C3962A77}"/>
              </a:ext>
            </a:extLst>
          </p:cNvPr>
          <p:cNvSpPr txBox="1"/>
          <p:nvPr/>
        </p:nvSpPr>
        <p:spPr>
          <a:xfrm>
            <a:off x="779832" y="2692787"/>
            <a:ext cx="595035" cy="369332"/>
          </a:xfrm>
          <a:prstGeom prst="rect">
            <a:avLst/>
          </a:prstGeom>
          <a:noFill/>
        </p:spPr>
        <p:txBody>
          <a:bodyPr wrap="none" rtlCol="0">
            <a:spAutoFit/>
          </a:bodyPr>
          <a:lstStyle/>
          <a:p>
            <a:r>
              <a:rPr lang="en-US"/>
              <a:t>O(1)</a:t>
            </a:r>
            <a:endParaRPr lang="en-IL"/>
          </a:p>
        </p:txBody>
      </p:sp>
      <p:sp>
        <p:nvSpPr>
          <p:cNvPr id="11" name="תיבת טקסט 10">
            <a:extLst>
              <a:ext uri="{FF2B5EF4-FFF2-40B4-BE49-F238E27FC236}">
                <a16:creationId xmlns:a16="http://schemas.microsoft.com/office/drawing/2014/main" id="{6363E6C4-9BA3-AE54-171A-FC99E55DB6DF}"/>
              </a:ext>
            </a:extLst>
          </p:cNvPr>
          <p:cNvSpPr txBox="1"/>
          <p:nvPr/>
        </p:nvSpPr>
        <p:spPr>
          <a:xfrm>
            <a:off x="2737744" y="2708029"/>
            <a:ext cx="920124" cy="369332"/>
          </a:xfrm>
          <a:prstGeom prst="rect">
            <a:avLst/>
          </a:prstGeom>
          <a:noFill/>
        </p:spPr>
        <p:txBody>
          <a:bodyPr wrap="none" rtlCol="0">
            <a:spAutoFit/>
          </a:bodyPr>
          <a:lstStyle/>
          <a:p>
            <a:r>
              <a:rPr lang="en-US"/>
              <a:t>O(n*m)</a:t>
            </a:r>
            <a:endParaRPr lang="en-IL"/>
          </a:p>
        </p:txBody>
      </p:sp>
      <p:sp>
        <p:nvSpPr>
          <p:cNvPr id="3" name="תיבת טקסט 2">
            <a:extLst>
              <a:ext uri="{FF2B5EF4-FFF2-40B4-BE49-F238E27FC236}">
                <a16:creationId xmlns:a16="http://schemas.microsoft.com/office/drawing/2014/main" id="{2A5C2697-7DA9-B0B4-C59C-9F56A3A6E813}"/>
              </a:ext>
            </a:extLst>
          </p:cNvPr>
          <p:cNvSpPr txBox="1"/>
          <p:nvPr/>
        </p:nvSpPr>
        <p:spPr>
          <a:xfrm>
            <a:off x="5342862" y="2668222"/>
            <a:ext cx="1171475" cy="369332"/>
          </a:xfrm>
          <a:prstGeom prst="rect">
            <a:avLst/>
          </a:prstGeom>
          <a:noFill/>
        </p:spPr>
        <p:txBody>
          <a:bodyPr wrap="none" rtlCol="0">
            <a:spAutoFit/>
          </a:bodyPr>
          <a:lstStyle/>
          <a:p>
            <a:r>
              <a:rPr lang="en-US"/>
              <a:t>O(n*m*d)</a:t>
            </a:r>
            <a:endParaRPr lang="en-IL"/>
          </a:p>
        </p:txBody>
      </p:sp>
      <p:sp>
        <p:nvSpPr>
          <p:cNvPr id="9" name="תיבת טקסט 8">
            <a:extLst>
              <a:ext uri="{FF2B5EF4-FFF2-40B4-BE49-F238E27FC236}">
                <a16:creationId xmlns:a16="http://schemas.microsoft.com/office/drawing/2014/main" id="{9B1C1C65-DFE3-4CAF-1783-2F1C5D508705}"/>
              </a:ext>
            </a:extLst>
          </p:cNvPr>
          <p:cNvSpPr txBox="1"/>
          <p:nvPr/>
        </p:nvSpPr>
        <p:spPr>
          <a:xfrm>
            <a:off x="8012949" y="2708029"/>
            <a:ext cx="920124" cy="369332"/>
          </a:xfrm>
          <a:prstGeom prst="rect">
            <a:avLst/>
          </a:prstGeom>
          <a:noFill/>
        </p:spPr>
        <p:txBody>
          <a:bodyPr wrap="none" rtlCol="0">
            <a:spAutoFit/>
          </a:bodyPr>
          <a:lstStyle/>
          <a:p>
            <a:r>
              <a:rPr lang="en-US"/>
              <a:t>O(n*m)</a:t>
            </a:r>
            <a:endParaRPr lang="en-IL"/>
          </a:p>
        </p:txBody>
      </p:sp>
      <p:sp>
        <p:nvSpPr>
          <p:cNvPr id="18" name="תיבת טקסט 17">
            <a:extLst>
              <a:ext uri="{FF2B5EF4-FFF2-40B4-BE49-F238E27FC236}">
                <a16:creationId xmlns:a16="http://schemas.microsoft.com/office/drawing/2014/main" id="{7F1DCE41-C583-649A-6BA0-1A8F43636211}"/>
              </a:ext>
            </a:extLst>
          </p:cNvPr>
          <p:cNvSpPr txBox="1"/>
          <p:nvPr/>
        </p:nvSpPr>
        <p:spPr>
          <a:xfrm>
            <a:off x="10376625" y="1203961"/>
            <a:ext cx="1476045" cy="646331"/>
          </a:xfrm>
          <a:prstGeom prst="rect">
            <a:avLst/>
          </a:prstGeom>
          <a:noFill/>
        </p:spPr>
        <p:txBody>
          <a:bodyPr wrap="none" rtlCol="0">
            <a:spAutoFit/>
          </a:bodyPr>
          <a:lstStyle/>
          <a:p>
            <a:r>
              <a:rPr lang="en-US"/>
              <a:t>O(n*m*f*k)+</a:t>
            </a:r>
          </a:p>
          <a:p>
            <a:r>
              <a:rPr lang="en-US"/>
              <a:t>O(n*m*d)</a:t>
            </a:r>
            <a:endParaRPr lang="en-IL"/>
          </a:p>
        </p:txBody>
      </p:sp>
    </p:spTree>
    <p:extLst>
      <p:ext uri="{BB962C8B-B14F-4D97-AF65-F5344CB8AC3E}">
        <p14:creationId xmlns:p14="http://schemas.microsoft.com/office/powerpoint/2010/main" val="18573190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5735A2-1A9F-BDC9-690A-D0698D2AB3BE}"/>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1FC9D3F2-783C-5C21-F571-438F7266C49D}"/>
              </a:ext>
            </a:extLst>
          </p:cNvPr>
          <p:cNvSpPr>
            <a:spLocks noGrp="1"/>
          </p:cNvSpPr>
          <p:nvPr>
            <p:ph type="title"/>
          </p:nvPr>
        </p:nvSpPr>
        <p:spPr>
          <a:xfrm>
            <a:off x="1158240" y="267281"/>
            <a:ext cx="9875520" cy="1427873"/>
          </a:xfrm>
        </p:spPr>
        <p:txBody>
          <a:bodyPr/>
          <a:lstStyle/>
          <a:p>
            <a:pPr algn="ctr"/>
            <a:r>
              <a:rPr lang="en-US"/>
              <a:t>Full Process Flow Overview</a:t>
            </a:r>
            <a:br>
              <a:rPr lang="en-US"/>
            </a:br>
            <a:r>
              <a:rPr lang="en-US"/>
              <a:t>Viseme Classification</a:t>
            </a:r>
            <a:endParaRPr lang="en-IL"/>
          </a:p>
        </p:txBody>
      </p:sp>
      <p:sp>
        <p:nvSpPr>
          <p:cNvPr id="4" name="מלבן 3">
            <a:extLst>
              <a:ext uri="{FF2B5EF4-FFF2-40B4-BE49-F238E27FC236}">
                <a16:creationId xmlns:a16="http://schemas.microsoft.com/office/drawing/2014/main" id="{0526DE99-9163-E262-7DF3-85F69BBEB7CE}"/>
              </a:ext>
            </a:extLst>
          </p:cNvPr>
          <p:cNvSpPr/>
          <p:nvPr/>
        </p:nvSpPr>
        <p:spPr>
          <a:xfrm>
            <a:off x="317696" y="1778387"/>
            <a:ext cx="1519311" cy="91440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a:t>Video</a:t>
            </a:r>
            <a:br>
              <a:rPr lang="en-US"/>
            </a:br>
            <a:r>
              <a:rPr lang="en-US"/>
              <a:t>Upload</a:t>
            </a:r>
            <a:endParaRPr lang="en-IL"/>
          </a:p>
        </p:txBody>
      </p:sp>
      <p:sp>
        <p:nvSpPr>
          <p:cNvPr id="5" name="מלבן 4">
            <a:extLst>
              <a:ext uri="{FF2B5EF4-FFF2-40B4-BE49-F238E27FC236}">
                <a16:creationId xmlns:a16="http://schemas.microsoft.com/office/drawing/2014/main" id="{6BA1AC7D-07FD-943B-7291-C909F081EF51}"/>
              </a:ext>
            </a:extLst>
          </p:cNvPr>
          <p:cNvSpPr/>
          <p:nvPr/>
        </p:nvSpPr>
        <p:spPr>
          <a:xfrm>
            <a:off x="2460674" y="1793629"/>
            <a:ext cx="1519311" cy="91440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a:t>Face</a:t>
            </a:r>
            <a:br>
              <a:rPr lang="en-US"/>
            </a:br>
            <a:r>
              <a:rPr lang="en-US"/>
              <a:t>Detection</a:t>
            </a:r>
            <a:endParaRPr lang="en-IL"/>
          </a:p>
        </p:txBody>
      </p:sp>
      <p:sp>
        <p:nvSpPr>
          <p:cNvPr id="6" name="מלבן 5">
            <a:extLst>
              <a:ext uri="{FF2B5EF4-FFF2-40B4-BE49-F238E27FC236}">
                <a16:creationId xmlns:a16="http://schemas.microsoft.com/office/drawing/2014/main" id="{5670E99E-57AF-6C11-110A-88DB7A227492}"/>
              </a:ext>
            </a:extLst>
          </p:cNvPr>
          <p:cNvSpPr/>
          <p:nvPr/>
        </p:nvSpPr>
        <p:spPr>
          <a:xfrm>
            <a:off x="5113606" y="1793629"/>
            <a:ext cx="1519311" cy="91440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a:t>Lip</a:t>
            </a:r>
            <a:br>
              <a:rPr lang="en-US"/>
            </a:br>
            <a:r>
              <a:rPr lang="en-US"/>
              <a:t>Detection</a:t>
            </a:r>
            <a:endParaRPr lang="en-IL"/>
          </a:p>
        </p:txBody>
      </p:sp>
      <p:sp>
        <p:nvSpPr>
          <p:cNvPr id="7" name="מלבן 6">
            <a:extLst>
              <a:ext uri="{FF2B5EF4-FFF2-40B4-BE49-F238E27FC236}">
                <a16:creationId xmlns:a16="http://schemas.microsoft.com/office/drawing/2014/main" id="{A438B88E-495B-EFC3-17FF-4069EE6D13E4}"/>
              </a:ext>
            </a:extLst>
          </p:cNvPr>
          <p:cNvSpPr/>
          <p:nvPr/>
        </p:nvSpPr>
        <p:spPr>
          <a:xfrm>
            <a:off x="7696200" y="1793630"/>
            <a:ext cx="1595510" cy="91440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a:t>Preprocessing</a:t>
            </a:r>
            <a:endParaRPr lang="en-IL"/>
          </a:p>
        </p:txBody>
      </p:sp>
      <p:sp>
        <p:nvSpPr>
          <p:cNvPr id="8" name="מלבן 7">
            <a:extLst>
              <a:ext uri="{FF2B5EF4-FFF2-40B4-BE49-F238E27FC236}">
                <a16:creationId xmlns:a16="http://schemas.microsoft.com/office/drawing/2014/main" id="{47C623B4-D3CE-78A2-3702-85045E9F6779}"/>
              </a:ext>
            </a:extLst>
          </p:cNvPr>
          <p:cNvSpPr/>
          <p:nvPr/>
        </p:nvSpPr>
        <p:spPr>
          <a:xfrm>
            <a:off x="10354993" y="1793630"/>
            <a:ext cx="1519311" cy="91440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a:t>Feature</a:t>
            </a:r>
          </a:p>
          <a:p>
            <a:pPr algn="ctr"/>
            <a:r>
              <a:rPr lang="en-US"/>
              <a:t>Extraction</a:t>
            </a:r>
            <a:endParaRPr lang="en-IL"/>
          </a:p>
        </p:txBody>
      </p:sp>
      <p:sp>
        <p:nvSpPr>
          <p:cNvPr id="10" name="מלבן 9">
            <a:extLst>
              <a:ext uri="{FF2B5EF4-FFF2-40B4-BE49-F238E27FC236}">
                <a16:creationId xmlns:a16="http://schemas.microsoft.com/office/drawing/2014/main" id="{FCFC932A-3D44-CEA3-71A1-00BD56C6C0CA}"/>
              </a:ext>
            </a:extLst>
          </p:cNvPr>
          <p:cNvSpPr/>
          <p:nvPr/>
        </p:nvSpPr>
        <p:spPr>
          <a:xfrm>
            <a:off x="10316893" y="3312355"/>
            <a:ext cx="1595510"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Viseme Classification</a:t>
            </a:r>
          </a:p>
        </p:txBody>
      </p:sp>
      <p:sp>
        <p:nvSpPr>
          <p:cNvPr id="12" name="מלבן 11">
            <a:extLst>
              <a:ext uri="{FF2B5EF4-FFF2-40B4-BE49-F238E27FC236}">
                <a16:creationId xmlns:a16="http://schemas.microsoft.com/office/drawing/2014/main" id="{02951A1B-D9F8-5CF9-1F4C-CA1BFD147B6E}"/>
              </a:ext>
            </a:extLst>
          </p:cNvPr>
          <p:cNvSpPr/>
          <p:nvPr/>
        </p:nvSpPr>
        <p:spPr>
          <a:xfrm>
            <a:off x="7693268" y="3312356"/>
            <a:ext cx="1712156" cy="9144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Sentence</a:t>
            </a:r>
          </a:p>
          <a:p>
            <a:pPr algn="ctr"/>
            <a:r>
              <a:rPr lang="en-US"/>
              <a:t>Reconstruction</a:t>
            </a:r>
            <a:endParaRPr lang="en-IL"/>
          </a:p>
        </p:txBody>
      </p:sp>
      <p:sp>
        <p:nvSpPr>
          <p:cNvPr id="13" name="מלבן 12">
            <a:extLst>
              <a:ext uri="{FF2B5EF4-FFF2-40B4-BE49-F238E27FC236}">
                <a16:creationId xmlns:a16="http://schemas.microsoft.com/office/drawing/2014/main" id="{79691652-9638-EFEF-8875-23A71920B6D1}"/>
              </a:ext>
            </a:extLst>
          </p:cNvPr>
          <p:cNvSpPr/>
          <p:nvPr/>
        </p:nvSpPr>
        <p:spPr>
          <a:xfrm>
            <a:off x="5212666" y="3319977"/>
            <a:ext cx="1519311" cy="9144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Output</a:t>
            </a:r>
            <a:endParaRPr lang="en-IL"/>
          </a:p>
        </p:txBody>
      </p:sp>
      <p:cxnSp>
        <p:nvCxnSpPr>
          <p:cNvPr id="15" name="מחבר חץ ישר 14">
            <a:extLst>
              <a:ext uri="{FF2B5EF4-FFF2-40B4-BE49-F238E27FC236}">
                <a16:creationId xmlns:a16="http://schemas.microsoft.com/office/drawing/2014/main" id="{165FBDB3-0229-0A8C-22B2-809E539CBF2B}"/>
              </a:ext>
            </a:extLst>
          </p:cNvPr>
          <p:cNvCxnSpPr>
            <a:stCxn id="4" idx="3"/>
            <a:endCxn id="5" idx="1"/>
          </p:cNvCxnSpPr>
          <p:nvPr/>
        </p:nvCxnSpPr>
        <p:spPr>
          <a:xfrm>
            <a:off x="1837007" y="2235587"/>
            <a:ext cx="623667" cy="1524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7" name="מחבר חץ ישר 16">
            <a:extLst>
              <a:ext uri="{FF2B5EF4-FFF2-40B4-BE49-F238E27FC236}">
                <a16:creationId xmlns:a16="http://schemas.microsoft.com/office/drawing/2014/main" id="{9CC2FB12-8796-9E89-D7C2-2BED7D5A8753}"/>
              </a:ext>
            </a:extLst>
          </p:cNvPr>
          <p:cNvCxnSpPr>
            <a:cxnSpLocks/>
            <a:stCxn id="5" idx="3"/>
            <a:endCxn id="6" idx="1"/>
          </p:cNvCxnSpPr>
          <p:nvPr/>
        </p:nvCxnSpPr>
        <p:spPr>
          <a:xfrm>
            <a:off x="3979985" y="2250829"/>
            <a:ext cx="1133621"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9" name="מחבר חץ ישר 18">
            <a:extLst>
              <a:ext uri="{FF2B5EF4-FFF2-40B4-BE49-F238E27FC236}">
                <a16:creationId xmlns:a16="http://schemas.microsoft.com/office/drawing/2014/main" id="{F63B7710-D0EB-32DF-5F27-A09D8D3EB147}"/>
              </a:ext>
            </a:extLst>
          </p:cNvPr>
          <p:cNvCxnSpPr>
            <a:cxnSpLocks/>
            <a:stCxn id="6" idx="3"/>
            <a:endCxn id="7" idx="1"/>
          </p:cNvCxnSpPr>
          <p:nvPr/>
        </p:nvCxnSpPr>
        <p:spPr>
          <a:xfrm>
            <a:off x="6632917" y="2250829"/>
            <a:ext cx="1063283" cy="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2" name="מחבר חץ ישר 21">
            <a:extLst>
              <a:ext uri="{FF2B5EF4-FFF2-40B4-BE49-F238E27FC236}">
                <a16:creationId xmlns:a16="http://schemas.microsoft.com/office/drawing/2014/main" id="{B2186CC4-977D-A553-BBE1-F49BEBFDC44A}"/>
              </a:ext>
            </a:extLst>
          </p:cNvPr>
          <p:cNvCxnSpPr>
            <a:cxnSpLocks/>
            <a:stCxn id="7" idx="3"/>
            <a:endCxn id="8" idx="1"/>
          </p:cNvCxnSpPr>
          <p:nvPr/>
        </p:nvCxnSpPr>
        <p:spPr>
          <a:xfrm>
            <a:off x="9291710" y="2250830"/>
            <a:ext cx="1063283"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5" name="מחבר חץ ישר 24">
            <a:extLst>
              <a:ext uri="{FF2B5EF4-FFF2-40B4-BE49-F238E27FC236}">
                <a16:creationId xmlns:a16="http://schemas.microsoft.com/office/drawing/2014/main" id="{741B602C-27DB-0B14-EFAD-F2B9F40A161B}"/>
              </a:ext>
            </a:extLst>
          </p:cNvPr>
          <p:cNvCxnSpPr>
            <a:cxnSpLocks/>
            <a:stCxn id="8" idx="2"/>
          </p:cNvCxnSpPr>
          <p:nvPr/>
        </p:nvCxnSpPr>
        <p:spPr>
          <a:xfrm>
            <a:off x="11114649" y="2708030"/>
            <a:ext cx="0" cy="61194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2" name="מחבר חץ ישר 31">
            <a:extLst>
              <a:ext uri="{FF2B5EF4-FFF2-40B4-BE49-F238E27FC236}">
                <a16:creationId xmlns:a16="http://schemas.microsoft.com/office/drawing/2014/main" id="{A52D721F-A9E2-1DE8-DF57-888C4FBF8E26}"/>
              </a:ext>
            </a:extLst>
          </p:cNvPr>
          <p:cNvCxnSpPr>
            <a:cxnSpLocks/>
            <a:stCxn id="10" idx="1"/>
            <a:endCxn id="12" idx="3"/>
          </p:cNvCxnSpPr>
          <p:nvPr/>
        </p:nvCxnSpPr>
        <p:spPr>
          <a:xfrm flipH="1">
            <a:off x="9405424" y="3769555"/>
            <a:ext cx="911469" cy="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5" name="מחבר חץ ישר 34">
            <a:extLst>
              <a:ext uri="{FF2B5EF4-FFF2-40B4-BE49-F238E27FC236}">
                <a16:creationId xmlns:a16="http://schemas.microsoft.com/office/drawing/2014/main" id="{6E8B9C88-3504-DEAB-9D9E-FF1FD2D25CDA}"/>
              </a:ext>
            </a:extLst>
          </p:cNvPr>
          <p:cNvCxnSpPr>
            <a:cxnSpLocks/>
            <a:stCxn id="12" idx="1"/>
            <a:endCxn id="13" idx="3"/>
          </p:cNvCxnSpPr>
          <p:nvPr/>
        </p:nvCxnSpPr>
        <p:spPr>
          <a:xfrm flipH="1">
            <a:off x="6731977" y="3769556"/>
            <a:ext cx="961291" cy="762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8" name="תיבת טקסט 37">
            <a:extLst>
              <a:ext uri="{FF2B5EF4-FFF2-40B4-BE49-F238E27FC236}">
                <a16:creationId xmlns:a16="http://schemas.microsoft.com/office/drawing/2014/main" id="{A355A3AB-7683-6916-80B9-2BA52419C6B5}"/>
              </a:ext>
            </a:extLst>
          </p:cNvPr>
          <p:cNvSpPr txBox="1"/>
          <p:nvPr/>
        </p:nvSpPr>
        <p:spPr>
          <a:xfrm>
            <a:off x="669388" y="4846323"/>
            <a:ext cx="10605868" cy="369332"/>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pPr algn="l"/>
            <a:r>
              <a:rPr lang="en-US" b="1"/>
              <a:t>Algorithm</a:t>
            </a:r>
            <a:r>
              <a:rPr lang="en-US"/>
              <a:t>: </a:t>
            </a:r>
            <a:r>
              <a:rPr lang="en-US" b="1"/>
              <a:t>Transformer-based encoder-decoder</a:t>
            </a:r>
            <a:r>
              <a:rPr lang="en-US"/>
              <a:t>.</a:t>
            </a:r>
            <a:endParaRPr lang="en-IL"/>
          </a:p>
        </p:txBody>
      </p:sp>
      <p:sp>
        <p:nvSpPr>
          <p:cNvPr id="41" name="תיבת טקסט 40">
            <a:extLst>
              <a:ext uri="{FF2B5EF4-FFF2-40B4-BE49-F238E27FC236}">
                <a16:creationId xmlns:a16="http://schemas.microsoft.com/office/drawing/2014/main" id="{3E4491EE-A244-B2E7-0BBC-8FAE3078C702}"/>
              </a:ext>
            </a:extLst>
          </p:cNvPr>
          <p:cNvSpPr txBox="1"/>
          <p:nvPr/>
        </p:nvSpPr>
        <p:spPr>
          <a:xfrm>
            <a:off x="779832" y="2692787"/>
            <a:ext cx="595035" cy="369332"/>
          </a:xfrm>
          <a:prstGeom prst="rect">
            <a:avLst/>
          </a:prstGeom>
          <a:noFill/>
        </p:spPr>
        <p:txBody>
          <a:bodyPr wrap="none" rtlCol="0">
            <a:spAutoFit/>
          </a:bodyPr>
          <a:lstStyle/>
          <a:p>
            <a:r>
              <a:rPr lang="en-US"/>
              <a:t>O(1)</a:t>
            </a:r>
            <a:endParaRPr lang="en-IL"/>
          </a:p>
        </p:txBody>
      </p:sp>
      <p:sp>
        <p:nvSpPr>
          <p:cNvPr id="11" name="תיבת טקסט 10">
            <a:extLst>
              <a:ext uri="{FF2B5EF4-FFF2-40B4-BE49-F238E27FC236}">
                <a16:creationId xmlns:a16="http://schemas.microsoft.com/office/drawing/2014/main" id="{82901CC2-9F30-D6A8-722A-CDC2FC011FC8}"/>
              </a:ext>
            </a:extLst>
          </p:cNvPr>
          <p:cNvSpPr txBox="1"/>
          <p:nvPr/>
        </p:nvSpPr>
        <p:spPr>
          <a:xfrm>
            <a:off x="2737744" y="2708029"/>
            <a:ext cx="920124" cy="369332"/>
          </a:xfrm>
          <a:prstGeom prst="rect">
            <a:avLst/>
          </a:prstGeom>
          <a:noFill/>
        </p:spPr>
        <p:txBody>
          <a:bodyPr wrap="none" rtlCol="0">
            <a:spAutoFit/>
          </a:bodyPr>
          <a:lstStyle/>
          <a:p>
            <a:r>
              <a:rPr lang="en-US"/>
              <a:t>O(n*m)</a:t>
            </a:r>
            <a:endParaRPr lang="en-IL"/>
          </a:p>
        </p:txBody>
      </p:sp>
      <p:sp>
        <p:nvSpPr>
          <p:cNvPr id="3" name="תיבת טקסט 2">
            <a:extLst>
              <a:ext uri="{FF2B5EF4-FFF2-40B4-BE49-F238E27FC236}">
                <a16:creationId xmlns:a16="http://schemas.microsoft.com/office/drawing/2014/main" id="{3E0253F3-765F-FEE1-DADC-4C772511466E}"/>
              </a:ext>
            </a:extLst>
          </p:cNvPr>
          <p:cNvSpPr txBox="1"/>
          <p:nvPr/>
        </p:nvSpPr>
        <p:spPr>
          <a:xfrm>
            <a:off x="5342862" y="2668222"/>
            <a:ext cx="1171475" cy="369332"/>
          </a:xfrm>
          <a:prstGeom prst="rect">
            <a:avLst/>
          </a:prstGeom>
          <a:noFill/>
        </p:spPr>
        <p:txBody>
          <a:bodyPr wrap="none" rtlCol="0">
            <a:spAutoFit/>
          </a:bodyPr>
          <a:lstStyle/>
          <a:p>
            <a:r>
              <a:rPr lang="en-US"/>
              <a:t>O(n*m*d)</a:t>
            </a:r>
            <a:endParaRPr lang="en-IL"/>
          </a:p>
        </p:txBody>
      </p:sp>
      <p:sp>
        <p:nvSpPr>
          <p:cNvPr id="9" name="תיבת טקסט 8">
            <a:extLst>
              <a:ext uri="{FF2B5EF4-FFF2-40B4-BE49-F238E27FC236}">
                <a16:creationId xmlns:a16="http://schemas.microsoft.com/office/drawing/2014/main" id="{8AB08B0A-34BE-5A6A-3CF6-A06C930C7DE3}"/>
              </a:ext>
            </a:extLst>
          </p:cNvPr>
          <p:cNvSpPr txBox="1"/>
          <p:nvPr/>
        </p:nvSpPr>
        <p:spPr>
          <a:xfrm>
            <a:off x="8012949" y="2708029"/>
            <a:ext cx="920124" cy="369332"/>
          </a:xfrm>
          <a:prstGeom prst="rect">
            <a:avLst/>
          </a:prstGeom>
          <a:noFill/>
        </p:spPr>
        <p:txBody>
          <a:bodyPr wrap="none" rtlCol="0">
            <a:spAutoFit/>
          </a:bodyPr>
          <a:lstStyle/>
          <a:p>
            <a:r>
              <a:rPr lang="en-US"/>
              <a:t>O(n*m)</a:t>
            </a:r>
            <a:endParaRPr lang="en-IL"/>
          </a:p>
        </p:txBody>
      </p:sp>
      <p:sp>
        <p:nvSpPr>
          <p:cNvPr id="18" name="תיבת טקסט 17">
            <a:extLst>
              <a:ext uri="{FF2B5EF4-FFF2-40B4-BE49-F238E27FC236}">
                <a16:creationId xmlns:a16="http://schemas.microsoft.com/office/drawing/2014/main" id="{2B7668B2-30E5-3EC1-8402-A6EEAD2FA990}"/>
              </a:ext>
            </a:extLst>
          </p:cNvPr>
          <p:cNvSpPr txBox="1"/>
          <p:nvPr/>
        </p:nvSpPr>
        <p:spPr>
          <a:xfrm>
            <a:off x="10376625" y="1203961"/>
            <a:ext cx="1476045" cy="646331"/>
          </a:xfrm>
          <a:prstGeom prst="rect">
            <a:avLst/>
          </a:prstGeom>
          <a:noFill/>
        </p:spPr>
        <p:txBody>
          <a:bodyPr wrap="none" rtlCol="0">
            <a:spAutoFit/>
          </a:bodyPr>
          <a:lstStyle/>
          <a:p>
            <a:r>
              <a:rPr lang="en-US"/>
              <a:t>O(n*m*f*k)+</a:t>
            </a:r>
          </a:p>
          <a:p>
            <a:r>
              <a:rPr lang="en-US"/>
              <a:t>O(n*m*d)</a:t>
            </a:r>
            <a:endParaRPr lang="en-IL"/>
          </a:p>
        </p:txBody>
      </p:sp>
      <p:sp>
        <p:nvSpPr>
          <p:cNvPr id="14" name="תיבת טקסט 13">
            <a:extLst>
              <a:ext uri="{FF2B5EF4-FFF2-40B4-BE49-F238E27FC236}">
                <a16:creationId xmlns:a16="http://schemas.microsoft.com/office/drawing/2014/main" id="{A15BAED3-075F-1DD1-5CF0-3AADC538CC91}"/>
              </a:ext>
            </a:extLst>
          </p:cNvPr>
          <p:cNvSpPr txBox="1"/>
          <p:nvPr/>
        </p:nvSpPr>
        <p:spPr>
          <a:xfrm>
            <a:off x="10654585" y="4167207"/>
            <a:ext cx="1108958" cy="369332"/>
          </a:xfrm>
          <a:prstGeom prst="rect">
            <a:avLst/>
          </a:prstGeom>
          <a:noFill/>
        </p:spPr>
        <p:txBody>
          <a:bodyPr wrap="none" rtlCol="0">
            <a:spAutoFit/>
          </a:bodyPr>
          <a:lstStyle/>
          <a:p>
            <a:r>
              <a:rPr lang="en-US"/>
              <a:t>O(n*d*T)</a:t>
            </a:r>
            <a:endParaRPr lang="en-IL"/>
          </a:p>
        </p:txBody>
      </p:sp>
    </p:spTree>
    <p:extLst>
      <p:ext uri="{BB962C8B-B14F-4D97-AF65-F5344CB8AC3E}">
        <p14:creationId xmlns:p14="http://schemas.microsoft.com/office/powerpoint/2010/main" val="6919293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B8E261-DE34-4A58-860C-2A26567903E1}"/>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BC928FD0-58F1-1761-D668-BB6AECD70333}"/>
              </a:ext>
            </a:extLst>
          </p:cNvPr>
          <p:cNvSpPr>
            <a:spLocks noGrp="1"/>
          </p:cNvSpPr>
          <p:nvPr>
            <p:ph type="title"/>
          </p:nvPr>
        </p:nvSpPr>
        <p:spPr>
          <a:xfrm>
            <a:off x="1158240" y="267281"/>
            <a:ext cx="9875520" cy="1427873"/>
          </a:xfrm>
        </p:spPr>
        <p:txBody>
          <a:bodyPr/>
          <a:lstStyle/>
          <a:p>
            <a:pPr algn="ctr"/>
            <a:r>
              <a:rPr lang="en-US"/>
              <a:t>Full Process Flow Overview</a:t>
            </a:r>
            <a:br>
              <a:rPr lang="en-US"/>
            </a:br>
            <a:r>
              <a:rPr lang="en-US"/>
              <a:t>Sentence Reconstruction</a:t>
            </a:r>
            <a:endParaRPr lang="en-IL"/>
          </a:p>
        </p:txBody>
      </p:sp>
      <p:sp>
        <p:nvSpPr>
          <p:cNvPr id="4" name="מלבן 3">
            <a:extLst>
              <a:ext uri="{FF2B5EF4-FFF2-40B4-BE49-F238E27FC236}">
                <a16:creationId xmlns:a16="http://schemas.microsoft.com/office/drawing/2014/main" id="{4FD8E38E-25AE-C48A-3BDE-36E251B66760}"/>
              </a:ext>
            </a:extLst>
          </p:cNvPr>
          <p:cNvSpPr/>
          <p:nvPr/>
        </p:nvSpPr>
        <p:spPr>
          <a:xfrm>
            <a:off x="317696" y="1778387"/>
            <a:ext cx="1519311" cy="91440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a:t>Video</a:t>
            </a:r>
            <a:br>
              <a:rPr lang="en-US"/>
            </a:br>
            <a:r>
              <a:rPr lang="en-US"/>
              <a:t>Upload</a:t>
            </a:r>
            <a:endParaRPr lang="en-IL"/>
          </a:p>
        </p:txBody>
      </p:sp>
      <p:sp>
        <p:nvSpPr>
          <p:cNvPr id="5" name="מלבן 4">
            <a:extLst>
              <a:ext uri="{FF2B5EF4-FFF2-40B4-BE49-F238E27FC236}">
                <a16:creationId xmlns:a16="http://schemas.microsoft.com/office/drawing/2014/main" id="{6708B7E3-1E17-85CA-4C4D-39FEAEEE64FA}"/>
              </a:ext>
            </a:extLst>
          </p:cNvPr>
          <p:cNvSpPr/>
          <p:nvPr/>
        </p:nvSpPr>
        <p:spPr>
          <a:xfrm>
            <a:off x="2460674" y="1793629"/>
            <a:ext cx="1519311" cy="91440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a:t>Face</a:t>
            </a:r>
            <a:br>
              <a:rPr lang="en-US"/>
            </a:br>
            <a:r>
              <a:rPr lang="en-US"/>
              <a:t>Detection</a:t>
            </a:r>
            <a:endParaRPr lang="en-IL"/>
          </a:p>
        </p:txBody>
      </p:sp>
      <p:sp>
        <p:nvSpPr>
          <p:cNvPr id="6" name="מלבן 5">
            <a:extLst>
              <a:ext uri="{FF2B5EF4-FFF2-40B4-BE49-F238E27FC236}">
                <a16:creationId xmlns:a16="http://schemas.microsoft.com/office/drawing/2014/main" id="{CE2C6160-6B89-AC2F-9246-19A65D0A8DA6}"/>
              </a:ext>
            </a:extLst>
          </p:cNvPr>
          <p:cNvSpPr/>
          <p:nvPr/>
        </p:nvSpPr>
        <p:spPr>
          <a:xfrm>
            <a:off x="5113606" y="1793629"/>
            <a:ext cx="1519311" cy="91440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a:t>Lip</a:t>
            </a:r>
            <a:br>
              <a:rPr lang="en-US"/>
            </a:br>
            <a:r>
              <a:rPr lang="en-US"/>
              <a:t>Detection</a:t>
            </a:r>
            <a:endParaRPr lang="en-IL"/>
          </a:p>
        </p:txBody>
      </p:sp>
      <p:sp>
        <p:nvSpPr>
          <p:cNvPr id="7" name="מלבן 6">
            <a:extLst>
              <a:ext uri="{FF2B5EF4-FFF2-40B4-BE49-F238E27FC236}">
                <a16:creationId xmlns:a16="http://schemas.microsoft.com/office/drawing/2014/main" id="{6A2D6E5F-449E-BAD2-B21E-7BDBEBDB9A6F}"/>
              </a:ext>
            </a:extLst>
          </p:cNvPr>
          <p:cNvSpPr/>
          <p:nvPr/>
        </p:nvSpPr>
        <p:spPr>
          <a:xfrm>
            <a:off x="7696200" y="1793630"/>
            <a:ext cx="1595510" cy="91440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a:t>Preprocessing</a:t>
            </a:r>
            <a:endParaRPr lang="en-IL"/>
          </a:p>
        </p:txBody>
      </p:sp>
      <p:sp>
        <p:nvSpPr>
          <p:cNvPr id="8" name="מלבן 7">
            <a:extLst>
              <a:ext uri="{FF2B5EF4-FFF2-40B4-BE49-F238E27FC236}">
                <a16:creationId xmlns:a16="http://schemas.microsoft.com/office/drawing/2014/main" id="{8D07663C-2971-8460-78A5-B2F301F48692}"/>
              </a:ext>
            </a:extLst>
          </p:cNvPr>
          <p:cNvSpPr/>
          <p:nvPr/>
        </p:nvSpPr>
        <p:spPr>
          <a:xfrm>
            <a:off x="10354993" y="1793630"/>
            <a:ext cx="1519311" cy="91440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a:t>Feature</a:t>
            </a:r>
          </a:p>
          <a:p>
            <a:pPr algn="ctr"/>
            <a:r>
              <a:rPr lang="en-US"/>
              <a:t>Extraction</a:t>
            </a:r>
            <a:endParaRPr lang="en-IL"/>
          </a:p>
        </p:txBody>
      </p:sp>
      <p:sp>
        <p:nvSpPr>
          <p:cNvPr id="10" name="מלבן 9">
            <a:extLst>
              <a:ext uri="{FF2B5EF4-FFF2-40B4-BE49-F238E27FC236}">
                <a16:creationId xmlns:a16="http://schemas.microsoft.com/office/drawing/2014/main" id="{608860BF-A818-B113-1C14-8DD8155ABB89}"/>
              </a:ext>
            </a:extLst>
          </p:cNvPr>
          <p:cNvSpPr/>
          <p:nvPr/>
        </p:nvSpPr>
        <p:spPr>
          <a:xfrm>
            <a:off x="10316893" y="3312355"/>
            <a:ext cx="1595510" cy="91440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a:t>Viseme Classification</a:t>
            </a:r>
          </a:p>
        </p:txBody>
      </p:sp>
      <p:sp>
        <p:nvSpPr>
          <p:cNvPr id="12" name="מלבן 11">
            <a:extLst>
              <a:ext uri="{FF2B5EF4-FFF2-40B4-BE49-F238E27FC236}">
                <a16:creationId xmlns:a16="http://schemas.microsoft.com/office/drawing/2014/main" id="{0600EDD9-4CBF-0314-902A-34F87417E971}"/>
              </a:ext>
            </a:extLst>
          </p:cNvPr>
          <p:cNvSpPr/>
          <p:nvPr/>
        </p:nvSpPr>
        <p:spPr>
          <a:xfrm>
            <a:off x="7693268" y="3312356"/>
            <a:ext cx="1712156"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Sentence</a:t>
            </a:r>
          </a:p>
          <a:p>
            <a:pPr algn="ctr"/>
            <a:r>
              <a:rPr lang="en-US"/>
              <a:t>Reconstruction</a:t>
            </a:r>
            <a:endParaRPr lang="en-IL"/>
          </a:p>
        </p:txBody>
      </p:sp>
      <p:sp>
        <p:nvSpPr>
          <p:cNvPr id="13" name="מלבן 12">
            <a:extLst>
              <a:ext uri="{FF2B5EF4-FFF2-40B4-BE49-F238E27FC236}">
                <a16:creationId xmlns:a16="http://schemas.microsoft.com/office/drawing/2014/main" id="{80005A6F-3AFA-777E-5FD5-4A949980E17A}"/>
              </a:ext>
            </a:extLst>
          </p:cNvPr>
          <p:cNvSpPr/>
          <p:nvPr/>
        </p:nvSpPr>
        <p:spPr>
          <a:xfrm>
            <a:off x="5212666" y="3319977"/>
            <a:ext cx="1519311" cy="9144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Output</a:t>
            </a:r>
            <a:endParaRPr lang="en-IL"/>
          </a:p>
        </p:txBody>
      </p:sp>
      <p:cxnSp>
        <p:nvCxnSpPr>
          <p:cNvPr id="15" name="מחבר חץ ישר 14">
            <a:extLst>
              <a:ext uri="{FF2B5EF4-FFF2-40B4-BE49-F238E27FC236}">
                <a16:creationId xmlns:a16="http://schemas.microsoft.com/office/drawing/2014/main" id="{3E0B8A24-FDBE-08CC-BC51-A98876E95976}"/>
              </a:ext>
            </a:extLst>
          </p:cNvPr>
          <p:cNvCxnSpPr>
            <a:stCxn id="4" idx="3"/>
            <a:endCxn id="5" idx="1"/>
          </p:cNvCxnSpPr>
          <p:nvPr/>
        </p:nvCxnSpPr>
        <p:spPr>
          <a:xfrm>
            <a:off x="1837007" y="2235587"/>
            <a:ext cx="623667" cy="1524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7" name="מחבר חץ ישר 16">
            <a:extLst>
              <a:ext uri="{FF2B5EF4-FFF2-40B4-BE49-F238E27FC236}">
                <a16:creationId xmlns:a16="http://schemas.microsoft.com/office/drawing/2014/main" id="{214845B8-2BE0-4D5F-13B1-5554464C0D21}"/>
              </a:ext>
            </a:extLst>
          </p:cNvPr>
          <p:cNvCxnSpPr>
            <a:cxnSpLocks/>
            <a:stCxn id="5" idx="3"/>
            <a:endCxn id="6" idx="1"/>
          </p:cNvCxnSpPr>
          <p:nvPr/>
        </p:nvCxnSpPr>
        <p:spPr>
          <a:xfrm>
            <a:off x="3979985" y="2250829"/>
            <a:ext cx="1133621"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9" name="מחבר חץ ישר 18">
            <a:extLst>
              <a:ext uri="{FF2B5EF4-FFF2-40B4-BE49-F238E27FC236}">
                <a16:creationId xmlns:a16="http://schemas.microsoft.com/office/drawing/2014/main" id="{CF7CC8A8-C868-F7F7-805E-A0CFF4EDFFEC}"/>
              </a:ext>
            </a:extLst>
          </p:cNvPr>
          <p:cNvCxnSpPr>
            <a:cxnSpLocks/>
            <a:stCxn id="6" idx="3"/>
            <a:endCxn id="7" idx="1"/>
          </p:cNvCxnSpPr>
          <p:nvPr/>
        </p:nvCxnSpPr>
        <p:spPr>
          <a:xfrm>
            <a:off x="6632917" y="2250829"/>
            <a:ext cx="1063283" cy="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2" name="מחבר חץ ישר 21">
            <a:extLst>
              <a:ext uri="{FF2B5EF4-FFF2-40B4-BE49-F238E27FC236}">
                <a16:creationId xmlns:a16="http://schemas.microsoft.com/office/drawing/2014/main" id="{A7DCA1A8-A562-8560-BB9F-0899C4867DBF}"/>
              </a:ext>
            </a:extLst>
          </p:cNvPr>
          <p:cNvCxnSpPr>
            <a:cxnSpLocks/>
            <a:stCxn id="7" idx="3"/>
            <a:endCxn id="8" idx="1"/>
          </p:cNvCxnSpPr>
          <p:nvPr/>
        </p:nvCxnSpPr>
        <p:spPr>
          <a:xfrm>
            <a:off x="9291710" y="2250830"/>
            <a:ext cx="1063283"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5" name="מחבר חץ ישר 24">
            <a:extLst>
              <a:ext uri="{FF2B5EF4-FFF2-40B4-BE49-F238E27FC236}">
                <a16:creationId xmlns:a16="http://schemas.microsoft.com/office/drawing/2014/main" id="{33085D45-3D3A-31CB-0929-BA7D4EEF7B0D}"/>
              </a:ext>
            </a:extLst>
          </p:cNvPr>
          <p:cNvCxnSpPr>
            <a:cxnSpLocks/>
            <a:stCxn id="8" idx="2"/>
          </p:cNvCxnSpPr>
          <p:nvPr/>
        </p:nvCxnSpPr>
        <p:spPr>
          <a:xfrm>
            <a:off x="11114649" y="2708030"/>
            <a:ext cx="0" cy="61194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2" name="מחבר חץ ישר 31">
            <a:extLst>
              <a:ext uri="{FF2B5EF4-FFF2-40B4-BE49-F238E27FC236}">
                <a16:creationId xmlns:a16="http://schemas.microsoft.com/office/drawing/2014/main" id="{E8704A92-3964-AB5D-8598-7BEB9D7A567B}"/>
              </a:ext>
            </a:extLst>
          </p:cNvPr>
          <p:cNvCxnSpPr>
            <a:cxnSpLocks/>
            <a:stCxn id="10" idx="1"/>
            <a:endCxn id="12" idx="3"/>
          </p:cNvCxnSpPr>
          <p:nvPr/>
        </p:nvCxnSpPr>
        <p:spPr>
          <a:xfrm flipH="1">
            <a:off x="9405424" y="3769555"/>
            <a:ext cx="911469" cy="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5" name="מחבר חץ ישר 34">
            <a:extLst>
              <a:ext uri="{FF2B5EF4-FFF2-40B4-BE49-F238E27FC236}">
                <a16:creationId xmlns:a16="http://schemas.microsoft.com/office/drawing/2014/main" id="{14BFBD32-5C53-4BE4-F6E3-752F7C123818}"/>
              </a:ext>
            </a:extLst>
          </p:cNvPr>
          <p:cNvCxnSpPr>
            <a:cxnSpLocks/>
            <a:stCxn id="12" idx="1"/>
            <a:endCxn id="13" idx="3"/>
          </p:cNvCxnSpPr>
          <p:nvPr/>
        </p:nvCxnSpPr>
        <p:spPr>
          <a:xfrm flipH="1">
            <a:off x="6731977" y="3769556"/>
            <a:ext cx="961291" cy="762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8" name="תיבת טקסט 37">
            <a:extLst>
              <a:ext uri="{FF2B5EF4-FFF2-40B4-BE49-F238E27FC236}">
                <a16:creationId xmlns:a16="http://schemas.microsoft.com/office/drawing/2014/main" id="{BD14DF4E-5AA7-77AB-1833-86E35FA3BDBA}"/>
              </a:ext>
            </a:extLst>
          </p:cNvPr>
          <p:cNvSpPr txBox="1"/>
          <p:nvPr/>
        </p:nvSpPr>
        <p:spPr>
          <a:xfrm>
            <a:off x="669388" y="4846323"/>
            <a:ext cx="10605868" cy="369332"/>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pPr algn="l"/>
            <a:r>
              <a:rPr lang="en-GB" b="1"/>
              <a:t>Algorithm</a:t>
            </a:r>
            <a:r>
              <a:rPr lang="en-GB"/>
              <a:t>: </a:t>
            </a:r>
            <a:r>
              <a:rPr lang="en-GB" b="1"/>
              <a:t>Beam Search</a:t>
            </a:r>
            <a:r>
              <a:rPr lang="en-GB"/>
              <a:t> with </a:t>
            </a:r>
            <a:r>
              <a:rPr lang="en-GB" b="1"/>
              <a:t>Perplexity Analysis</a:t>
            </a:r>
            <a:r>
              <a:rPr lang="en-GB"/>
              <a:t>.</a:t>
            </a:r>
            <a:endParaRPr lang="en-IL"/>
          </a:p>
        </p:txBody>
      </p:sp>
      <p:sp>
        <p:nvSpPr>
          <p:cNvPr id="41" name="תיבת טקסט 40">
            <a:extLst>
              <a:ext uri="{FF2B5EF4-FFF2-40B4-BE49-F238E27FC236}">
                <a16:creationId xmlns:a16="http://schemas.microsoft.com/office/drawing/2014/main" id="{B68ECF57-540E-908D-5C6C-0264FD915288}"/>
              </a:ext>
            </a:extLst>
          </p:cNvPr>
          <p:cNvSpPr txBox="1"/>
          <p:nvPr/>
        </p:nvSpPr>
        <p:spPr>
          <a:xfrm>
            <a:off x="779832" y="2692787"/>
            <a:ext cx="595035" cy="369332"/>
          </a:xfrm>
          <a:prstGeom prst="rect">
            <a:avLst/>
          </a:prstGeom>
          <a:noFill/>
        </p:spPr>
        <p:txBody>
          <a:bodyPr wrap="none" rtlCol="0">
            <a:spAutoFit/>
          </a:bodyPr>
          <a:lstStyle/>
          <a:p>
            <a:r>
              <a:rPr lang="en-US"/>
              <a:t>O(1)</a:t>
            </a:r>
            <a:endParaRPr lang="en-IL"/>
          </a:p>
        </p:txBody>
      </p:sp>
      <p:sp>
        <p:nvSpPr>
          <p:cNvPr id="11" name="תיבת טקסט 10">
            <a:extLst>
              <a:ext uri="{FF2B5EF4-FFF2-40B4-BE49-F238E27FC236}">
                <a16:creationId xmlns:a16="http://schemas.microsoft.com/office/drawing/2014/main" id="{5CCA3B28-6DE3-5912-FE45-B752BB87EDC5}"/>
              </a:ext>
            </a:extLst>
          </p:cNvPr>
          <p:cNvSpPr txBox="1"/>
          <p:nvPr/>
        </p:nvSpPr>
        <p:spPr>
          <a:xfrm>
            <a:off x="2737744" y="2708029"/>
            <a:ext cx="920124" cy="369332"/>
          </a:xfrm>
          <a:prstGeom prst="rect">
            <a:avLst/>
          </a:prstGeom>
          <a:noFill/>
        </p:spPr>
        <p:txBody>
          <a:bodyPr wrap="none" rtlCol="0">
            <a:spAutoFit/>
          </a:bodyPr>
          <a:lstStyle/>
          <a:p>
            <a:r>
              <a:rPr lang="en-US"/>
              <a:t>O(n*m)</a:t>
            </a:r>
            <a:endParaRPr lang="en-IL"/>
          </a:p>
        </p:txBody>
      </p:sp>
      <p:sp>
        <p:nvSpPr>
          <p:cNvPr id="3" name="תיבת טקסט 2">
            <a:extLst>
              <a:ext uri="{FF2B5EF4-FFF2-40B4-BE49-F238E27FC236}">
                <a16:creationId xmlns:a16="http://schemas.microsoft.com/office/drawing/2014/main" id="{79196B99-AA58-D67B-5C30-FDD4D1C06527}"/>
              </a:ext>
            </a:extLst>
          </p:cNvPr>
          <p:cNvSpPr txBox="1"/>
          <p:nvPr/>
        </p:nvSpPr>
        <p:spPr>
          <a:xfrm>
            <a:off x="5342862" y="2668222"/>
            <a:ext cx="1171475" cy="369332"/>
          </a:xfrm>
          <a:prstGeom prst="rect">
            <a:avLst/>
          </a:prstGeom>
          <a:noFill/>
        </p:spPr>
        <p:txBody>
          <a:bodyPr wrap="none" rtlCol="0">
            <a:spAutoFit/>
          </a:bodyPr>
          <a:lstStyle/>
          <a:p>
            <a:r>
              <a:rPr lang="en-US"/>
              <a:t>O(n*m*d)</a:t>
            </a:r>
            <a:endParaRPr lang="en-IL"/>
          </a:p>
        </p:txBody>
      </p:sp>
      <p:sp>
        <p:nvSpPr>
          <p:cNvPr id="9" name="תיבת טקסט 8">
            <a:extLst>
              <a:ext uri="{FF2B5EF4-FFF2-40B4-BE49-F238E27FC236}">
                <a16:creationId xmlns:a16="http://schemas.microsoft.com/office/drawing/2014/main" id="{16470561-C7DE-9AA3-EFBC-516E7B6B716B}"/>
              </a:ext>
            </a:extLst>
          </p:cNvPr>
          <p:cNvSpPr txBox="1"/>
          <p:nvPr/>
        </p:nvSpPr>
        <p:spPr>
          <a:xfrm>
            <a:off x="8012949" y="2708029"/>
            <a:ext cx="920124" cy="369332"/>
          </a:xfrm>
          <a:prstGeom prst="rect">
            <a:avLst/>
          </a:prstGeom>
          <a:noFill/>
        </p:spPr>
        <p:txBody>
          <a:bodyPr wrap="none" rtlCol="0">
            <a:spAutoFit/>
          </a:bodyPr>
          <a:lstStyle/>
          <a:p>
            <a:r>
              <a:rPr lang="en-US"/>
              <a:t>O(n*m)</a:t>
            </a:r>
            <a:endParaRPr lang="en-IL"/>
          </a:p>
        </p:txBody>
      </p:sp>
      <p:sp>
        <p:nvSpPr>
          <p:cNvPr id="18" name="תיבת טקסט 17">
            <a:extLst>
              <a:ext uri="{FF2B5EF4-FFF2-40B4-BE49-F238E27FC236}">
                <a16:creationId xmlns:a16="http://schemas.microsoft.com/office/drawing/2014/main" id="{03A68B97-7DCE-6303-8AFF-FB9BCDDE6474}"/>
              </a:ext>
            </a:extLst>
          </p:cNvPr>
          <p:cNvSpPr txBox="1"/>
          <p:nvPr/>
        </p:nvSpPr>
        <p:spPr>
          <a:xfrm>
            <a:off x="10376625" y="1203961"/>
            <a:ext cx="1476045" cy="646331"/>
          </a:xfrm>
          <a:prstGeom prst="rect">
            <a:avLst/>
          </a:prstGeom>
          <a:noFill/>
        </p:spPr>
        <p:txBody>
          <a:bodyPr wrap="none" rtlCol="0">
            <a:spAutoFit/>
          </a:bodyPr>
          <a:lstStyle/>
          <a:p>
            <a:r>
              <a:rPr lang="en-US"/>
              <a:t>O(n*m*f*k)+</a:t>
            </a:r>
          </a:p>
          <a:p>
            <a:r>
              <a:rPr lang="en-US"/>
              <a:t>O(n*m*d)</a:t>
            </a:r>
            <a:endParaRPr lang="en-IL"/>
          </a:p>
        </p:txBody>
      </p:sp>
      <p:sp>
        <p:nvSpPr>
          <p:cNvPr id="14" name="תיבת טקסט 13">
            <a:extLst>
              <a:ext uri="{FF2B5EF4-FFF2-40B4-BE49-F238E27FC236}">
                <a16:creationId xmlns:a16="http://schemas.microsoft.com/office/drawing/2014/main" id="{57956EAD-62D2-3F9E-7E90-4366D9417628}"/>
              </a:ext>
            </a:extLst>
          </p:cNvPr>
          <p:cNvSpPr txBox="1"/>
          <p:nvPr/>
        </p:nvSpPr>
        <p:spPr>
          <a:xfrm>
            <a:off x="10654585" y="4167207"/>
            <a:ext cx="1108958" cy="369332"/>
          </a:xfrm>
          <a:prstGeom prst="rect">
            <a:avLst/>
          </a:prstGeom>
          <a:noFill/>
        </p:spPr>
        <p:txBody>
          <a:bodyPr wrap="none" rtlCol="0">
            <a:spAutoFit/>
          </a:bodyPr>
          <a:lstStyle/>
          <a:p>
            <a:r>
              <a:rPr lang="en-US"/>
              <a:t>O(n*d*T)</a:t>
            </a:r>
            <a:endParaRPr lang="en-IL"/>
          </a:p>
        </p:txBody>
      </p:sp>
      <p:sp>
        <p:nvSpPr>
          <p:cNvPr id="21" name="תיבת טקסט 20">
            <a:extLst>
              <a:ext uri="{FF2B5EF4-FFF2-40B4-BE49-F238E27FC236}">
                <a16:creationId xmlns:a16="http://schemas.microsoft.com/office/drawing/2014/main" id="{753F1B3F-6964-E071-9999-ED9DFCE0D92A}"/>
              </a:ext>
            </a:extLst>
          </p:cNvPr>
          <p:cNvSpPr txBox="1"/>
          <p:nvPr/>
        </p:nvSpPr>
        <p:spPr>
          <a:xfrm>
            <a:off x="8028876" y="4167207"/>
            <a:ext cx="836704" cy="369332"/>
          </a:xfrm>
          <a:prstGeom prst="rect">
            <a:avLst/>
          </a:prstGeom>
          <a:noFill/>
        </p:spPr>
        <p:txBody>
          <a:bodyPr wrap="none" rtlCol="0">
            <a:spAutoFit/>
          </a:bodyPr>
          <a:lstStyle/>
          <a:p>
            <a:r>
              <a:rPr lang="en-US"/>
              <a:t>O(v*p)</a:t>
            </a:r>
            <a:endParaRPr lang="en-IL"/>
          </a:p>
        </p:txBody>
      </p:sp>
    </p:spTree>
    <p:extLst>
      <p:ext uri="{BB962C8B-B14F-4D97-AF65-F5344CB8AC3E}">
        <p14:creationId xmlns:p14="http://schemas.microsoft.com/office/powerpoint/2010/main" val="33958336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0958C1-D759-D9FC-C7F5-B2990A817DE3}"/>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21623094-F2FF-A907-52F4-EF67B313239D}"/>
              </a:ext>
            </a:extLst>
          </p:cNvPr>
          <p:cNvSpPr>
            <a:spLocks noGrp="1"/>
          </p:cNvSpPr>
          <p:nvPr>
            <p:ph type="title"/>
          </p:nvPr>
        </p:nvSpPr>
        <p:spPr>
          <a:xfrm>
            <a:off x="1158240" y="267281"/>
            <a:ext cx="9875520" cy="1427873"/>
          </a:xfrm>
        </p:spPr>
        <p:txBody>
          <a:bodyPr/>
          <a:lstStyle/>
          <a:p>
            <a:pPr algn="ctr"/>
            <a:r>
              <a:rPr lang="en-US"/>
              <a:t>Full Process Flow Overview</a:t>
            </a:r>
            <a:br>
              <a:rPr lang="en-US"/>
            </a:br>
            <a:r>
              <a:rPr lang="en-US"/>
              <a:t>Preprocessing Frames</a:t>
            </a:r>
            <a:endParaRPr lang="en-IL"/>
          </a:p>
        </p:txBody>
      </p:sp>
      <p:sp>
        <p:nvSpPr>
          <p:cNvPr id="4" name="מלבן 3">
            <a:extLst>
              <a:ext uri="{FF2B5EF4-FFF2-40B4-BE49-F238E27FC236}">
                <a16:creationId xmlns:a16="http://schemas.microsoft.com/office/drawing/2014/main" id="{DCD16B68-27D9-D9E5-941A-4BFA12DE51F3}"/>
              </a:ext>
            </a:extLst>
          </p:cNvPr>
          <p:cNvSpPr/>
          <p:nvPr/>
        </p:nvSpPr>
        <p:spPr>
          <a:xfrm>
            <a:off x="317696" y="1778387"/>
            <a:ext cx="1519311" cy="91440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a:t>Video</a:t>
            </a:r>
            <a:br>
              <a:rPr lang="en-US"/>
            </a:br>
            <a:r>
              <a:rPr lang="en-US"/>
              <a:t>Upload</a:t>
            </a:r>
            <a:endParaRPr lang="en-IL"/>
          </a:p>
        </p:txBody>
      </p:sp>
      <p:sp>
        <p:nvSpPr>
          <p:cNvPr id="5" name="מלבן 4">
            <a:extLst>
              <a:ext uri="{FF2B5EF4-FFF2-40B4-BE49-F238E27FC236}">
                <a16:creationId xmlns:a16="http://schemas.microsoft.com/office/drawing/2014/main" id="{4CFC3DC7-63A9-426D-D20A-F2DB6B25D696}"/>
              </a:ext>
            </a:extLst>
          </p:cNvPr>
          <p:cNvSpPr/>
          <p:nvPr/>
        </p:nvSpPr>
        <p:spPr>
          <a:xfrm>
            <a:off x="2460674" y="1793629"/>
            <a:ext cx="1519311" cy="91440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a:t>Face</a:t>
            </a:r>
            <a:br>
              <a:rPr lang="en-US"/>
            </a:br>
            <a:r>
              <a:rPr lang="en-US"/>
              <a:t>Detection</a:t>
            </a:r>
            <a:endParaRPr lang="en-IL"/>
          </a:p>
        </p:txBody>
      </p:sp>
      <p:sp>
        <p:nvSpPr>
          <p:cNvPr id="6" name="מלבן 5">
            <a:extLst>
              <a:ext uri="{FF2B5EF4-FFF2-40B4-BE49-F238E27FC236}">
                <a16:creationId xmlns:a16="http://schemas.microsoft.com/office/drawing/2014/main" id="{C4AF89CC-2FC8-6356-73A5-4C5768423A68}"/>
              </a:ext>
            </a:extLst>
          </p:cNvPr>
          <p:cNvSpPr/>
          <p:nvPr/>
        </p:nvSpPr>
        <p:spPr>
          <a:xfrm>
            <a:off x="5113606" y="1793629"/>
            <a:ext cx="1519311" cy="91440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a:t>Lip</a:t>
            </a:r>
            <a:br>
              <a:rPr lang="en-US"/>
            </a:br>
            <a:r>
              <a:rPr lang="en-US"/>
              <a:t>Detection</a:t>
            </a:r>
            <a:endParaRPr lang="en-IL"/>
          </a:p>
        </p:txBody>
      </p:sp>
      <p:sp>
        <p:nvSpPr>
          <p:cNvPr id="7" name="מלבן 6">
            <a:extLst>
              <a:ext uri="{FF2B5EF4-FFF2-40B4-BE49-F238E27FC236}">
                <a16:creationId xmlns:a16="http://schemas.microsoft.com/office/drawing/2014/main" id="{B033E842-2391-9F0E-FCC6-5254788C3E15}"/>
              </a:ext>
            </a:extLst>
          </p:cNvPr>
          <p:cNvSpPr/>
          <p:nvPr/>
        </p:nvSpPr>
        <p:spPr>
          <a:xfrm>
            <a:off x="7696200" y="1793630"/>
            <a:ext cx="1595510" cy="91440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a:t>Preprocessing</a:t>
            </a:r>
            <a:endParaRPr lang="en-IL"/>
          </a:p>
        </p:txBody>
      </p:sp>
      <p:sp>
        <p:nvSpPr>
          <p:cNvPr id="8" name="מלבן 7">
            <a:extLst>
              <a:ext uri="{FF2B5EF4-FFF2-40B4-BE49-F238E27FC236}">
                <a16:creationId xmlns:a16="http://schemas.microsoft.com/office/drawing/2014/main" id="{1ADD4ADD-771A-6BCA-E085-B42A55A7215F}"/>
              </a:ext>
            </a:extLst>
          </p:cNvPr>
          <p:cNvSpPr/>
          <p:nvPr/>
        </p:nvSpPr>
        <p:spPr>
          <a:xfrm>
            <a:off x="10354993" y="1793630"/>
            <a:ext cx="1519311" cy="91440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a:t>Feature</a:t>
            </a:r>
          </a:p>
          <a:p>
            <a:pPr algn="ctr"/>
            <a:r>
              <a:rPr lang="en-US"/>
              <a:t>Extraction</a:t>
            </a:r>
            <a:endParaRPr lang="en-IL"/>
          </a:p>
        </p:txBody>
      </p:sp>
      <p:sp>
        <p:nvSpPr>
          <p:cNvPr id="10" name="מלבן 9">
            <a:extLst>
              <a:ext uri="{FF2B5EF4-FFF2-40B4-BE49-F238E27FC236}">
                <a16:creationId xmlns:a16="http://schemas.microsoft.com/office/drawing/2014/main" id="{BCD501FB-56C5-D538-4236-F9F5629A302E}"/>
              </a:ext>
            </a:extLst>
          </p:cNvPr>
          <p:cNvSpPr/>
          <p:nvPr/>
        </p:nvSpPr>
        <p:spPr>
          <a:xfrm>
            <a:off x="10316893" y="3312355"/>
            <a:ext cx="1595510" cy="91440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a:t>Viseme Classification</a:t>
            </a:r>
          </a:p>
        </p:txBody>
      </p:sp>
      <p:sp>
        <p:nvSpPr>
          <p:cNvPr id="12" name="מלבן 11">
            <a:extLst>
              <a:ext uri="{FF2B5EF4-FFF2-40B4-BE49-F238E27FC236}">
                <a16:creationId xmlns:a16="http://schemas.microsoft.com/office/drawing/2014/main" id="{03B73A3D-33F8-F14F-317C-70C41CFF6295}"/>
              </a:ext>
            </a:extLst>
          </p:cNvPr>
          <p:cNvSpPr/>
          <p:nvPr/>
        </p:nvSpPr>
        <p:spPr>
          <a:xfrm>
            <a:off x="7693268" y="3312356"/>
            <a:ext cx="1712156" cy="91440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a:t>Sentence</a:t>
            </a:r>
          </a:p>
          <a:p>
            <a:pPr algn="ctr"/>
            <a:r>
              <a:rPr lang="en-US"/>
              <a:t>Reconstruction</a:t>
            </a:r>
            <a:endParaRPr lang="en-IL"/>
          </a:p>
        </p:txBody>
      </p:sp>
      <p:sp>
        <p:nvSpPr>
          <p:cNvPr id="13" name="מלבן 12">
            <a:extLst>
              <a:ext uri="{FF2B5EF4-FFF2-40B4-BE49-F238E27FC236}">
                <a16:creationId xmlns:a16="http://schemas.microsoft.com/office/drawing/2014/main" id="{15E86ACE-E7C1-6B00-6FE0-7D4919D7C406}"/>
              </a:ext>
            </a:extLst>
          </p:cNvPr>
          <p:cNvSpPr/>
          <p:nvPr/>
        </p:nvSpPr>
        <p:spPr>
          <a:xfrm>
            <a:off x="5212666" y="3319977"/>
            <a:ext cx="1519311" cy="91440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a:t>Output</a:t>
            </a:r>
            <a:endParaRPr lang="en-IL"/>
          </a:p>
        </p:txBody>
      </p:sp>
      <p:cxnSp>
        <p:nvCxnSpPr>
          <p:cNvPr id="15" name="מחבר חץ ישר 14">
            <a:extLst>
              <a:ext uri="{FF2B5EF4-FFF2-40B4-BE49-F238E27FC236}">
                <a16:creationId xmlns:a16="http://schemas.microsoft.com/office/drawing/2014/main" id="{C5FF1794-E343-D4EA-4331-D2AC71E0F4B8}"/>
              </a:ext>
            </a:extLst>
          </p:cNvPr>
          <p:cNvCxnSpPr>
            <a:stCxn id="4" idx="3"/>
            <a:endCxn id="5" idx="1"/>
          </p:cNvCxnSpPr>
          <p:nvPr/>
        </p:nvCxnSpPr>
        <p:spPr>
          <a:xfrm>
            <a:off x="1837007" y="2235587"/>
            <a:ext cx="623667" cy="1524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7" name="מחבר חץ ישר 16">
            <a:extLst>
              <a:ext uri="{FF2B5EF4-FFF2-40B4-BE49-F238E27FC236}">
                <a16:creationId xmlns:a16="http://schemas.microsoft.com/office/drawing/2014/main" id="{DA485033-7A45-D887-A8DE-B9C4FBA91E63}"/>
              </a:ext>
            </a:extLst>
          </p:cNvPr>
          <p:cNvCxnSpPr>
            <a:cxnSpLocks/>
            <a:stCxn id="5" idx="3"/>
            <a:endCxn id="6" idx="1"/>
          </p:cNvCxnSpPr>
          <p:nvPr/>
        </p:nvCxnSpPr>
        <p:spPr>
          <a:xfrm>
            <a:off x="3979985" y="2250829"/>
            <a:ext cx="1133621"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9" name="מחבר חץ ישר 18">
            <a:extLst>
              <a:ext uri="{FF2B5EF4-FFF2-40B4-BE49-F238E27FC236}">
                <a16:creationId xmlns:a16="http://schemas.microsoft.com/office/drawing/2014/main" id="{8D3EA5D5-A4F5-BC5B-E785-52ECA38E3234}"/>
              </a:ext>
            </a:extLst>
          </p:cNvPr>
          <p:cNvCxnSpPr>
            <a:cxnSpLocks/>
            <a:stCxn id="6" idx="3"/>
            <a:endCxn id="7" idx="1"/>
          </p:cNvCxnSpPr>
          <p:nvPr/>
        </p:nvCxnSpPr>
        <p:spPr>
          <a:xfrm>
            <a:off x="6632917" y="2250829"/>
            <a:ext cx="1063283" cy="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2" name="מחבר חץ ישר 21">
            <a:extLst>
              <a:ext uri="{FF2B5EF4-FFF2-40B4-BE49-F238E27FC236}">
                <a16:creationId xmlns:a16="http://schemas.microsoft.com/office/drawing/2014/main" id="{E8EE100C-E5E8-AA4E-EE73-4FF638FDA093}"/>
              </a:ext>
            </a:extLst>
          </p:cNvPr>
          <p:cNvCxnSpPr>
            <a:cxnSpLocks/>
            <a:stCxn id="7" idx="3"/>
            <a:endCxn id="8" idx="1"/>
          </p:cNvCxnSpPr>
          <p:nvPr/>
        </p:nvCxnSpPr>
        <p:spPr>
          <a:xfrm>
            <a:off x="9291710" y="2250830"/>
            <a:ext cx="1063283"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5" name="מחבר חץ ישר 24">
            <a:extLst>
              <a:ext uri="{FF2B5EF4-FFF2-40B4-BE49-F238E27FC236}">
                <a16:creationId xmlns:a16="http://schemas.microsoft.com/office/drawing/2014/main" id="{5D83BD1F-D4A2-B76C-760D-34A399C655E2}"/>
              </a:ext>
            </a:extLst>
          </p:cNvPr>
          <p:cNvCxnSpPr>
            <a:cxnSpLocks/>
            <a:stCxn id="8" idx="2"/>
          </p:cNvCxnSpPr>
          <p:nvPr/>
        </p:nvCxnSpPr>
        <p:spPr>
          <a:xfrm>
            <a:off x="11114649" y="2708030"/>
            <a:ext cx="0" cy="61194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2" name="מחבר חץ ישר 31">
            <a:extLst>
              <a:ext uri="{FF2B5EF4-FFF2-40B4-BE49-F238E27FC236}">
                <a16:creationId xmlns:a16="http://schemas.microsoft.com/office/drawing/2014/main" id="{5875D64F-CAA6-4275-82B8-BB2A5A113D2B}"/>
              </a:ext>
            </a:extLst>
          </p:cNvPr>
          <p:cNvCxnSpPr>
            <a:cxnSpLocks/>
            <a:stCxn id="10" idx="1"/>
            <a:endCxn id="12" idx="3"/>
          </p:cNvCxnSpPr>
          <p:nvPr/>
        </p:nvCxnSpPr>
        <p:spPr>
          <a:xfrm flipH="1">
            <a:off x="9405424" y="3769555"/>
            <a:ext cx="911469" cy="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5" name="מחבר חץ ישר 34">
            <a:extLst>
              <a:ext uri="{FF2B5EF4-FFF2-40B4-BE49-F238E27FC236}">
                <a16:creationId xmlns:a16="http://schemas.microsoft.com/office/drawing/2014/main" id="{946CED3B-52D5-F688-A034-EF76494C1FED}"/>
              </a:ext>
            </a:extLst>
          </p:cNvPr>
          <p:cNvCxnSpPr>
            <a:cxnSpLocks/>
            <a:stCxn id="12" idx="1"/>
            <a:endCxn id="13" idx="3"/>
          </p:cNvCxnSpPr>
          <p:nvPr/>
        </p:nvCxnSpPr>
        <p:spPr>
          <a:xfrm flipH="1">
            <a:off x="6731977" y="3769556"/>
            <a:ext cx="961291" cy="762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8" name="תיבת טקסט 37">
            <a:extLst>
              <a:ext uri="{FF2B5EF4-FFF2-40B4-BE49-F238E27FC236}">
                <a16:creationId xmlns:a16="http://schemas.microsoft.com/office/drawing/2014/main" id="{27F0F8F3-DFFC-5F15-BAED-3ECB58EBE731}"/>
              </a:ext>
            </a:extLst>
          </p:cNvPr>
          <p:cNvSpPr txBox="1"/>
          <p:nvPr/>
        </p:nvSpPr>
        <p:spPr>
          <a:xfrm>
            <a:off x="669388" y="4846323"/>
            <a:ext cx="10605868" cy="369332"/>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pPr algn="l"/>
            <a:r>
              <a:rPr lang="en-GB" b="1"/>
              <a:t>Desired Output</a:t>
            </a:r>
            <a:endParaRPr lang="en-IL"/>
          </a:p>
        </p:txBody>
      </p:sp>
      <p:sp>
        <p:nvSpPr>
          <p:cNvPr id="41" name="תיבת טקסט 40">
            <a:extLst>
              <a:ext uri="{FF2B5EF4-FFF2-40B4-BE49-F238E27FC236}">
                <a16:creationId xmlns:a16="http://schemas.microsoft.com/office/drawing/2014/main" id="{6DD23DE4-44CD-9984-9D7A-F741006BBE1F}"/>
              </a:ext>
            </a:extLst>
          </p:cNvPr>
          <p:cNvSpPr txBox="1"/>
          <p:nvPr/>
        </p:nvSpPr>
        <p:spPr>
          <a:xfrm>
            <a:off x="779832" y="2692787"/>
            <a:ext cx="595035" cy="369332"/>
          </a:xfrm>
          <a:prstGeom prst="rect">
            <a:avLst/>
          </a:prstGeom>
          <a:noFill/>
        </p:spPr>
        <p:txBody>
          <a:bodyPr wrap="none" rtlCol="0">
            <a:spAutoFit/>
          </a:bodyPr>
          <a:lstStyle/>
          <a:p>
            <a:r>
              <a:rPr lang="en-US"/>
              <a:t>O(1)</a:t>
            </a:r>
            <a:endParaRPr lang="en-IL"/>
          </a:p>
        </p:txBody>
      </p:sp>
      <p:sp>
        <p:nvSpPr>
          <p:cNvPr id="11" name="תיבת טקסט 10">
            <a:extLst>
              <a:ext uri="{FF2B5EF4-FFF2-40B4-BE49-F238E27FC236}">
                <a16:creationId xmlns:a16="http://schemas.microsoft.com/office/drawing/2014/main" id="{032B78AB-6432-51BF-09AD-ADD1E1B09ED8}"/>
              </a:ext>
            </a:extLst>
          </p:cNvPr>
          <p:cNvSpPr txBox="1"/>
          <p:nvPr/>
        </p:nvSpPr>
        <p:spPr>
          <a:xfrm>
            <a:off x="2737744" y="2708029"/>
            <a:ext cx="920124" cy="369332"/>
          </a:xfrm>
          <a:prstGeom prst="rect">
            <a:avLst/>
          </a:prstGeom>
          <a:noFill/>
        </p:spPr>
        <p:txBody>
          <a:bodyPr wrap="none" rtlCol="0">
            <a:spAutoFit/>
          </a:bodyPr>
          <a:lstStyle/>
          <a:p>
            <a:r>
              <a:rPr lang="en-US"/>
              <a:t>O(n*m)</a:t>
            </a:r>
            <a:endParaRPr lang="en-IL"/>
          </a:p>
        </p:txBody>
      </p:sp>
      <p:sp>
        <p:nvSpPr>
          <p:cNvPr id="3" name="תיבת טקסט 2">
            <a:extLst>
              <a:ext uri="{FF2B5EF4-FFF2-40B4-BE49-F238E27FC236}">
                <a16:creationId xmlns:a16="http://schemas.microsoft.com/office/drawing/2014/main" id="{F86BFD00-DF7A-FA0C-C48F-265B0FF318BC}"/>
              </a:ext>
            </a:extLst>
          </p:cNvPr>
          <p:cNvSpPr txBox="1"/>
          <p:nvPr/>
        </p:nvSpPr>
        <p:spPr>
          <a:xfrm>
            <a:off x="5342862" y="2668222"/>
            <a:ext cx="1171475" cy="369332"/>
          </a:xfrm>
          <a:prstGeom prst="rect">
            <a:avLst/>
          </a:prstGeom>
          <a:noFill/>
        </p:spPr>
        <p:txBody>
          <a:bodyPr wrap="none" rtlCol="0">
            <a:spAutoFit/>
          </a:bodyPr>
          <a:lstStyle/>
          <a:p>
            <a:r>
              <a:rPr lang="en-US"/>
              <a:t>O(n*m*d)</a:t>
            </a:r>
            <a:endParaRPr lang="en-IL"/>
          </a:p>
        </p:txBody>
      </p:sp>
      <p:sp>
        <p:nvSpPr>
          <p:cNvPr id="9" name="תיבת טקסט 8">
            <a:extLst>
              <a:ext uri="{FF2B5EF4-FFF2-40B4-BE49-F238E27FC236}">
                <a16:creationId xmlns:a16="http://schemas.microsoft.com/office/drawing/2014/main" id="{5D402F4B-66FE-839D-87D2-308D643C388E}"/>
              </a:ext>
            </a:extLst>
          </p:cNvPr>
          <p:cNvSpPr txBox="1"/>
          <p:nvPr/>
        </p:nvSpPr>
        <p:spPr>
          <a:xfrm>
            <a:off x="8012949" y="2708029"/>
            <a:ext cx="920124" cy="369332"/>
          </a:xfrm>
          <a:prstGeom prst="rect">
            <a:avLst/>
          </a:prstGeom>
          <a:noFill/>
        </p:spPr>
        <p:txBody>
          <a:bodyPr wrap="none" rtlCol="0">
            <a:spAutoFit/>
          </a:bodyPr>
          <a:lstStyle/>
          <a:p>
            <a:r>
              <a:rPr lang="en-US"/>
              <a:t>O(n*m)</a:t>
            </a:r>
            <a:endParaRPr lang="en-IL"/>
          </a:p>
        </p:txBody>
      </p:sp>
      <p:sp>
        <p:nvSpPr>
          <p:cNvPr id="18" name="תיבת טקסט 17">
            <a:extLst>
              <a:ext uri="{FF2B5EF4-FFF2-40B4-BE49-F238E27FC236}">
                <a16:creationId xmlns:a16="http://schemas.microsoft.com/office/drawing/2014/main" id="{DE410E79-43A0-7D6B-47AD-84339B3BD51D}"/>
              </a:ext>
            </a:extLst>
          </p:cNvPr>
          <p:cNvSpPr txBox="1"/>
          <p:nvPr/>
        </p:nvSpPr>
        <p:spPr>
          <a:xfrm>
            <a:off x="10376625" y="1203961"/>
            <a:ext cx="1476045" cy="646331"/>
          </a:xfrm>
          <a:prstGeom prst="rect">
            <a:avLst/>
          </a:prstGeom>
          <a:noFill/>
        </p:spPr>
        <p:txBody>
          <a:bodyPr wrap="none" rtlCol="0">
            <a:spAutoFit/>
          </a:bodyPr>
          <a:lstStyle/>
          <a:p>
            <a:r>
              <a:rPr lang="en-US"/>
              <a:t>O(n*m*f*k)+</a:t>
            </a:r>
          </a:p>
          <a:p>
            <a:r>
              <a:rPr lang="en-US"/>
              <a:t>O(n*m*d)</a:t>
            </a:r>
            <a:endParaRPr lang="en-IL"/>
          </a:p>
        </p:txBody>
      </p:sp>
      <p:sp>
        <p:nvSpPr>
          <p:cNvPr id="14" name="תיבת טקסט 13">
            <a:extLst>
              <a:ext uri="{FF2B5EF4-FFF2-40B4-BE49-F238E27FC236}">
                <a16:creationId xmlns:a16="http://schemas.microsoft.com/office/drawing/2014/main" id="{E93FD7EF-24A8-9EE0-B6D5-595815DB8FD0}"/>
              </a:ext>
            </a:extLst>
          </p:cNvPr>
          <p:cNvSpPr txBox="1"/>
          <p:nvPr/>
        </p:nvSpPr>
        <p:spPr>
          <a:xfrm>
            <a:off x="10654585" y="4167207"/>
            <a:ext cx="1108958" cy="369332"/>
          </a:xfrm>
          <a:prstGeom prst="rect">
            <a:avLst/>
          </a:prstGeom>
          <a:noFill/>
        </p:spPr>
        <p:txBody>
          <a:bodyPr wrap="none" rtlCol="0">
            <a:spAutoFit/>
          </a:bodyPr>
          <a:lstStyle/>
          <a:p>
            <a:r>
              <a:rPr lang="en-US"/>
              <a:t>O(n*d*T)</a:t>
            </a:r>
            <a:endParaRPr lang="en-IL"/>
          </a:p>
        </p:txBody>
      </p:sp>
      <p:sp>
        <p:nvSpPr>
          <p:cNvPr id="21" name="תיבת טקסט 20">
            <a:extLst>
              <a:ext uri="{FF2B5EF4-FFF2-40B4-BE49-F238E27FC236}">
                <a16:creationId xmlns:a16="http://schemas.microsoft.com/office/drawing/2014/main" id="{995FC26A-C5A6-6A9D-458A-BDA74143CA33}"/>
              </a:ext>
            </a:extLst>
          </p:cNvPr>
          <p:cNvSpPr txBox="1"/>
          <p:nvPr/>
        </p:nvSpPr>
        <p:spPr>
          <a:xfrm>
            <a:off x="8028876" y="4167207"/>
            <a:ext cx="836704" cy="369332"/>
          </a:xfrm>
          <a:prstGeom prst="rect">
            <a:avLst/>
          </a:prstGeom>
          <a:noFill/>
        </p:spPr>
        <p:txBody>
          <a:bodyPr wrap="none" rtlCol="0">
            <a:spAutoFit/>
          </a:bodyPr>
          <a:lstStyle/>
          <a:p>
            <a:r>
              <a:rPr lang="en-US"/>
              <a:t>O(v*p)</a:t>
            </a:r>
            <a:endParaRPr lang="en-IL"/>
          </a:p>
        </p:txBody>
      </p:sp>
      <p:sp>
        <p:nvSpPr>
          <p:cNvPr id="16" name="תיבת טקסט 15">
            <a:extLst>
              <a:ext uri="{FF2B5EF4-FFF2-40B4-BE49-F238E27FC236}">
                <a16:creationId xmlns:a16="http://schemas.microsoft.com/office/drawing/2014/main" id="{0EF3E6A4-5086-548A-6559-AA526FDBAB05}"/>
              </a:ext>
            </a:extLst>
          </p:cNvPr>
          <p:cNvSpPr txBox="1"/>
          <p:nvPr/>
        </p:nvSpPr>
        <p:spPr>
          <a:xfrm>
            <a:off x="5553969" y="4174829"/>
            <a:ext cx="595035" cy="369332"/>
          </a:xfrm>
          <a:prstGeom prst="rect">
            <a:avLst/>
          </a:prstGeom>
          <a:noFill/>
        </p:spPr>
        <p:txBody>
          <a:bodyPr wrap="none" rtlCol="0">
            <a:spAutoFit/>
          </a:bodyPr>
          <a:lstStyle/>
          <a:p>
            <a:r>
              <a:rPr lang="en-US"/>
              <a:t>O(1)</a:t>
            </a:r>
            <a:endParaRPr lang="en-IL"/>
          </a:p>
        </p:txBody>
      </p:sp>
    </p:spTree>
    <p:extLst>
      <p:ext uri="{BB962C8B-B14F-4D97-AF65-F5344CB8AC3E}">
        <p14:creationId xmlns:p14="http://schemas.microsoft.com/office/powerpoint/2010/main" val="36747630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C5BC8A-5149-1225-001F-D471F37DFBEC}"/>
              </a:ext>
            </a:extLst>
          </p:cNvPr>
          <p:cNvSpPr>
            <a:spLocks noGrp="1"/>
          </p:cNvSpPr>
          <p:nvPr>
            <p:ph type="title"/>
          </p:nvPr>
        </p:nvSpPr>
        <p:spPr/>
        <p:txBody>
          <a:bodyPr/>
          <a:lstStyle/>
          <a:p>
            <a:pPr algn="ctr"/>
            <a:r>
              <a:rPr lang="en-US" dirty="0"/>
              <a:t>Summary</a:t>
            </a:r>
            <a:endParaRPr lang="he-IL" dirty="0"/>
          </a:p>
        </p:txBody>
      </p:sp>
      <p:graphicFrame>
        <p:nvGraphicFramePr>
          <p:cNvPr id="10" name="Content Placeholder 2">
            <a:extLst>
              <a:ext uri="{FF2B5EF4-FFF2-40B4-BE49-F238E27FC236}">
                <a16:creationId xmlns:a16="http://schemas.microsoft.com/office/drawing/2014/main" id="{01810017-00C7-3E39-E363-8251ECBA134B}"/>
              </a:ext>
            </a:extLst>
          </p:cNvPr>
          <p:cNvGraphicFramePr>
            <a:graphicFrameLocks noGrp="1"/>
          </p:cNvGraphicFramePr>
          <p:nvPr>
            <p:ph sz="half" idx="1"/>
          </p:nvPr>
        </p:nvGraphicFramePr>
        <p:xfrm>
          <a:off x="1371600" y="1965960"/>
          <a:ext cx="9875520" cy="382088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894917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66" name="Rectangle 65">
            <a:extLst>
              <a:ext uri="{FF2B5EF4-FFF2-40B4-BE49-F238E27FC236}">
                <a16:creationId xmlns:a16="http://schemas.microsoft.com/office/drawing/2014/main" id="{79CBD3C9-4E66-426D-948E-7CF4778107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e-IL"/>
          </a:p>
        </p:txBody>
      </p:sp>
      <p:sp>
        <p:nvSpPr>
          <p:cNvPr id="67" name="Rectangle 66">
            <a:extLst>
              <a:ext uri="{FF2B5EF4-FFF2-40B4-BE49-F238E27FC236}">
                <a16:creationId xmlns:a16="http://schemas.microsoft.com/office/drawing/2014/main" id="{DDB95FCF-AD96-482F-9FB8-CD95725E6E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solidFill>
            <a:schemeClr val="accent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e-IL"/>
          </a:p>
        </p:txBody>
      </p:sp>
      <p:cxnSp>
        <p:nvCxnSpPr>
          <p:cNvPr id="68" name="Straight Connector 67">
            <a:extLst>
              <a:ext uri="{FF2B5EF4-FFF2-40B4-BE49-F238E27FC236}">
                <a16:creationId xmlns:a16="http://schemas.microsoft.com/office/drawing/2014/main" id="{64EEEC00-AD80-4734-BEE6-04CBDEC830C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978660" y="3733800"/>
            <a:ext cx="8229601"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
        <p:nvSpPr>
          <p:cNvPr id="69" name="Rectangle 68">
            <a:extLst>
              <a:ext uri="{FF2B5EF4-FFF2-40B4-BE49-F238E27FC236}">
                <a16:creationId xmlns:a16="http://schemas.microsoft.com/office/drawing/2014/main" id="{2ED84DD6-8A68-4994-8094-8DDBE89BF3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2100" cy="6377939"/>
          </a:xfrm>
          <a:prstGeom prst="rect">
            <a:avLst/>
          </a:prstGeom>
          <a:solidFill>
            <a:schemeClr val="bg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e-IL"/>
          </a:p>
        </p:txBody>
      </p:sp>
      <p:sp>
        <p:nvSpPr>
          <p:cNvPr id="70" name="Rectangle 69">
            <a:extLst>
              <a:ext uri="{FF2B5EF4-FFF2-40B4-BE49-F238E27FC236}">
                <a16:creationId xmlns:a16="http://schemas.microsoft.com/office/drawing/2014/main" id="{176049D7-366E-4AC9-B689-460CC28F8E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52944" y="246887"/>
            <a:ext cx="4397755" cy="6377939"/>
          </a:xfrm>
          <a:prstGeom prst="rect">
            <a:avLst/>
          </a:prstGeom>
          <a:solidFill>
            <a:srgbClr val="A6B727"/>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e-IL"/>
          </a:p>
        </p:txBody>
      </p:sp>
      <p:cxnSp>
        <p:nvCxnSpPr>
          <p:cNvPr id="71" name="Straight Connector 70">
            <a:extLst>
              <a:ext uri="{FF2B5EF4-FFF2-40B4-BE49-F238E27FC236}">
                <a16:creationId xmlns:a16="http://schemas.microsoft.com/office/drawing/2014/main" id="{BC9E91F8-C4AE-4EB0-8B76-FF3F3FC7183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370284" y="4405863"/>
            <a:ext cx="2763075"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
        <p:nvSpPr>
          <p:cNvPr id="72" name="Rectangle 71">
            <a:extLst>
              <a:ext uri="{FF2B5EF4-FFF2-40B4-BE49-F238E27FC236}">
                <a16:creationId xmlns:a16="http://schemas.microsoft.com/office/drawing/2014/main" id="{4AD45A04-4150-4943-BB06-EEEDDD73BF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00" y="246888"/>
            <a:ext cx="11724640" cy="6377939"/>
          </a:xfrm>
          <a:prstGeom prst="rect">
            <a:avLst/>
          </a:pr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04749832-3D98-FB3F-4BEC-06827BCFE350}"/>
              </a:ext>
            </a:extLst>
          </p:cNvPr>
          <p:cNvSpPr>
            <a:spLocks noGrp="1"/>
          </p:cNvSpPr>
          <p:nvPr>
            <p:ph type="title"/>
          </p:nvPr>
        </p:nvSpPr>
        <p:spPr>
          <a:xfrm>
            <a:off x="8195138" y="857675"/>
            <a:ext cx="3113366" cy="3622844"/>
          </a:xfrm>
        </p:spPr>
        <p:txBody>
          <a:bodyPr vert="horz" lIns="91440" tIns="45720" rIns="91440" bIns="45720" rtlCol="0" anchor="b">
            <a:normAutofit/>
          </a:bodyPr>
          <a:lstStyle/>
          <a:p>
            <a:pPr algn="ctr" rtl="0">
              <a:lnSpc>
                <a:spcPct val="85000"/>
              </a:lnSpc>
            </a:pPr>
            <a:r>
              <a:rPr lang="en-US" sz="5000" b="1" cap="all">
                <a:solidFill>
                  <a:srgbClr val="FFFFFF"/>
                </a:solidFill>
              </a:rPr>
              <a:t>Training System Use Case</a:t>
            </a:r>
          </a:p>
        </p:txBody>
      </p:sp>
      <p:pic>
        <p:nvPicPr>
          <p:cNvPr id="4" name="Content Placeholder 3">
            <a:extLst>
              <a:ext uri="{FF2B5EF4-FFF2-40B4-BE49-F238E27FC236}">
                <a16:creationId xmlns:a16="http://schemas.microsoft.com/office/drawing/2014/main" id="{62AF6B4F-749A-10C0-43E8-27C3F93F5A80}"/>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t="8507" b="4947"/>
          <a:stretch/>
        </p:blipFill>
        <p:spPr bwMode="auto">
          <a:xfrm>
            <a:off x="872064" y="857689"/>
            <a:ext cx="6045576" cy="5140640"/>
          </a:xfrm>
          <a:prstGeom prst="rect">
            <a:avLst/>
          </a:prstGeom>
          <a:noFill/>
        </p:spPr>
      </p:pic>
    </p:spTree>
    <p:extLst>
      <p:ext uri="{BB962C8B-B14F-4D97-AF65-F5344CB8AC3E}">
        <p14:creationId xmlns:p14="http://schemas.microsoft.com/office/powerpoint/2010/main" val="23955403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9CBD3C9-4E66-426D-948E-7CF4778107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e-IL"/>
          </a:p>
        </p:txBody>
      </p:sp>
      <p:sp>
        <p:nvSpPr>
          <p:cNvPr id="11" name="Rectangle 10">
            <a:extLst>
              <a:ext uri="{FF2B5EF4-FFF2-40B4-BE49-F238E27FC236}">
                <a16:creationId xmlns:a16="http://schemas.microsoft.com/office/drawing/2014/main" id="{DDB95FCF-AD96-482F-9FB8-CD95725E6E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solidFill>
            <a:schemeClr val="accent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e-IL"/>
          </a:p>
        </p:txBody>
      </p:sp>
      <p:cxnSp>
        <p:nvCxnSpPr>
          <p:cNvPr id="13" name="Straight Connector 12">
            <a:extLst>
              <a:ext uri="{FF2B5EF4-FFF2-40B4-BE49-F238E27FC236}">
                <a16:creationId xmlns:a16="http://schemas.microsoft.com/office/drawing/2014/main" id="{64EEEC00-AD80-4734-BEE6-04CBDEC830C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978660" y="3733800"/>
            <a:ext cx="8229601"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2ED84DD6-8A68-4994-8094-8DDBE89BF3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2100" cy="6377939"/>
          </a:xfrm>
          <a:prstGeom prst="rect">
            <a:avLst/>
          </a:prstGeom>
          <a:solidFill>
            <a:schemeClr val="bg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e-IL"/>
          </a:p>
        </p:txBody>
      </p:sp>
      <p:sp>
        <p:nvSpPr>
          <p:cNvPr id="17" name="Rectangle 16">
            <a:extLst>
              <a:ext uri="{FF2B5EF4-FFF2-40B4-BE49-F238E27FC236}">
                <a16:creationId xmlns:a16="http://schemas.microsoft.com/office/drawing/2014/main" id="{176049D7-366E-4AC9-B689-460CC28F8E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52944" y="246887"/>
            <a:ext cx="4397755" cy="6377939"/>
          </a:xfrm>
          <a:prstGeom prst="rect">
            <a:avLst/>
          </a:prstGeom>
          <a:solidFill>
            <a:srgbClr val="A6B727"/>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e-IL"/>
          </a:p>
        </p:txBody>
      </p:sp>
      <p:cxnSp>
        <p:nvCxnSpPr>
          <p:cNvPr id="19" name="Straight Connector 18">
            <a:extLst>
              <a:ext uri="{FF2B5EF4-FFF2-40B4-BE49-F238E27FC236}">
                <a16:creationId xmlns:a16="http://schemas.microsoft.com/office/drawing/2014/main" id="{BC9E91F8-C4AE-4EB0-8B76-FF3F3FC7183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370284" y="4405863"/>
            <a:ext cx="2763075"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4AD45A04-4150-4943-BB06-EEEDDD73BF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00" y="246888"/>
            <a:ext cx="11724640" cy="6377939"/>
          </a:xfrm>
          <a:prstGeom prst="rect">
            <a:avLst/>
          </a:pr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CDBBDBB9-CA50-870D-8D3F-33DA11990628}"/>
              </a:ext>
            </a:extLst>
          </p:cNvPr>
          <p:cNvSpPr>
            <a:spLocks noGrp="1"/>
          </p:cNvSpPr>
          <p:nvPr>
            <p:ph type="title"/>
          </p:nvPr>
        </p:nvSpPr>
        <p:spPr>
          <a:xfrm>
            <a:off x="8195138" y="857675"/>
            <a:ext cx="3113366" cy="3622844"/>
          </a:xfrm>
        </p:spPr>
        <p:txBody>
          <a:bodyPr vert="horz" lIns="91440" tIns="45720" rIns="91440" bIns="45720" rtlCol="0" anchor="b">
            <a:normAutofit/>
          </a:bodyPr>
          <a:lstStyle/>
          <a:p>
            <a:pPr algn="ctr" rtl="0">
              <a:lnSpc>
                <a:spcPct val="85000"/>
              </a:lnSpc>
            </a:pPr>
            <a:r>
              <a:rPr lang="en-US" sz="5000" b="1" cap="all">
                <a:solidFill>
                  <a:srgbClr val="FFFFFF"/>
                </a:solidFill>
              </a:rPr>
              <a:t>Use Case Diagram</a:t>
            </a:r>
          </a:p>
        </p:txBody>
      </p:sp>
      <p:pic>
        <p:nvPicPr>
          <p:cNvPr id="4" name="Content Placeholder 3" descr="A diagram of a person's face&#10;&#10;Description automatically generated">
            <a:extLst>
              <a:ext uri="{FF2B5EF4-FFF2-40B4-BE49-F238E27FC236}">
                <a16:creationId xmlns:a16="http://schemas.microsoft.com/office/drawing/2014/main" id="{B19AD66C-B34E-181B-CC86-FF4694D7C23F}"/>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bwMode="auto">
          <a:xfrm>
            <a:off x="236220" y="1023758"/>
            <a:ext cx="6986509" cy="5239882"/>
          </a:xfrm>
          <a:prstGeom prst="rect">
            <a:avLst/>
          </a:prstGeom>
          <a:noFill/>
        </p:spPr>
      </p:pic>
    </p:spTree>
    <p:extLst>
      <p:ext uri="{BB962C8B-B14F-4D97-AF65-F5344CB8AC3E}">
        <p14:creationId xmlns:p14="http://schemas.microsoft.com/office/powerpoint/2010/main" val="12847623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48" name="Rectangle 47">
            <a:extLst>
              <a:ext uri="{FF2B5EF4-FFF2-40B4-BE49-F238E27FC236}">
                <a16:creationId xmlns:a16="http://schemas.microsoft.com/office/drawing/2014/main" id="{79CBD3C9-4E66-426D-948E-7CF4778107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e-IL"/>
          </a:p>
        </p:txBody>
      </p:sp>
      <p:sp>
        <p:nvSpPr>
          <p:cNvPr id="49" name="Rectangle 48">
            <a:extLst>
              <a:ext uri="{FF2B5EF4-FFF2-40B4-BE49-F238E27FC236}">
                <a16:creationId xmlns:a16="http://schemas.microsoft.com/office/drawing/2014/main" id="{DDB95FCF-AD96-482F-9FB8-CD95725E6E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solidFill>
            <a:schemeClr val="accent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e-IL"/>
          </a:p>
        </p:txBody>
      </p:sp>
      <p:cxnSp>
        <p:nvCxnSpPr>
          <p:cNvPr id="50" name="Straight Connector 49">
            <a:extLst>
              <a:ext uri="{FF2B5EF4-FFF2-40B4-BE49-F238E27FC236}">
                <a16:creationId xmlns:a16="http://schemas.microsoft.com/office/drawing/2014/main" id="{64EEEC00-AD80-4734-BEE6-04CBDEC830C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978660" y="3733800"/>
            <a:ext cx="8229601"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
        <p:nvSpPr>
          <p:cNvPr id="51" name="Rectangle 50">
            <a:extLst>
              <a:ext uri="{FF2B5EF4-FFF2-40B4-BE49-F238E27FC236}">
                <a16:creationId xmlns:a16="http://schemas.microsoft.com/office/drawing/2014/main" id="{2ED84DD6-8A68-4994-8094-8DDBE89BF3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2100" cy="6377939"/>
          </a:xfrm>
          <a:prstGeom prst="rect">
            <a:avLst/>
          </a:prstGeom>
          <a:solidFill>
            <a:schemeClr val="bg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e-IL"/>
          </a:p>
        </p:txBody>
      </p:sp>
      <p:sp>
        <p:nvSpPr>
          <p:cNvPr id="52" name="Rectangle 51">
            <a:extLst>
              <a:ext uri="{FF2B5EF4-FFF2-40B4-BE49-F238E27FC236}">
                <a16:creationId xmlns:a16="http://schemas.microsoft.com/office/drawing/2014/main" id="{176049D7-366E-4AC9-B689-460CC28F8E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52944" y="246887"/>
            <a:ext cx="4397755" cy="6377939"/>
          </a:xfrm>
          <a:prstGeom prst="rect">
            <a:avLst/>
          </a:prstGeom>
          <a:solidFill>
            <a:srgbClr val="A6B727"/>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e-IL"/>
          </a:p>
        </p:txBody>
      </p:sp>
      <p:cxnSp>
        <p:nvCxnSpPr>
          <p:cNvPr id="53" name="Straight Connector 52">
            <a:extLst>
              <a:ext uri="{FF2B5EF4-FFF2-40B4-BE49-F238E27FC236}">
                <a16:creationId xmlns:a16="http://schemas.microsoft.com/office/drawing/2014/main" id="{BC9E91F8-C4AE-4EB0-8B76-FF3F3FC7183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370284" y="4405863"/>
            <a:ext cx="2763075"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
        <p:nvSpPr>
          <p:cNvPr id="54" name="Rectangle 53">
            <a:extLst>
              <a:ext uri="{FF2B5EF4-FFF2-40B4-BE49-F238E27FC236}">
                <a16:creationId xmlns:a16="http://schemas.microsoft.com/office/drawing/2014/main" id="{4AD45A04-4150-4943-BB06-EEEDDD73BF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00" y="246888"/>
            <a:ext cx="11724640" cy="6377939"/>
          </a:xfrm>
          <a:prstGeom prst="rect">
            <a:avLst/>
          </a:pr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B2DF0584-8BDA-AD0A-542F-8C9AFDF84F4B}"/>
              </a:ext>
            </a:extLst>
          </p:cNvPr>
          <p:cNvSpPr>
            <a:spLocks noGrp="1"/>
          </p:cNvSpPr>
          <p:nvPr>
            <p:ph type="title"/>
          </p:nvPr>
        </p:nvSpPr>
        <p:spPr>
          <a:xfrm>
            <a:off x="8195138" y="857675"/>
            <a:ext cx="3113366" cy="3622844"/>
          </a:xfrm>
        </p:spPr>
        <p:txBody>
          <a:bodyPr vert="horz" lIns="91440" tIns="45720" rIns="91440" bIns="45720" rtlCol="0" anchor="b">
            <a:normAutofit/>
          </a:bodyPr>
          <a:lstStyle/>
          <a:p>
            <a:pPr algn="ctr" rtl="0">
              <a:lnSpc>
                <a:spcPct val="85000"/>
              </a:lnSpc>
            </a:pPr>
            <a:r>
              <a:rPr lang="en-US" sz="5400" b="1" cap="all">
                <a:solidFill>
                  <a:srgbClr val="FFFFFF"/>
                </a:solidFill>
              </a:rPr>
              <a:t>About Screen</a:t>
            </a:r>
          </a:p>
        </p:txBody>
      </p:sp>
      <p:pic>
        <p:nvPicPr>
          <p:cNvPr id="4" name="מציין מיקום תוכן 3" descr="A screenshot of a computer&#10;&#10;Description automatically generated">
            <a:extLst>
              <a:ext uri="{FF2B5EF4-FFF2-40B4-BE49-F238E27FC236}">
                <a16:creationId xmlns:a16="http://schemas.microsoft.com/office/drawing/2014/main" id="{F3A3A405-26A6-458B-2D57-C75A2010A2F4}"/>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bwMode="auto">
          <a:xfrm>
            <a:off x="872064" y="1493425"/>
            <a:ext cx="6045576" cy="3869168"/>
          </a:xfrm>
          <a:prstGeom prst="rect">
            <a:avLst/>
          </a:prstGeom>
          <a:noFill/>
        </p:spPr>
      </p:pic>
    </p:spTree>
    <p:extLst>
      <p:ext uri="{BB962C8B-B14F-4D97-AF65-F5344CB8AC3E}">
        <p14:creationId xmlns:p14="http://schemas.microsoft.com/office/powerpoint/2010/main" val="16964482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09C0BCD-BEE9-423F-A51C-BCCD8E5EAA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e-IL"/>
          </a:p>
        </p:txBody>
      </p:sp>
      <p:sp>
        <p:nvSpPr>
          <p:cNvPr id="11" name="Rectangle 10">
            <a:extLst>
              <a:ext uri="{FF2B5EF4-FFF2-40B4-BE49-F238E27FC236}">
                <a16:creationId xmlns:a16="http://schemas.microsoft.com/office/drawing/2014/main" id="{9998D094-42B2-42BA-AA14-E8FBE073A5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solidFill>
            <a:schemeClr val="accent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e-IL"/>
          </a:p>
        </p:txBody>
      </p:sp>
      <p:cxnSp>
        <p:nvCxnSpPr>
          <p:cNvPr id="13" name="Straight Connector 12">
            <a:extLst>
              <a:ext uri="{FF2B5EF4-FFF2-40B4-BE49-F238E27FC236}">
                <a16:creationId xmlns:a16="http://schemas.microsoft.com/office/drawing/2014/main" id="{8465D64B-59F4-4BDC-B833-A17EF1E0469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978660" y="3733800"/>
            <a:ext cx="8229601"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8677094E-F0FE-4EC2-9511-5A411A2E11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2100" cy="6377939"/>
          </a:xfrm>
          <a:prstGeom prst="rect">
            <a:avLst/>
          </a:prstGeom>
          <a:solidFill>
            <a:schemeClr val="bg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e-IL"/>
          </a:p>
        </p:txBody>
      </p:sp>
      <p:sp useBgFill="1">
        <p:nvSpPr>
          <p:cNvPr id="17" name="Rectangle 16">
            <a:extLst>
              <a:ext uri="{FF2B5EF4-FFF2-40B4-BE49-F238E27FC236}">
                <a16:creationId xmlns:a16="http://schemas.microsoft.com/office/drawing/2014/main" id="{E0E1ADA3-256B-436F-BB84-15BF272B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89378" y="246887"/>
            <a:ext cx="5861321" cy="6377939"/>
          </a:xfrm>
          <a:prstGeom prst="rect">
            <a:avLst/>
          </a:prstGeom>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e-IL"/>
          </a:p>
        </p:txBody>
      </p:sp>
      <p:cxnSp>
        <p:nvCxnSpPr>
          <p:cNvPr id="19" name="Straight Connector 18">
            <a:extLst>
              <a:ext uri="{FF2B5EF4-FFF2-40B4-BE49-F238E27FC236}">
                <a16:creationId xmlns:a16="http://schemas.microsoft.com/office/drawing/2014/main" id="{7DDC7D3D-A4F6-4638-B02B-2DBB6C11F5D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36924" y="4220801"/>
            <a:ext cx="4215939"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5C091E65-5627-4CC0-82AA-74A3C89D7C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00" y="246888"/>
            <a:ext cx="11724640" cy="6377939"/>
          </a:xfrm>
          <a:prstGeom prst="rect">
            <a:avLst/>
          </a:pr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e-IL"/>
          </a:p>
        </p:txBody>
      </p:sp>
      <p:sp>
        <p:nvSpPr>
          <p:cNvPr id="2" name="Title 1">
            <a:extLst>
              <a:ext uri="{FF2B5EF4-FFF2-40B4-BE49-F238E27FC236}">
                <a16:creationId xmlns:a16="http://schemas.microsoft.com/office/drawing/2014/main" id="{C36CE52A-95DF-DABD-3893-7DCFA7DE54F1}"/>
              </a:ext>
            </a:extLst>
          </p:cNvPr>
          <p:cNvSpPr>
            <a:spLocks noGrp="1"/>
          </p:cNvSpPr>
          <p:nvPr>
            <p:ph type="title"/>
          </p:nvPr>
        </p:nvSpPr>
        <p:spPr>
          <a:xfrm>
            <a:off x="6736924" y="857675"/>
            <a:ext cx="4566230" cy="3437782"/>
          </a:xfrm>
        </p:spPr>
        <p:txBody>
          <a:bodyPr vert="horz" lIns="91440" tIns="45720" rIns="91440" bIns="45720" rtlCol="0" anchor="b">
            <a:normAutofit/>
          </a:bodyPr>
          <a:lstStyle/>
          <a:p>
            <a:pPr algn="ctr" rtl="0">
              <a:lnSpc>
                <a:spcPct val="85000"/>
              </a:lnSpc>
            </a:pPr>
            <a:r>
              <a:rPr lang="en-US" sz="7200" b="1" cap="all">
                <a:solidFill>
                  <a:srgbClr val="FFFFFF"/>
                </a:solidFill>
              </a:rPr>
              <a:t>Home Screen</a:t>
            </a:r>
          </a:p>
        </p:txBody>
      </p:sp>
      <p:pic>
        <p:nvPicPr>
          <p:cNvPr id="4" name="תמונה 1">
            <a:extLst>
              <a:ext uri="{FF2B5EF4-FFF2-40B4-BE49-F238E27FC236}">
                <a16:creationId xmlns:a16="http://schemas.microsoft.com/office/drawing/2014/main" id="{889B6816-66EF-5893-C8FD-AAF33769758A}"/>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rcRect l="13752" r="19676" b="3"/>
          <a:stretch/>
        </p:blipFill>
        <p:spPr bwMode="auto">
          <a:xfrm>
            <a:off x="872064" y="857675"/>
            <a:ext cx="4593715" cy="5140669"/>
          </a:xfrm>
          <a:prstGeom prst="rect">
            <a:avLst/>
          </a:prstGeom>
          <a:noFill/>
        </p:spPr>
      </p:pic>
    </p:spTree>
    <p:extLst>
      <p:ext uri="{BB962C8B-B14F-4D97-AF65-F5344CB8AC3E}">
        <p14:creationId xmlns:p14="http://schemas.microsoft.com/office/powerpoint/2010/main" val="35213335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79CBD3C9-4E66-426D-948E-7CF4778107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e-IL"/>
          </a:p>
        </p:txBody>
      </p:sp>
      <p:sp>
        <p:nvSpPr>
          <p:cNvPr id="24" name="Rectangle 23">
            <a:extLst>
              <a:ext uri="{FF2B5EF4-FFF2-40B4-BE49-F238E27FC236}">
                <a16:creationId xmlns:a16="http://schemas.microsoft.com/office/drawing/2014/main" id="{DDB95FCF-AD96-482F-9FB8-CD95725E6E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solidFill>
            <a:schemeClr val="accent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e-IL"/>
          </a:p>
        </p:txBody>
      </p:sp>
      <p:cxnSp>
        <p:nvCxnSpPr>
          <p:cNvPr id="25" name="Straight Connector 24">
            <a:extLst>
              <a:ext uri="{FF2B5EF4-FFF2-40B4-BE49-F238E27FC236}">
                <a16:creationId xmlns:a16="http://schemas.microsoft.com/office/drawing/2014/main" id="{64EEEC00-AD80-4734-BEE6-04CBDEC830C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978660" y="3733800"/>
            <a:ext cx="8229601"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2ED84DD6-8A68-4994-8094-8DDBE89BF3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2100" cy="6377939"/>
          </a:xfrm>
          <a:prstGeom prst="rect">
            <a:avLst/>
          </a:prstGeom>
          <a:solidFill>
            <a:schemeClr val="bg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e-IL"/>
          </a:p>
        </p:txBody>
      </p:sp>
      <p:sp>
        <p:nvSpPr>
          <p:cNvPr id="27" name="Rectangle 26">
            <a:extLst>
              <a:ext uri="{FF2B5EF4-FFF2-40B4-BE49-F238E27FC236}">
                <a16:creationId xmlns:a16="http://schemas.microsoft.com/office/drawing/2014/main" id="{176049D7-366E-4AC9-B689-460CC28F8E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52944" y="246887"/>
            <a:ext cx="4397755" cy="6377939"/>
          </a:xfrm>
          <a:prstGeom prst="rect">
            <a:avLst/>
          </a:prstGeom>
          <a:solidFill>
            <a:srgbClr val="A6B727"/>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e-IL"/>
          </a:p>
        </p:txBody>
      </p:sp>
      <p:cxnSp>
        <p:nvCxnSpPr>
          <p:cNvPr id="28" name="Straight Connector 27">
            <a:extLst>
              <a:ext uri="{FF2B5EF4-FFF2-40B4-BE49-F238E27FC236}">
                <a16:creationId xmlns:a16="http://schemas.microsoft.com/office/drawing/2014/main" id="{BC9E91F8-C4AE-4EB0-8B76-FF3F3FC7183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370284" y="4405863"/>
            <a:ext cx="2763075"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
        <p:nvSpPr>
          <p:cNvPr id="29" name="Rectangle 28">
            <a:extLst>
              <a:ext uri="{FF2B5EF4-FFF2-40B4-BE49-F238E27FC236}">
                <a16:creationId xmlns:a16="http://schemas.microsoft.com/office/drawing/2014/main" id="{4AD45A04-4150-4943-BB06-EEEDDD73BF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00" y="246888"/>
            <a:ext cx="11724640" cy="6377939"/>
          </a:xfrm>
          <a:prstGeom prst="rect">
            <a:avLst/>
          </a:pr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C4EE94F2-B320-36B9-ADAB-3E8DB76AD9CD}"/>
              </a:ext>
            </a:extLst>
          </p:cNvPr>
          <p:cNvSpPr>
            <a:spLocks noGrp="1"/>
          </p:cNvSpPr>
          <p:nvPr>
            <p:ph type="title"/>
          </p:nvPr>
        </p:nvSpPr>
        <p:spPr>
          <a:xfrm>
            <a:off x="8195138" y="857675"/>
            <a:ext cx="3113366" cy="3622844"/>
          </a:xfrm>
        </p:spPr>
        <p:txBody>
          <a:bodyPr vert="horz" lIns="91440" tIns="45720" rIns="91440" bIns="45720" rtlCol="0" anchor="b">
            <a:normAutofit/>
          </a:bodyPr>
          <a:lstStyle/>
          <a:p>
            <a:pPr algn="ctr" rtl="0">
              <a:lnSpc>
                <a:spcPct val="85000"/>
              </a:lnSpc>
            </a:pPr>
            <a:r>
              <a:rPr lang="en-US" sz="5400" b="1" cap="all">
                <a:solidFill>
                  <a:srgbClr val="FFFFFF"/>
                </a:solidFill>
              </a:rPr>
              <a:t>Result Screen</a:t>
            </a:r>
          </a:p>
        </p:txBody>
      </p:sp>
      <p:pic>
        <p:nvPicPr>
          <p:cNvPr id="4" name="תמונה 2">
            <a:extLst>
              <a:ext uri="{FF2B5EF4-FFF2-40B4-BE49-F238E27FC236}">
                <a16:creationId xmlns:a16="http://schemas.microsoft.com/office/drawing/2014/main" id="{F7C75F22-68EA-215A-4482-D251B286ECAF}"/>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bwMode="auto">
          <a:xfrm>
            <a:off x="872064" y="994665"/>
            <a:ext cx="6045576" cy="4866689"/>
          </a:xfrm>
          <a:prstGeom prst="rect">
            <a:avLst/>
          </a:prstGeom>
          <a:noFill/>
        </p:spPr>
      </p:pic>
    </p:spTree>
    <p:extLst>
      <p:ext uri="{BB962C8B-B14F-4D97-AF65-F5344CB8AC3E}">
        <p14:creationId xmlns:p14="http://schemas.microsoft.com/office/powerpoint/2010/main" val="16408302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20276-B7F1-A70D-D2D8-143C27CAAE99}"/>
              </a:ext>
            </a:extLst>
          </p:cNvPr>
          <p:cNvSpPr>
            <a:spLocks noGrp="1"/>
          </p:cNvSpPr>
          <p:nvPr>
            <p:ph type="title"/>
          </p:nvPr>
        </p:nvSpPr>
        <p:spPr/>
        <p:txBody>
          <a:bodyPr/>
          <a:lstStyle/>
          <a:p>
            <a:r>
              <a:rPr lang="en-US" dirty="0"/>
              <a:t>Summary</a:t>
            </a:r>
            <a:endParaRPr lang="he-IL" dirty="0"/>
          </a:p>
        </p:txBody>
      </p:sp>
      <p:sp>
        <p:nvSpPr>
          <p:cNvPr id="3" name="Content Placeholder 2">
            <a:extLst>
              <a:ext uri="{FF2B5EF4-FFF2-40B4-BE49-F238E27FC236}">
                <a16:creationId xmlns:a16="http://schemas.microsoft.com/office/drawing/2014/main" id="{C33B6F63-5D7B-EB36-EA6B-8C33AB22FD83}"/>
              </a:ext>
            </a:extLst>
          </p:cNvPr>
          <p:cNvSpPr>
            <a:spLocks noGrp="1"/>
          </p:cNvSpPr>
          <p:nvPr>
            <p:ph idx="1"/>
          </p:nvPr>
        </p:nvSpPr>
        <p:spPr/>
        <p:txBody>
          <a:bodyPr>
            <a:normAutofit fontScale="55000" lnSpcReduction="20000"/>
          </a:bodyPr>
          <a:lstStyle/>
          <a:p>
            <a:r>
              <a:rPr lang="en-US" b="1" dirty="0"/>
              <a:t>Key Achievements &amp; Improvements</a:t>
            </a:r>
          </a:p>
          <a:p>
            <a:r>
              <a:rPr lang="he-IL" dirty="0"/>
              <a:t>✅ </a:t>
            </a:r>
            <a:r>
              <a:rPr lang="en-US" b="1" dirty="0"/>
              <a:t>More accurate word boundary detection</a:t>
            </a:r>
            <a:br>
              <a:rPr lang="en-US" dirty="0"/>
            </a:br>
            <a:r>
              <a:rPr lang="he-IL" dirty="0"/>
              <a:t>✅ </a:t>
            </a:r>
            <a:r>
              <a:rPr lang="en-US" b="1" dirty="0"/>
              <a:t>Improved sentence reconstruction</a:t>
            </a:r>
            <a:br>
              <a:rPr lang="en-US" dirty="0"/>
            </a:br>
            <a:r>
              <a:rPr lang="he-IL" dirty="0"/>
              <a:t>✅ </a:t>
            </a:r>
            <a:r>
              <a:rPr lang="en-US" b="1" dirty="0"/>
              <a:t>Adapts to different speaking speeds</a:t>
            </a:r>
            <a:br>
              <a:rPr lang="en-US" dirty="0"/>
            </a:br>
            <a:r>
              <a:rPr lang="he-IL" dirty="0"/>
              <a:t>✅ </a:t>
            </a:r>
            <a:r>
              <a:rPr lang="en-US" b="1" dirty="0"/>
              <a:t>Enhances real-world performance</a:t>
            </a:r>
            <a:endParaRPr lang="en-US" dirty="0"/>
          </a:p>
          <a:p>
            <a:r>
              <a:rPr lang="en-US" b="1" dirty="0"/>
              <a:t>Time &amp; Space Complexity</a:t>
            </a:r>
          </a:p>
          <a:p>
            <a:r>
              <a:rPr lang="he-IL" dirty="0"/>
              <a:t>🕒 </a:t>
            </a:r>
            <a:r>
              <a:rPr lang="en-US" b="1" dirty="0"/>
              <a:t>Time Complexity:</a:t>
            </a:r>
            <a:endParaRPr lang="en-US" dirty="0"/>
          </a:p>
          <a:p>
            <a:pPr>
              <a:buFont typeface="Arial" panose="020B0604020202020204" pitchFamily="34" charset="0"/>
              <a:buChar char="•"/>
            </a:pPr>
            <a:r>
              <a:rPr lang="en-US" b="1" dirty="0"/>
              <a:t>Face &amp; Lip Detection, Preprocessing, Feature Extraction</a:t>
            </a:r>
            <a:r>
              <a:rPr lang="en-US" dirty="0"/>
              <a:t> → </a:t>
            </a:r>
            <a:r>
              <a:rPr lang="en-US" b="1" dirty="0"/>
              <a:t>O(n*m)</a:t>
            </a:r>
            <a:endParaRPr lang="en-US" dirty="0"/>
          </a:p>
          <a:p>
            <a:pPr>
              <a:buFont typeface="Arial" panose="020B0604020202020204" pitchFamily="34" charset="0"/>
              <a:buChar char="•"/>
            </a:pPr>
            <a:r>
              <a:rPr lang="en-US" b="1" dirty="0"/>
              <a:t>Viseme Classification &amp; Sentence Reconstruction</a:t>
            </a:r>
            <a:r>
              <a:rPr lang="en-US" dirty="0"/>
              <a:t> → </a:t>
            </a:r>
            <a:r>
              <a:rPr lang="en-US" b="1" dirty="0"/>
              <a:t>Optimized for efficiency</a:t>
            </a:r>
            <a:endParaRPr lang="en-US" dirty="0"/>
          </a:p>
          <a:p>
            <a:r>
              <a:rPr lang="he-IL" dirty="0"/>
              <a:t>💾 </a:t>
            </a:r>
            <a:r>
              <a:rPr lang="en-US" b="1" dirty="0"/>
              <a:t>Space Complexity:</a:t>
            </a:r>
            <a:endParaRPr lang="en-US" dirty="0"/>
          </a:p>
          <a:p>
            <a:pPr>
              <a:buFont typeface="Arial" panose="020B0604020202020204" pitchFamily="34" charset="0"/>
              <a:buChar char="•"/>
            </a:pPr>
            <a:r>
              <a:rPr lang="en-US" b="1" dirty="0"/>
              <a:t>Preprocessed Frames &amp; Feature Extraction</a:t>
            </a:r>
            <a:r>
              <a:rPr lang="en-US" dirty="0"/>
              <a:t> → </a:t>
            </a:r>
            <a:r>
              <a:rPr lang="en-US" b="1" dirty="0"/>
              <a:t>O(n*m)</a:t>
            </a:r>
            <a:endParaRPr lang="en-US" dirty="0"/>
          </a:p>
          <a:p>
            <a:pPr>
              <a:buFont typeface="Arial" panose="020B0604020202020204" pitchFamily="34" charset="0"/>
              <a:buChar char="•"/>
            </a:pPr>
            <a:r>
              <a:rPr lang="en-US" b="1" dirty="0"/>
              <a:t>Model Parameters &amp; Output Storage</a:t>
            </a:r>
            <a:r>
              <a:rPr lang="en-US" dirty="0"/>
              <a:t> → </a:t>
            </a:r>
            <a:r>
              <a:rPr lang="en-US" b="1" dirty="0"/>
              <a:t>O(d*T) &amp; O(v)</a:t>
            </a:r>
            <a:endParaRPr lang="en-US" dirty="0"/>
          </a:p>
          <a:p>
            <a:r>
              <a:rPr lang="en-US" dirty="0"/>
              <a:t>⚡ </a:t>
            </a:r>
            <a:r>
              <a:rPr lang="en-US" b="1" dirty="0"/>
              <a:t>Efficiency:</a:t>
            </a:r>
            <a:endParaRPr lang="en-US" dirty="0"/>
          </a:p>
          <a:p>
            <a:pPr>
              <a:buFont typeface="Arial" panose="020B0604020202020204" pitchFamily="34" charset="0"/>
              <a:buChar char="•"/>
            </a:pPr>
            <a:r>
              <a:rPr lang="en-US" b="1" dirty="0"/>
              <a:t>Simple I/O operations prevent extra computational cost</a:t>
            </a:r>
            <a:endParaRPr lang="en-US" dirty="0"/>
          </a:p>
          <a:p>
            <a:pPr>
              <a:buFont typeface="Arial" panose="020B0604020202020204" pitchFamily="34" charset="0"/>
              <a:buChar char="•"/>
            </a:pPr>
            <a:r>
              <a:rPr lang="en-US" b="1" dirty="0"/>
              <a:t>Dynamic timing analysis improves accuracy without slowing performance</a:t>
            </a:r>
            <a:endParaRPr lang="en-US" dirty="0"/>
          </a:p>
          <a:p>
            <a:pPr marL="45720" indent="0" algn="l" rtl="0">
              <a:buNone/>
            </a:pPr>
            <a:endParaRPr lang="en-US" dirty="0"/>
          </a:p>
          <a:p>
            <a:pPr algn="r" rtl="0"/>
            <a:endParaRPr lang="he-IL" dirty="0"/>
          </a:p>
        </p:txBody>
      </p:sp>
    </p:spTree>
    <p:extLst>
      <p:ext uri="{BB962C8B-B14F-4D97-AF65-F5344CB8AC3E}">
        <p14:creationId xmlns:p14="http://schemas.microsoft.com/office/powerpoint/2010/main" val="41462105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09C0BCD-BEE9-423F-A51C-BCCD8E5EAA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e-IL"/>
          </a:p>
        </p:txBody>
      </p:sp>
      <p:sp>
        <p:nvSpPr>
          <p:cNvPr id="10" name="Rectangle 9">
            <a:extLst>
              <a:ext uri="{FF2B5EF4-FFF2-40B4-BE49-F238E27FC236}">
                <a16:creationId xmlns:a16="http://schemas.microsoft.com/office/drawing/2014/main" id="{9998D094-42B2-42BA-AA14-E8FBE073A5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solidFill>
            <a:schemeClr val="accent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e-IL"/>
          </a:p>
        </p:txBody>
      </p:sp>
      <p:cxnSp>
        <p:nvCxnSpPr>
          <p:cNvPr id="12" name="Straight Connector 11">
            <a:extLst>
              <a:ext uri="{FF2B5EF4-FFF2-40B4-BE49-F238E27FC236}">
                <a16:creationId xmlns:a16="http://schemas.microsoft.com/office/drawing/2014/main" id="{8465D64B-59F4-4BDC-B833-A17EF1E0469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978660" y="3733800"/>
            <a:ext cx="8229601"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F7726A94-1EF0-4D91-B7BF-C033E3D6E5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solidFill>
            <a:schemeClr val="accent1">
              <a:lumMod val="75000"/>
            </a:schemeClr>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e-IL"/>
          </a:p>
        </p:txBody>
      </p:sp>
      <p:pic>
        <p:nvPicPr>
          <p:cNvPr id="4" name="Picture 3" descr="Close up image of hands applauding">
            <a:extLst>
              <a:ext uri="{FF2B5EF4-FFF2-40B4-BE49-F238E27FC236}">
                <a16:creationId xmlns:a16="http://schemas.microsoft.com/office/drawing/2014/main" id="{827449E3-EC02-F69F-9B87-C21229262778}"/>
              </a:ext>
            </a:extLst>
          </p:cNvPr>
          <p:cNvPicPr>
            <a:picLocks noChangeAspect="1"/>
          </p:cNvPicPr>
          <p:nvPr/>
        </p:nvPicPr>
        <p:blipFill>
          <a:blip r:embed="rId2">
            <a:duotone>
              <a:schemeClr val="accent1">
                <a:shade val="45000"/>
                <a:satMod val="135000"/>
              </a:schemeClr>
              <a:prstClr val="white"/>
            </a:duotone>
            <a:alphaModFix amt="60000"/>
          </a:blip>
          <a:srcRect t="596" b="15134"/>
          <a:stretch/>
        </p:blipFill>
        <p:spPr>
          <a:xfrm>
            <a:off x="20" y="-1"/>
            <a:ext cx="12191980" cy="6858001"/>
          </a:xfrm>
          <a:prstGeom prst="rect">
            <a:avLst/>
          </a:prstGeom>
        </p:spPr>
      </p:pic>
      <p:cxnSp>
        <p:nvCxnSpPr>
          <p:cNvPr id="16" name="Straight Connector 15">
            <a:extLst>
              <a:ext uri="{FF2B5EF4-FFF2-40B4-BE49-F238E27FC236}">
                <a16:creationId xmlns:a16="http://schemas.microsoft.com/office/drawing/2014/main" id="{98F0650C-11DF-45E6-8EC2-E3B298F0D80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978660" y="3733800"/>
            <a:ext cx="8229601"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24FB4153-1E3E-4AE9-8306-E8C292894B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00" y="246888"/>
            <a:ext cx="11724640" cy="6377939"/>
          </a:xfrm>
          <a:prstGeom prst="rect">
            <a:avLst/>
          </a:pr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e-IL"/>
          </a:p>
        </p:txBody>
      </p:sp>
      <p:sp>
        <p:nvSpPr>
          <p:cNvPr id="2" name="Title 1">
            <a:extLst>
              <a:ext uri="{FF2B5EF4-FFF2-40B4-BE49-F238E27FC236}">
                <a16:creationId xmlns:a16="http://schemas.microsoft.com/office/drawing/2014/main" id="{D2E08AEC-BDB4-0871-D8DA-A6B185B98744}"/>
              </a:ext>
            </a:extLst>
          </p:cNvPr>
          <p:cNvSpPr>
            <a:spLocks noGrp="1"/>
          </p:cNvSpPr>
          <p:nvPr>
            <p:ph type="title"/>
          </p:nvPr>
        </p:nvSpPr>
        <p:spPr>
          <a:xfrm>
            <a:off x="1109980" y="882376"/>
            <a:ext cx="9966960" cy="2926080"/>
          </a:xfrm>
        </p:spPr>
        <p:txBody>
          <a:bodyPr vert="horz" lIns="91440" tIns="45720" rIns="91440" bIns="45720" rtlCol="0" anchor="b">
            <a:normAutofit/>
          </a:bodyPr>
          <a:lstStyle/>
          <a:p>
            <a:pPr algn="ctr" rtl="0">
              <a:lnSpc>
                <a:spcPct val="85000"/>
              </a:lnSpc>
            </a:pPr>
            <a:r>
              <a:rPr lang="en-US" sz="7200" b="1" cap="all" dirty="0">
                <a:solidFill>
                  <a:srgbClr val="FFFFFF"/>
                </a:solidFill>
              </a:rPr>
              <a:t>Thank you for listening</a:t>
            </a:r>
          </a:p>
        </p:txBody>
      </p:sp>
    </p:spTree>
    <p:extLst>
      <p:ext uri="{BB962C8B-B14F-4D97-AF65-F5344CB8AC3E}">
        <p14:creationId xmlns:p14="http://schemas.microsoft.com/office/powerpoint/2010/main" val="1105690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B54C89A-2D0B-4062-BF97-CA51B69D7B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9079"/>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8" name="Rectangle 7">
            <a:extLst>
              <a:ext uri="{FF2B5EF4-FFF2-40B4-BE49-F238E27FC236}">
                <a16:creationId xmlns:a16="http://schemas.microsoft.com/office/drawing/2014/main" id="{4091C99A-98BE-457D-87BD-7B9B6EDDC1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34761"/>
            <a:ext cx="11724640" cy="6377939"/>
          </a:xfrm>
          <a:prstGeom prst="rect">
            <a:avLst/>
          </a:prstGeom>
          <a:ln w="12700">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e-IL"/>
          </a:p>
        </p:txBody>
      </p:sp>
      <p:sp>
        <p:nvSpPr>
          <p:cNvPr id="9" name="Rectangle 8">
            <a:extLst>
              <a:ext uri="{FF2B5EF4-FFF2-40B4-BE49-F238E27FC236}">
                <a16:creationId xmlns:a16="http://schemas.microsoft.com/office/drawing/2014/main" id="{960A769C-8991-4FDE-89A0-A218E5BF67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69642" y="0"/>
            <a:ext cx="462235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2CEC5D8-3B45-F3A3-9083-46C9C8B1E0A3}"/>
              </a:ext>
            </a:extLst>
          </p:cNvPr>
          <p:cNvSpPr>
            <a:spLocks noGrp="1"/>
          </p:cNvSpPr>
          <p:nvPr>
            <p:ph type="title"/>
          </p:nvPr>
        </p:nvSpPr>
        <p:spPr>
          <a:xfrm>
            <a:off x="7989455" y="609599"/>
            <a:ext cx="3574471" cy="5403273"/>
          </a:xfrm>
        </p:spPr>
        <p:txBody>
          <a:bodyPr>
            <a:normAutofit/>
          </a:bodyPr>
          <a:lstStyle/>
          <a:p>
            <a:r>
              <a:rPr lang="en-US" sz="6000">
                <a:solidFill>
                  <a:srgbClr val="FFFFFF"/>
                </a:solidFill>
              </a:rPr>
              <a:t>Refrences</a:t>
            </a:r>
            <a:endParaRPr lang="he-IL" sz="6000">
              <a:solidFill>
                <a:srgbClr val="FFFFFF"/>
              </a:solidFill>
            </a:endParaRPr>
          </a:p>
        </p:txBody>
      </p:sp>
      <p:sp>
        <p:nvSpPr>
          <p:cNvPr id="11" name="Rectangle 10">
            <a:extLst>
              <a:ext uri="{FF2B5EF4-FFF2-40B4-BE49-F238E27FC236}">
                <a16:creationId xmlns:a16="http://schemas.microsoft.com/office/drawing/2014/main" id="{855CA58E-F8D8-4DF3-B813-C2585E0AB0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e-IL"/>
          </a:p>
        </p:txBody>
      </p:sp>
      <p:sp>
        <p:nvSpPr>
          <p:cNvPr id="5" name="Rectangle 1">
            <a:extLst>
              <a:ext uri="{FF2B5EF4-FFF2-40B4-BE49-F238E27FC236}">
                <a16:creationId xmlns:a16="http://schemas.microsoft.com/office/drawing/2014/main" id="{9B4F6AF0-849E-3969-1B0B-72E776D4F263}"/>
              </a:ext>
            </a:extLst>
          </p:cNvPr>
          <p:cNvSpPr>
            <a:spLocks noChangeArrowheads="1"/>
          </p:cNvSpPr>
          <p:nvPr/>
        </p:nvSpPr>
        <p:spPr bwMode="auto">
          <a:xfrm>
            <a:off x="-4733623" y="-128953"/>
            <a:ext cx="177579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he-IL"/>
          </a:p>
        </p:txBody>
      </p:sp>
      <p:graphicFrame>
        <p:nvGraphicFramePr>
          <p:cNvPr id="4" name="Content Placeholder 3">
            <a:extLst>
              <a:ext uri="{FF2B5EF4-FFF2-40B4-BE49-F238E27FC236}">
                <a16:creationId xmlns:a16="http://schemas.microsoft.com/office/drawing/2014/main" id="{FB952B2C-2F2C-D7BD-089F-6DCBACD0E8B6}"/>
              </a:ext>
            </a:extLst>
          </p:cNvPr>
          <p:cNvGraphicFramePr>
            <a:graphicFrameLocks noGrp="1"/>
          </p:cNvGraphicFramePr>
          <p:nvPr>
            <p:ph idx="1"/>
            <p:extLst>
              <p:ext uri="{D42A27DB-BD31-4B8C-83A1-F6EECF244321}">
                <p14:modId xmlns:p14="http://schemas.microsoft.com/office/powerpoint/2010/main" val="3573788584"/>
              </p:ext>
            </p:extLst>
          </p:nvPr>
        </p:nvGraphicFramePr>
        <p:xfrm>
          <a:off x="862013" y="942721"/>
          <a:ext cx="6054726" cy="5009072"/>
        </p:xfrm>
        <a:graphic>
          <a:graphicData uri="http://schemas.openxmlformats.org/drawingml/2006/table">
            <a:tbl>
              <a:tblPr firstRow="1" firstCol="1" bandRow="1">
                <a:tableStyleId>{5C22544A-7EE6-4342-B048-85BDC9FD1C3A}</a:tableStyleId>
              </a:tblPr>
              <a:tblGrid>
                <a:gridCol w="361840">
                  <a:extLst>
                    <a:ext uri="{9D8B030D-6E8A-4147-A177-3AD203B41FA5}">
                      <a16:colId xmlns:a16="http://schemas.microsoft.com/office/drawing/2014/main" val="778564025"/>
                    </a:ext>
                  </a:extLst>
                </a:gridCol>
                <a:gridCol w="5692886">
                  <a:extLst>
                    <a:ext uri="{9D8B030D-6E8A-4147-A177-3AD203B41FA5}">
                      <a16:colId xmlns:a16="http://schemas.microsoft.com/office/drawing/2014/main" val="2582943216"/>
                    </a:ext>
                  </a:extLst>
                </a:gridCol>
              </a:tblGrid>
              <a:tr h="806752">
                <a:tc>
                  <a:txBody>
                    <a:bodyPr/>
                    <a:lstStyle/>
                    <a:p>
                      <a:pPr marL="0" marR="0" algn="l" rtl="0">
                        <a:lnSpc>
                          <a:spcPct val="150000"/>
                        </a:lnSpc>
                        <a:spcAft>
                          <a:spcPts val="600"/>
                        </a:spcAft>
                      </a:pPr>
                      <a:r>
                        <a:rPr lang="en-US" sz="1000">
                          <a:effectLst/>
                        </a:rPr>
                        <a:t>[1] </a:t>
                      </a:r>
                      <a:endParaRPr lang="en-US" sz="1000">
                        <a:effectLst/>
                        <a:latin typeface="Calibri" panose="020F0502020204030204" pitchFamily="34" charset="0"/>
                        <a:ea typeface="Times New Roman" panose="02020603050405020304" pitchFamily="18" charset="0"/>
                        <a:cs typeface="Arial" panose="020B0604020202020204" pitchFamily="34" charset="0"/>
                      </a:endParaRPr>
                    </a:p>
                  </a:txBody>
                  <a:tcPr marL="5124" marR="5124" marT="5124" marB="5124"/>
                </a:tc>
                <a:tc>
                  <a:txBody>
                    <a:bodyPr/>
                    <a:lstStyle/>
                    <a:p>
                      <a:pPr marL="0" marR="0" algn="l" rtl="0">
                        <a:lnSpc>
                          <a:spcPct val="150000"/>
                        </a:lnSpc>
                        <a:spcAft>
                          <a:spcPts val="600"/>
                        </a:spcAft>
                      </a:pPr>
                      <a:r>
                        <a:rPr lang="en-US" sz="1000">
                          <a:effectLst/>
                        </a:rPr>
                        <a:t>A. S. O. V. A. Z. Joon Son Chung, "Lip Reading Sentences in the Wild," in IEEE Conference on Computer Vision and Pattern Recognition, 2017.</a:t>
                      </a:r>
                    </a:p>
                    <a:p>
                      <a:pPr marL="0" marR="0" algn="l" rtl="0">
                        <a:lnSpc>
                          <a:spcPct val="150000"/>
                        </a:lnSpc>
                        <a:spcAft>
                          <a:spcPts val="600"/>
                        </a:spcAft>
                      </a:pPr>
                      <a:r>
                        <a:rPr lang="en-US" sz="1000">
                          <a:effectLst/>
                        </a:rPr>
                        <a:t> </a:t>
                      </a:r>
                      <a:endParaRPr lang="en-US" sz="1000">
                        <a:effectLst/>
                        <a:latin typeface="Calibri" panose="020F0502020204030204" pitchFamily="34" charset="0"/>
                        <a:ea typeface="Times New Roman" panose="02020603050405020304" pitchFamily="18" charset="0"/>
                        <a:cs typeface="Arial" panose="020B0604020202020204" pitchFamily="34" charset="0"/>
                      </a:endParaRPr>
                    </a:p>
                  </a:txBody>
                  <a:tcPr marL="5124" marR="5124" marT="5124" marB="5124"/>
                </a:tc>
                <a:extLst>
                  <a:ext uri="{0D108BD9-81ED-4DB2-BD59-A6C34878D82A}">
                    <a16:rowId xmlns:a16="http://schemas.microsoft.com/office/drawing/2014/main" val="145599918"/>
                  </a:ext>
                </a:extLst>
              </a:tr>
              <a:tr h="493065">
                <a:tc>
                  <a:txBody>
                    <a:bodyPr/>
                    <a:lstStyle/>
                    <a:p>
                      <a:pPr marL="0" marR="0" algn="l" rtl="0">
                        <a:lnSpc>
                          <a:spcPct val="150000"/>
                        </a:lnSpc>
                        <a:spcAft>
                          <a:spcPts val="600"/>
                        </a:spcAft>
                      </a:pPr>
                      <a:r>
                        <a:rPr lang="en-US" sz="1000">
                          <a:effectLst/>
                        </a:rPr>
                        <a:t>[2] </a:t>
                      </a:r>
                      <a:endParaRPr lang="en-US" sz="1000">
                        <a:effectLst/>
                        <a:latin typeface="Calibri" panose="020F0502020204030204" pitchFamily="34" charset="0"/>
                        <a:ea typeface="Times New Roman" panose="02020603050405020304" pitchFamily="18" charset="0"/>
                        <a:cs typeface="Arial" panose="020B0604020202020204" pitchFamily="34" charset="0"/>
                      </a:endParaRPr>
                    </a:p>
                  </a:txBody>
                  <a:tcPr marL="5124" marR="5124" marT="5124" marB="5124"/>
                </a:tc>
                <a:tc>
                  <a:txBody>
                    <a:bodyPr/>
                    <a:lstStyle/>
                    <a:p>
                      <a:pPr marL="0" marR="0" algn="l" rtl="0">
                        <a:lnSpc>
                          <a:spcPct val="150000"/>
                        </a:lnSpc>
                        <a:spcAft>
                          <a:spcPts val="600"/>
                        </a:spcAft>
                      </a:pPr>
                      <a:r>
                        <a:rPr lang="en-US" sz="1000">
                          <a:effectLst/>
                        </a:rPr>
                        <a:t>D. C. K. G. P. X. Souheil Fenghour, "Lip Reading Sentences Using Deep Learning With Only Visual Cues," 2020.</a:t>
                      </a:r>
                      <a:endParaRPr lang="en-US" sz="1000">
                        <a:effectLst/>
                        <a:latin typeface="Calibri" panose="020F0502020204030204" pitchFamily="34" charset="0"/>
                        <a:ea typeface="Times New Roman" panose="02020603050405020304" pitchFamily="18" charset="0"/>
                        <a:cs typeface="Arial" panose="020B0604020202020204" pitchFamily="34" charset="0"/>
                      </a:endParaRPr>
                    </a:p>
                  </a:txBody>
                  <a:tcPr marL="5124" marR="5124" marT="5124" marB="5124"/>
                </a:tc>
                <a:extLst>
                  <a:ext uri="{0D108BD9-81ED-4DB2-BD59-A6C34878D82A}">
                    <a16:rowId xmlns:a16="http://schemas.microsoft.com/office/drawing/2014/main" val="2031567394"/>
                  </a:ext>
                </a:extLst>
              </a:tr>
              <a:tr h="257800">
                <a:tc>
                  <a:txBody>
                    <a:bodyPr/>
                    <a:lstStyle/>
                    <a:p>
                      <a:pPr marL="0" marR="0" algn="l" rtl="0">
                        <a:lnSpc>
                          <a:spcPct val="150000"/>
                        </a:lnSpc>
                        <a:spcAft>
                          <a:spcPts val="600"/>
                        </a:spcAft>
                      </a:pPr>
                      <a:r>
                        <a:rPr lang="en-US" sz="1000">
                          <a:effectLst/>
                        </a:rPr>
                        <a:t>[3] </a:t>
                      </a:r>
                      <a:endParaRPr lang="en-US" sz="1000">
                        <a:effectLst/>
                        <a:latin typeface="Calibri" panose="020F0502020204030204" pitchFamily="34" charset="0"/>
                        <a:ea typeface="Times New Roman" panose="02020603050405020304" pitchFamily="18" charset="0"/>
                        <a:cs typeface="Arial" panose="020B0604020202020204" pitchFamily="34" charset="0"/>
                      </a:endParaRPr>
                    </a:p>
                  </a:txBody>
                  <a:tcPr marL="5124" marR="5124" marT="5124" marB="5124"/>
                </a:tc>
                <a:tc>
                  <a:txBody>
                    <a:bodyPr/>
                    <a:lstStyle/>
                    <a:p>
                      <a:pPr marL="0" marR="0" algn="l" rtl="0">
                        <a:lnSpc>
                          <a:spcPct val="150000"/>
                        </a:lnSpc>
                        <a:spcAft>
                          <a:spcPts val="600"/>
                        </a:spcAft>
                      </a:pPr>
                      <a:r>
                        <a:rPr lang="en-US" sz="1000">
                          <a:effectLst/>
                        </a:rPr>
                        <a:t>B. S. S. W. N. d. F. Yannis Assael, "LipNet: Sentence-Level Lipreading," 2016. </a:t>
                      </a:r>
                      <a:endParaRPr lang="en-US" sz="1000">
                        <a:effectLst/>
                        <a:latin typeface="Calibri" panose="020F0502020204030204" pitchFamily="34" charset="0"/>
                        <a:ea typeface="Times New Roman" panose="02020603050405020304" pitchFamily="18" charset="0"/>
                        <a:cs typeface="Arial" panose="020B0604020202020204" pitchFamily="34" charset="0"/>
                      </a:endParaRPr>
                    </a:p>
                  </a:txBody>
                  <a:tcPr marL="5124" marR="5124" marT="5124" marB="5124"/>
                </a:tc>
                <a:extLst>
                  <a:ext uri="{0D108BD9-81ED-4DB2-BD59-A6C34878D82A}">
                    <a16:rowId xmlns:a16="http://schemas.microsoft.com/office/drawing/2014/main" val="2721747919"/>
                  </a:ext>
                </a:extLst>
              </a:tr>
              <a:tr h="493065">
                <a:tc>
                  <a:txBody>
                    <a:bodyPr/>
                    <a:lstStyle/>
                    <a:p>
                      <a:pPr marL="0" marR="0" algn="l" rtl="0">
                        <a:lnSpc>
                          <a:spcPct val="150000"/>
                        </a:lnSpc>
                        <a:spcAft>
                          <a:spcPts val="600"/>
                        </a:spcAft>
                      </a:pPr>
                      <a:r>
                        <a:rPr lang="en-US" sz="1000">
                          <a:effectLst/>
                        </a:rPr>
                        <a:t>[4] </a:t>
                      </a:r>
                      <a:endParaRPr lang="en-US" sz="1000">
                        <a:effectLst/>
                        <a:latin typeface="Calibri" panose="020F0502020204030204" pitchFamily="34" charset="0"/>
                        <a:ea typeface="Times New Roman" panose="02020603050405020304" pitchFamily="18" charset="0"/>
                        <a:cs typeface="Arial" panose="020B0604020202020204" pitchFamily="34" charset="0"/>
                      </a:endParaRPr>
                    </a:p>
                  </a:txBody>
                  <a:tcPr marL="5124" marR="5124" marT="5124" marB="5124"/>
                </a:tc>
                <a:tc>
                  <a:txBody>
                    <a:bodyPr/>
                    <a:lstStyle/>
                    <a:p>
                      <a:pPr marL="0" marR="0" algn="l" rtl="0">
                        <a:lnSpc>
                          <a:spcPct val="150000"/>
                        </a:lnSpc>
                        <a:spcAft>
                          <a:spcPts val="600"/>
                        </a:spcAft>
                      </a:pPr>
                      <a:r>
                        <a:rPr lang="en-US" sz="1000">
                          <a:effectLst/>
                        </a:rPr>
                        <a:t>X. Z. S. R. J. S. Kaiming He, "Deep Residual Learning for Image Recognition," in IEEE Conference on Computer Vision and Pattern Recognition (CVPR), 2015. </a:t>
                      </a:r>
                      <a:endParaRPr lang="en-US" sz="1000">
                        <a:effectLst/>
                        <a:latin typeface="Calibri" panose="020F0502020204030204" pitchFamily="34" charset="0"/>
                        <a:ea typeface="Times New Roman" panose="02020603050405020304" pitchFamily="18" charset="0"/>
                        <a:cs typeface="Arial" panose="020B0604020202020204" pitchFamily="34" charset="0"/>
                      </a:endParaRPr>
                    </a:p>
                  </a:txBody>
                  <a:tcPr marL="5124" marR="5124" marT="5124" marB="5124"/>
                </a:tc>
                <a:extLst>
                  <a:ext uri="{0D108BD9-81ED-4DB2-BD59-A6C34878D82A}">
                    <a16:rowId xmlns:a16="http://schemas.microsoft.com/office/drawing/2014/main" val="827850664"/>
                  </a:ext>
                </a:extLst>
              </a:tr>
              <a:tr h="493065">
                <a:tc>
                  <a:txBody>
                    <a:bodyPr/>
                    <a:lstStyle/>
                    <a:p>
                      <a:pPr marL="0" marR="0" algn="l" rtl="0">
                        <a:lnSpc>
                          <a:spcPct val="150000"/>
                        </a:lnSpc>
                        <a:spcAft>
                          <a:spcPts val="600"/>
                        </a:spcAft>
                      </a:pPr>
                      <a:r>
                        <a:rPr lang="en-US" sz="1000">
                          <a:effectLst/>
                        </a:rPr>
                        <a:t>[5] </a:t>
                      </a:r>
                      <a:endParaRPr lang="en-US" sz="1000">
                        <a:effectLst/>
                        <a:latin typeface="Calibri" panose="020F0502020204030204" pitchFamily="34" charset="0"/>
                        <a:ea typeface="Times New Roman" panose="02020603050405020304" pitchFamily="18" charset="0"/>
                        <a:cs typeface="Arial" panose="020B0604020202020204" pitchFamily="34" charset="0"/>
                      </a:endParaRPr>
                    </a:p>
                  </a:txBody>
                  <a:tcPr marL="5124" marR="5124" marT="5124" marB="5124"/>
                </a:tc>
                <a:tc>
                  <a:txBody>
                    <a:bodyPr/>
                    <a:lstStyle/>
                    <a:p>
                      <a:pPr marL="0" marR="0" algn="l" rtl="0">
                        <a:lnSpc>
                          <a:spcPct val="150000"/>
                        </a:lnSpc>
                        <a:spcAft>
                          <a:spcPts val="600"/>
                        </a:spcAft>
                      </a:pPr>
                      <a:r>
                        <a:rPr lang="en-US" sz="1000">
                          <a:effectLst/>
                        </a:rPr>
                        <a:t>W. X. M. Y. K. Y. Shuiwang Ji, "3D Convolutional Neural Networks for Human Action Recognition," in 27th International Conference on Machine Learning, 2010. </a:t>
                      </a:r>
                      <a:endParaRPr lang="en-US" sz="1000">
                        <a:effectLst/>
                        <a:latin typeface="Calibri" panose="020F0502020204030204" pitchFamily="34" charset="0"/>
                        <a:ea typeface="Times New Roman" panose="02020603050405020304" pitchFamily="18" charset="0"/>
                        <a:cs typeface="Arial" panose="020B0604020202020204" pitchFamily="34" charset="0"/>
                      </a:endParaRPr>
                    </a:p>
                  </a:txBody>
                  <a:tcPr marL="5124" marR="5124" marT="5124" marB="5124"/>
                </a:tc>
                <a:extLst>
                  <a:ext uri="{0D108BD9-81ED-4DB2-BD59-A6C34878D82A}">
                    <a16:rowId xmlns:a16="http://schemas.microsoft.com/office/drawing/2014/main" val="1940412369"/>
                  </a:ext>
                </a:extLst>
              </a:tr>
              <a:tr h="493065">
                <a:tc>
                  <a:txBody>
                    <a:bodyPr/>
                    <a:lstStyle/>
                    <a:p>
                      <a:pPr marL="0" marR="0" algn="l" rtl="0">
                        <a:lnSpc>
                          <a:spcPct val="150000"/>
                        </a:lnSpc>
                        <a:spcAft>
                          <a:spcPts val="600"/>
                        </a:spcAft>
                      </a:pPr>
                      <a:r>
                        <a:rPr lang="en-US" sz="1000">
                          <a:effectLst/>
                        </a:rPr>
                        <a:t>[6] </a:t>
                      </a:r>
                      <a:endParaRPr lang="en-US" sz="1000">
                        <a:effectLst/>
                        <a:latin typeface="Calibri" panose="020F0502020204030204" pitchFamily="34" charset="0"/>
                        <a:ea typeface="Times New Roman" panose="02020603050405020304" pitchFamily="18" charset="0"/>
                        <a:cs typeface="Arial" panose="020B0604020202020204" pitchFamily="34" charset="0"/>
                      </a:endParaRPr>
                    </a:p>
                  </a:txBody>
                  <a:tcPr marL="5124" marR="5124" marT="5124" marB="5124"/>
                </a:tc>
                <a:tc>
                  <a:txBody>
                    <a:bodyPr/>
                    <a:lstStyle/>
                    <a:p>
                      <a:pPr marL="0" marR="0" algn="l" rtl="0">
                        <a:lnSpc>
                          <a:spcPct val="150000"/>
                        </a:lnSpc>
                        <a:spcAft>
                          <a:spcPts val="600"/>
                        </a:spcAft>
                      </a:pPr>
                      <a:r>
                        <a:rPr lang="en-US" sz="1000">
                          <a:effectLst/>
                        </a:rPr>
                        <a:t>D. Y. Soonkyu Lee, "Audio-to-Visual Conversion Using Hidden Markov Models," in PRICAI 2002, LNAI 2417, 2002. </a:t>
                      </a:r>
                      <a:endParaRPr lang="en-US" sz="1000">
                        <a:effectLst/>
                        <a:latin typeface="Calibri" panose="020F0502020204030204" pitchFamily="34" charset="0"/>
                        <a:ea typeface="Times New Roman" panose="02020603050405020304" pitchFamily="18" charset="0"/>
                        <a:cs typeface="Arial" panose="020B0604020202020204" pitchFamily="34" charset="0"/>
                      </a:endParaRPr>
                    </a:p>
                  </a:txBody>
                  <a:tcPr marL="5124" marR="5124" marT="5124" marB="5124"/>
                </a:tc>
                <a:extLst>
                  <a:ext uri="{0D108BD9-81ED-4DB2-BD59-A6C34878D82A}">
                    <a16:rowId xmlns:a16="http://schemas.microsoft.com/office/drawing/2014/main" val="1374323948"/>
                  </a:ext>
                </a:extLst>
              </a:tr>
              <a:tr h="493065">
                <a:tc>
                  <a:txBody>
                    <a:bodyPr/>
                    <a:lstStyle/>
                    <a:p>
                      <a:pPr marL="0" marR="0" algn="l" rtl="0">
                        <a:lnSpc>
                          <a:spcPct val="150000"/>
                        </a:lnSpc>
                        <a:spcAft>
                          <a:spcPts val="600"/>
                        </a:spcAft>
                      </a:pPr>
                      <a:r>
                        <a:rPr lang="en-US" sz="1000">
                          <a:effectLst/>
                        </a:rPr>
                        <a:t>[7] </a:t>
                      </a:r>
                      <a:endParaRPr lang="en-US" sz="1000">
                        <a:effectLst/>
                        <a:latin typeface="Calibri" panose="020F0502020204030204" pitchFamily="34" charset="0"/>
                        <a:ea typeface="Times New Roman" panose="02020603050405020304" pitchFamily="18" charset="0"/>
                        <a:cs typeface="Arial" panose="020B0604020202020204" pitchFamily="34" charset="0"/>
                      </a:endParaRPr>
                    </a:p>
                  </a:txBody>
                  <a:tcPr marL="5124" marR="5124" marT="5124" marB="5124"/>
                </a:tc>
                <a:tc>
                  <a:txBody>
                    <a:bodyPr/>
                    <a:lstStyle/>
                    <a:p>
                      <a:pPr marL="0" marR="0" algn="l" rtl="0">
                        <a:lnSpc>
                          <a:spcPct val="150000"/>
                        </a:lnSpc>
                        <a:spcAft>
                          <a:spcPts val="600"/>
                        </a:spcAft>
                      </a:pPr>
                      <a:r>
                        <a:rPr lang="en-US" sz="1000">
                          <a:effectLst/>
                        </a:rPr>
                        <a:t>C. L. L. R. C. H. W. R. Sofia Lemons, " Beam Search: Faster and Monotonic," in 32nd International Conference on Automated Planning and Scheduling (ICAPS), 2022. </a:t>
                      </a:r>
                      <a:endParaRPr lang="en-US" sz="1000">
                        <a:effectLst/>
                        <a:latin typeface="Calibri" panose="020F0502020204030204" pitchFamily="34" charset="0"/>
                        <a:ea typeface="Times New Roman" panose="02020603050405020304" pitchFamily="18" charset="0"/>
                        <a:cs typeface="Arial" panose="020B0604020202020204" pitchFamily="34" charset="0"/>
                      </a:endParaRPr>
                    </a:p>
                  </a:txBody>
                  <a:tcPr marL="5124" marR="5124" marT="5124" marB="5124"/>
                </a:tc>
                <a:extLst>
                  <a:ext uri="{0D108BD9-81ED-4DB2-BD59-A6C34878D82A}">
                    <a16:rowId xmlns:a16="http://schemas.microsoft.com/office/drawing/2014/main" val="857029019"/>
                  </a:ext>
                </a:extLst>
              </a:tr>
              <a:tr h="493065">
                <a:tc>
                  <a:txBody>
                    <a:bodyPr/>
                    <a:lstStyle/>
                    <a:p>
                      <a:pPr marL="0" marR="0" algn="l" rtl="0">
                        <a:lnSpc>
                          <a:spcPct val="150000"/>
                        </a:lnSpc>
                        <a:spcAft>
                          <a:spcPts val="600"/>
                        </a:spcAft>
                      </a:pPr>
                      <a:r>
                        <a:rPr lang="en-US" sz="1000">
                          <a:effectLst/>
                        </a:rPr>
                        <a:t>[8] </a:t>
                      </a:r>
                      <a:endParaRPr lang="en-US" sz="1000">
                        <a:effectLst/>
                        <a:latin typeface="Calibri" panose="020F0502020204030204" pitchFamily="34" charset="0"/>
                        <a:ea typeface="Times New Roman" panose="02020603050405020304" pitchFamily="18" charset="0"/>
                        <a:cs typeface="Arial" panose="020B0604020202020204" pitchFamily="34" charset="0"/>
                      </a:endParaRPr>
                    </a:p>
                  </a:txBody>
                  <a:tcPr marL="5124" marR="5124" marT="5124" marB="5124"/>
                </a:tc>
                <a:tc>
                  <a:txBody>
                    <a:bodyPr/>
                    <a:lstStyle/>
                    <a:p>
                      <a:pPr marL="0" marR="0" algn="l" rtl="0">
                        <a:lnSpc>
                          <a:spcPct val="150000"/>
                        </a:lnSpc>
                        <a:spcAft>
                          <a:spcPts val="600"/>
                        </a:spcAft>
                      </a:pPr>
                      <a:r>
                        <a:rPr lang="en-US" sz="1000">
                          <a:effectLst/>
                        </a:rPr>
                        <a:t>T. V. R. C. Clara Meister, "Best-First Beam Search," in Transactions of the Association for Computational Linguistics, 2020. </a:t>
                      </a:r>
                      <a:endParaRPr lang="en-US" sz="1000">
                        <a:effectLst/>
                        <a:latin typeface="Calibri" panose="020F0502020204030204" pitchFamily="34" charset="0"/>
                        <a:ea typeface="Times New Roman" panose="02020603050405020304" pitchFamily="18" charset="0"/>
                        <a:cs typeface="Arial" panose="020B0604020202020204" pitchFamily="34" charset="0"/>
                      </a:endParaRPr>
                    </a:p>
                  </a:txBody>
                  <a:tcPr marL="5124" marR="5124" marT="5124" marB="5124"/>
                </a:tc>
                <a:extLst>
                  <a:ext uri="{0D108BD9-81ED-4DB2-BD59-A6C34878D82A}">
                    <a16:rowId xmlns:a16="http://schemas.microsoft.com/office/drawing/2014/main" val="4120538925"/>
                  </a:ext>
                </a:extLst>
              </a:tr>
              <a:tr h="493065">
                <a:tc>
                  <a:txBody>
                    <a:bodyPr/>
                    <a:lstStyle/>
                    <a:p>
                      <a:pPr marL="0" marR="0" algn="l" rtl="0">
                        <a:lnSpc>
                          <a:spcPct val="150000"/>
                        </a:lnSpc>
                        <a:spcAft>
                          <a:spcPts val="600"/>
                        </a:spcAft>
                      </a:pPr>
                      <a:r>
                        <a:rPr lang="en-US" sz="1000">
                          <a:effectLst/>
                        </a:rPr>
                        <a:t>[9] </a:t>
                      </a:r>
                      <a:endParaRPr lang="en-US" sz="1000">
                        <a:effectLst/>
                        <a:latin typeface="Calibri" panose="020F0502020204030204" pitchFamily="34" charset="0"/>
                        <a:ea typeface="Times New Roman" panose="02020603050405020304" pitchFamily="18" charset="0"/>
                        <a:cs typeface="Arial" panose="020B0604020202020204" pitchFamily="34" charset="0"/>
                      </a:endParaRPr>
                    </a:p>
                  </a:txBody>
                  <a:tcPr marL="5124" marR="5124" marT="5124" marB="5124"/>
                </a:tc>
                <a:tc>
                  <a:txBody>
                    <a:bodyPr/>
                    <a:lstStyle/>
                    <a:p>
                      <a:pPr marL="0" marR="0" algn="l" rtl="0">
                        <a:lnSpc>
                          <a:spcPct val="150000"/>
                        </a:lnSpc>
                        <a:spcAft>
                          <a:spcPts val="600"/>
                        </a:spcAft>
                      </a:pPr>
                      <a:r>
                        <a:rPr lang="en-US" sz="1000">
                          <a:effectLst/>
                        </a:rPr>
                        <a:t>K. N. T. S. I. S. Alec Radford, " Improving Language Understanding by Generative Pre-Training," in OpenAI. </a:t>
                      </a:r>
                      <a:endParaRPr lang="en-US" sz="1000">
                        <a:effectLst/>
                        <a:latin typeface="Calibri" panose="020F0502020204030204" pitchFamily="34" charset="0"/>
                        <a:ea typeface="Times New Roman" panose="02020603050405020304" pitchFamily="18" charset="0"/>
                        <a:cs typeface="Arial" panose="020B0604020202020204" pitchFamily="34" charset="0"/>
                      </a:endParaRPr>
                    </a:p>
                  </a:txBody>
                  <a:tcPr marL="5124" marR="5124" marT="5124" marB="5124"/>
                </a:tc>
                <a:extLst>
                  <a:ext uri="{0D108BD9-81ED-4DB2-BD59-A6C34878D82A}">
                    <a16:rowId xmlns:a16="http://schemas.microsoft.com/office/drawing/2014/main" val="962137587"/>
                  </a:ext>
                </a:extLst>
              </a:tr>
              <a:tr h="493065">
                <a:tc>
                  <a:txBody>
                    <a:bodyPr/>
                    <a:lstStyle/>
                    <a:p>
                      <a:pPr marL="0" marR="0" algn="l" rtl="0">
                        <a:lnSpc>
                          <a:spcPct val="150000"/>
                        </a:lnSpc>
                        <a:spcAft>
                          <a:spcPts val="600"/>
                        </a:spcAft>
                      </a:pPr>
                      <a:r>
                        <a:rPr lang="en-US" sz="1000">
                          <a:effectLst/>
                        </a:rPr>
                        <a:t>[10] </a:t>
                      </a:r>
                      <a:endParaRPr lang="en-US" sz="1000">
                        <a:effectLst/>
                        <a:latin typeface="Calibri" panose="020F0502020204030204" pitchFamily="34" charset="0"/>
                        <a:ea typeface="Times New Roman" panose="02020603050405020304" pitchFamily="18" charset="0"/>
                        <a:cs typeface="Arial" panose="020B0604020202020204" pitchFamily="34" charset="0"/>
                      </a:endParaRPr>
                    </a:p>
                  </a:txBody>
                  <a:tcPr marL="5124" marR="5124" marT="5124" marB="5124"/>
                </a:tc>
                <a:tc>
                  <a:txBody>
                    <a:bodyPr/>
                    <a:lstStyle/>
                    <a:p>
                      <a:pPr marL="0" marR="0" algn="l" rtl="0">
                        <a:lnSpc>
                          <a:spcPct val="150000"/>
                        </a:lnSpc>
                        <a:spcAft>
                          <a:spcPts val="600"/>
                        </a:spcAft>
                      </a:pPr>
                      <a:r>
                        <a:rPr lang="en-US" sz="1000">
                          <a:effectLst/>
                        </a:rPr>
                        <a:t>D. A. D. E. C. S. S. R. C.-Y. F. A. C. B. Wei Liu, "SSD: Single Shot </a:t>
                      </a:r>
                      <a:r>
                        <a:rPr lang="en-US" sz="1000" err="1">
                          <a:effectLst/>
                        </a:rPr>
                        <a:t>MultiBox</a:t>
                      </a:r>
                      <a:r>
                        <a:rPr lang="en-US" sz="1000">
                          <a:effectLst/>
                        </a:rPr>
                        <a:t> Detector," in Lecture Notes in Computer Science, 2016. </a:t>
                      </a:r>
                      <a:endParaRPr lang="en-US" sz="1000">
                        <a:effectLst/>
                        <a:latin typeface="Calibri" panose="020F0502020204030204" pitchFamily="34" charset="0"/>
                        <a:ea typeface="Times New Roman" panose="02020603050405020304" pitchFamily="18" charset="0"/>
                        <a:cs typeface="Arial" panose="020B0604020202020204" pitchFamily="34" charset="0"/>
                      </a:endParaRPr>
                    </a:p>
                  </a:txBody>
                  <a:tcPr marL="5124" marR="5124" marT="5124" marB="5124"/>
                </a:tc>
                <a:extLst>
                  <a:ext uri="{0D108BD9-81ED-4DB2-BD59-A6C34878D82A}">
                    <a16:rowId xmlns:a16="http://schemas.microsoft.com/office/drawing/2014/main" val="1370147752"/>
                  </a:ext>
                </a:extLst>
              </a:tr>
            </a:tbl>
          </a:graphicData>
        </a:graphic>
      </p:graphicFrame>
    </p:spTree>
    <p:extLst>
      <p:ext uri="{BB962C8B-B14F-4D97-AF65-F5344CB8AC3E}">
        <p14:creationId xmlns:p14="http://schemas.microsoft.com/office/powerpoint/2010/main" val="1387542924"/>
      </p:ext>
    </p:extLst>
  </p:cSld>
  <p:clrMapOvr>
    <a:masterClrMapping/>
  </p:clrMapOvr>
</p:sld>
</file>

<file path=ppt/theme/theme1.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Basis">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sis">
      <a:fillStyleLst>
        <a:solidFill>
          <a:schemeClr val="phClr"/>
        </a:solidFill>
        <a:solidFill>
          <a:schemeClr val="phClr">
            <a:tint val="55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name="Basis" id="{5665723A-49BA-4B57-8411-A56F8F207965}" vid="{90E45F77-AEFC-46EF-A7C1-5B338C297B02}"/>
    </a:ext>
  </a:extLst>
</a:theme>
</file>

<file path=ppt/theme/theme2.xml><?xml version="1.0" encoding="utf-8"?>
<a:theme xmlns:a="http://schemas.openxmlformats.org/drawingml/2006/main" name="ערכת נושא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TM03457444[[fn=Basis]]</Template>
  <TotalTime>0</TotalTime>
  <Words>3104</Words>
  <Application>Microsoft Office PowerPoint</Application>
  <PresentationFormat>Widescreen</PresentationFormat>
  <Paragraphs>295</Paragraphs>
  <Slides>26</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Aptos</vt:lpstr>
      <vt:lpstr>Arial</vt:lpstr>
      <vt:lpstr>Calibri</vt:lpstr>
      <vt:lpstr>Corbel</vt:lpstr>
      <vt:lpstr>Basis</vt:lpstr>
      <vt:lpstr>Viso Speak  </vt:lpstr>
      <vt:lpstr>The Idea Behind VisoSpeak  </vt:lpstr>
      <vt:lpstr>Exploring Existing Projects </vt:lpstr>
      <vt:lpstr>The Project We Chose</vt:lpstr>
      <vt:lpstr>Limitations of the Previous Approach</vt:lpstr>
      <vt:lpstr>How We Improved the Approach</vt:lpstr>
      <vt:lpstr>The 8 Key Variables</vt:lpstr>
      <vt:lpstr>Impact of Our Improvements </vt:lpstr>
      <vt:lpstr>Algorithm &amp; Process Workflow</vt:lpstr>
      <vt:lpstr>Full Process Flow Overview Video Upload</vt:lpstr>
      <vt:lpstr>Full Process Flow Overview Face Detection</vt:lpstr>
      <vt:lpstr>Full Process Flow Overview Lip Detection</vt:lpstr>
      <vt:lpstr>Full Process Flow Overview Preprocessing Frames</vt:lpstr>
      <vt:lpstr>Full Process Flow Overview Feature Extraction</vt:lpstr>
      <vt:lpstr>Full Process Flow Overview Viseme Classification</vt:lpstr>
      <vt:lpstr>Full Process Flow Overview Sentence Reconstruction</vt:lpstr>
      <vt:lpstr>Full Process Flow Overview Preprocessing Frames</vt:lpstr>
      <vt:lpstr>Summary</vt:lpstr>
      <vt:lpstr>Training System Use Case</vt:lpstr>
      <vt:lpstr>Use Case Diagram</vt:lpstr>
      <vt:lpstr>About Screen</vt:lpstr>
      <vt:lpstr>Home Screen</vt:lpstr>
      <vt:lpstr>Result Screen</vt:lpstr>
      <vt:lpstr>Summary</vt:lpstr>
      <vt:lpstr>Thank you for listening</vt:lpstr>
      <vt:lpstr>Refrences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מוראד עסאקלה</dc:creator>
  <cp:lastModifiedBy>מגד סלאמה</cp:lastModifiedBy>
  <cp:revision>2</cp:revision>
  <dcterms:created xsi:type="dcterms:W3CDTF">2025-02-02T13:55:50Z</dcterms:created>
  <dcterms:modified xsi:type="dcterms:W3CDTF">2025-02-03T11:43:50Z</dcterms:modified>
</cp:coreProperties>
</file>